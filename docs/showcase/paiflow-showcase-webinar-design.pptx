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Say: Hi, I’m Mychal, the builder of Paiflow. Moving money can mean receiving one asset, converting it, then paying someone in another. Paiflow lets you draw that flow and deploy it as Stellar smart contracts, signed with your own wallet. Today I’ll show what changed during InstaAwards, run a real testnet payment live, and share our October plans. Source: docs/instawards/README.md. The core builder existed before the sprint; do not imply it was first built this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0:30–1:05. Say: This month, we connected the Swap block to the real Soroswap router, added an API so a backend can run the same deployed flow, and rebuilt the swap settings with clearer validation and keyboard and mobile support. We then verified wallet and API execution on one deployment, with recordings and transaction receipts. The shared input migration covers the Swapper panel, not every panel. Sources: docs/instawards/week-1.md through week-4.md; docs/instawards/README.md.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1:05–3:30 LIVE DEMO. Switch screen sharing to the app. Before the session: prepare a Receive → Swap → Pay flow for 10 testnet XLM; deploy and fund as required; verify router liquidity, recipient USDC trustline, wallet connection, and correct testnet network. Keep deployment and explorer tabs ready. 1:05–1:30 show the canvas and explain the recipient. 1:30–1:55 open Swap settings, show live quote and slippage protection. 1:55–2:25 trigger and sign with your own wallet. 2:25–3:10 show confirmation, payout events and explorer receipt. 3:10–3:30 explain that all steps execute together and the same flow also supports API execution. While waiting, explain wallet signing and atomic execution. The USDC amount is determined by the current quote; do not promise an old output amount. If the event feed lags, use the confirmed explorer transaction. The demo must be live; a recording cannot substitute. Live deployment is not assumed required. Rehearse this actual flow before presenting. Sources: docs/instawards/evidence/d4/walkthrough-script.md and e2e-run-checklist.md.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3:30–4:15. Say: By September 30, nine active alpha testers, including eight external testers, had produced 42 deployments and 73 signed transactions. Seven swap flows had executed. In October we forecast at least 45 onboarded users, 110 deployments, and 190 signed transactions. That means 36 more users, 68 more deployments, and 117 more signed transactions. Solid pink bars show the baseline; dashed extensions show the additional forecast activity. Each full bar scales to its own October target, so compare the growth within each row, not lengths between metrics. These are planned minimums, not results. Do not read all six rows. The baseline covers the nine-person alpha cohort, including one project member. Signing wallets count distinct addresses, not people; sandbox tries count browsers opening the builder as of October 1. Unique flows designed means distinct flows deployed. Source: paiflow-kpis-october-2026.pdf (October forecast source), created October 3 2026 at 06:39:39 HKT. Delta is the minimum target minus baseline: +36 users, +68 deployments, +35 unique flows, +117 signed transactions, +28 signing wallets, +52 sandbox browsers. Repo’s 15 deploying wallets and PDF’s 17 signing wallets measure different actions. Do not mix this cohort baseline with the 86 all-public deployment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4:15–4:40. Say: We’re planning two hackathons in collaboration with JRU and Web3 Iloilo, followed by weekly builder sessions. We’ll also bring a hands-on Paiflow booth to BlockQuest Fiesta PH in Laguna. In Aklan, we plan to join a university event to bring Paiflow to more students through a booth, a mini hackathon, or both. That event is in planning, with its date to be confirmed. 4:40–4:50 close: Draw the flow, sign it, and watch the payment land. Try Paiflow at paiflow.xyz and inspect the receipts in our docs. Thank you. 4:50–5:00 buffer. Two hackathons and collaborators confirmed by the user; this supersedes the PDF’s single university hackathon. No team-count total is assumed for the two events. Aklan framing follows the October 3 forecast PDF: joining a university event, booth/mini hackathon/both, in planning, date TBC. Planned events, not completed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640080" y="960120"/>
            <a:ext cx="7315200" cy="274320"/>
          </a:xfrm>
          <a:prstGeom prst="rect">
            <a:avLst/>
          </a:prstGeom>
          <a:noFill/>
          <a:ln/>
        </p:spPr>
        <p:txBody>
          <a:bodyPr wrap="square" lIns="0" tIns="0" rIns="0" bIns="0" rtlCol="0" anchor="t"/>
          <a:lstStyle/>
          <a:p>
            <a:pPr indent="0" marL="0">
              <a:buNone/>
            </a:pPr>
            <a:r>
              <a:rPr lang="en-US" sz="1100" spc="120" kern="0" dirty="0">
                <a:solidFill>
                  <a:srgbClr val="98CBFF"/>
                </a:solidFill>
                <a:latin typeface="JetBrains Mono" pitchFamily="34" charset="0"/>
                <a:ea typeface="JetBrains Mono" pitchFamily="34" charset="-122"/>
                <a:cs typeface="JetBrains Mono" pitchFamily="34" charset="-120"/>
              </a:rPr>
              <a:t>INSTAAWARDS · 08 OCT 2026</a:t>
            </a:r>
            <a:endParaRPr lang="en-US" sz="1100" dirty="0"/>
          </a:p>
        </p:txBody>
      </p:sp>
      <p:sp>
        <p:nvSpPr>
          <p:cNvPr id="4" name="Text 1"/>
          <p:cNvSpPr txBox="1"/>
          <p:nvPr/>
        </p:nvSpPr>
        <p:spPr>
          <a:xfrm>
            <a:off x="640080" y="1600200"/>
            <a:ext cx="6400800" cy="1051560"/>
          </a:xfrm>
          <a:prstGeom prst="rect">
            <a:avLst/>
          </a:prstGeom>
          <a:noFill/>
          <a:ln/>
        </p:spPr>
        <p:txBody>
          <a:bodyPr wrap="square" lIns="0" tIns="0" rIns="0" bIns="0" rtlCol="0" anchor="t"/>
          <a:lstStyle/>
          <a:p>
            <a:pPr indent="0" marL="0">
              <a:buNone/>
            </a:pPr>
            <a:r>
              <a:rPr lang="en-US" sz="7600" b="1" spc="-200" kern="0" dirty="0">
                <a:solidFill>
                  <a:srgbClr val="E5E2E1"/>
                </a:solidFill>
                <a:latin typeface="Inter" pitchFamily="34" charset="0"/>
                <a:ea typeface="Inter" pitchFamily="34" charset="-122"/>
                <a:cs typeface="Inter" pitchFamily="34" charset="-120"/>
              </a:rPr>
              <a:t>Paiflow</a:t>
            </a:r>
            <a:endParaRPr lang="en-US" sz="7600" dirty="0"/>
          </a:p>
        </p:txBody>
      </p:sp>
      <p:sp>
        <p:nvSpPr>
          <p:cNvPr id="5" name="Text 2"/>
          <p:cNvSpPr txBox="1"/>
          <p:nvPr/>
        </p:nvSpPr>
        <p:spPr>
          <a:xfrm>
            <a:off x="640080" y="2834640"/>
            <a:ext cx="7772400" cy="731520"/>
          </a:xfrm>
          <a:prstGeom prst="rect">
            <a:avLst/>
          </a:prstGeom>
          <a:noFill/>
          <a:ln/>
        </p:spPr>
        <p:txBody>
          <a:bodyPr wrap="square" lIns="0" tIns="0" rIns="0" bIns="0" rtlCol="0" anchor="t"/>
          <a:lstStyle/>
          <a:p>
            <a:pPr indent="0" marL="0">
              <a:buNone/>
            </a:pPr>
            <a:r>
              <a:rPr lang="en-US" sz="3400" b="1" spc="-50" kern="0" dirty="0">
                <a:solidFill>
                  <a:srgbClr val="FFB1C4"/>
                </a:solidFill>
                <a:latin typeface="Inter" pitchFamily="34" charset="0"/>
                <a:ea typeface="Inter" pitchFamily="34" charset="-122"/>
                <a:cs typeface="Inter" pitchFamily="34" charset="-120"/>
              </a:rPr>
              <a:t>Draw how money moves.</a:t>
            </a:r>
            <a:endParaRPr lang="en-US" sz="3400" dirty="0"/>
          </a:p>
        </p:txBody>
      </p:sp>
      <p:sp>
        <p:nvSpPr>
          <p:cNvPr id="6" name="Text 3"/>
          <p:cNvSpPr txBox="1"/>
          <p:nvPr/>
        </p:nvSpPr>
        <p:spPr>
          <a:xfrm>
            <a:off x="640080" y="3685032"/>
            <a:ext cx="10881360" cy="457200"/>
          </a:xfrm>
          <a:prstGeom prst="rect">
            <a:avLst/>
          </a:prstGeom>
          <a:noFill/>
          <a:ln/>
        </p:spPr>
        <p:txBody>
          <a:bodyPr wrap="square" lIns="0" tIns="0" rIns="0" bIns="0" rtlCol="0" anchor="t"/>
          <a:lstStyle/>
          <a:p>
            <a:pPr indent="0" marL="0">
              <a:buNone/>
            </a:pPr>
            <a:r>
              <a:rPr lang="en-US" sz="2100" dirty="0">
                <a:solidFill>
                  <a:srgbClr val="BCB8BB"/>
                </a:solidFill>
                <a:latin typeface="Inter" pitchFamily="34" charset="0"/>
                <a:ea typeface="Inter" pitchFamily="34" charset="-122"/>
                <a:cs typeface="Inter" pitchFamily="34" charset="-120"/>
              </a:rPr>
              <a:t>Visual payment flows on Stellar. Signed with your wallet.</a:t>
            </a:r>
            <a:endParaRPr lang="en-US" sz="2100" dirty="0"/>
          </a:p>
        </p:txBody>
      </p:sp>
      <p:sp>
        <p:nvSpPr>
          <p:cNvPr id="7" name="Shape 4"/>
          <p:cNvSpPr/>
          <p:nvPr/>
        </p:nvSpPr>
        <p:spPr>
          <a:xfrm>
            <a:off x="640080" y="4709160"/>
            <a:ext cx="3246120" cy="1051560"/>
          </a:xfrm>
          <a:prstGeom prst="roundRect">
            <a:avLst>
              <a:gd name="adj" fmla="val 17391"/>
            </a:avLst>
          </a:prstGeom>
          <a:solidFill>
            <a:srgbClr val="FFFFFF">
              <a:alpha val="6000"/>
            </a:srgbClr>
          </a:solidFill>
          <a:ln w="9525">
            <a:solidFill>
              <a:srgbClr val="FFFFFF">
                <a:alpha val="14000"/>
              </a:srgbClr>
            </a:solidFill>
            <a:prstDash val="solid"/>
          </a:ln>
        </p:spPr>
      </p:sp>
      <p:sp>
        <p:nvSpPr>
          <p:cNvPr id="8" name="Text 5"/>
          <p:cNvSpPr txBox="1"/>
          <p:nvPr/>
        </p:nvSpPr>
        <p:spPr>
          <a:xfrm>
            <a:off x="841248" y="4892040"/>
            <a:ext cx="2843784" cy="320040"/>
          </a:xfrm>
          <a:prstGeom prst="rect">
            <a:avLst/>
          </a:prstGeom>
          <a:noFill/>
          <a:ln/>
        </p:spPr>
        <p:txBody>
          <a:bodyPr wrap="square" lIns="0" tIns="0" rIns="0" bIns="0" rtlCol="0" anchor="t"/>
          <a:lstStyle/>
          <a:p>
            <a:pPr indent="0" marL="0">
              <a:buNone/>
            </a:pPr>
            <a:r>
              <a:rPr lang="en-US" sz="2500" b="1" dirty="0">
                <a:solidFill>
                  <a:srgbClr val="98CBFF"/>
                </a:solidFill>
                <a:latin typeface="Inter" pitchFamily="34" charset="0"/>
                <a:ea typeface="Inter" pitchFamily="34" charset="-122"/>
                <a:cs typeface="Inter" pitchFamily="34" charset="-120"/>
              </a:rPr>
              <a:t>Receive</a:t>
            </a:r>
            <a:endParaRPr lang="en-US" sz="2500" dirty="0"/>
          </a:p>
        </p:txBody>
      </p:sp>
      <p:sp>
        <p:nvSpPr>
          <p:cNvPr id="9" name="Text 6"/>
          <p:cNvSpPr txBox="1"/>
          <p:nvPr/>
        </p:nvSpPr>
        <p:spPr>
          <a:xfrm>
            <a:off x="841248" y="5431536"/>
            <a:ext cx="2843784" cy="228600"/>
          </a:xfrm>
          <a:prstGeom prst="rect">
            <a:avLst/>
          </a:prstGeom>
          <a:noFill/>
          <a:ln/>
        </p:spPr>
        <p:txBody>
          <a:bodyPr wrap="square" lIns="0" tIns="0" rIns="0" bIns="0" rtlCol="0" anchor="t"/>
          <a:lstStyle/>
          <a:p>
            <a:pPr indent="0" marL="0">
              <a:buNone/>
            </a:pPr>
            <a:r>
              <a:rPr lang="en-US" sz="1250" dirty="0">
                <a:solidFill>
                  <a:srgbClr val="BCB8BB"/>
                </a:solidFill>
                <a:latin typeface="JetBrains Mono" pitchFamily="34" charset="0"/>
                <a:ea typeface="JetBrains Mono" pitchFamily="34" charset="-122"/>
                <a:cs typeface="JetBrains Mono" pitchFamily="34" charset="-120"/>
              </a:rPr>
              <a:t>XLM enters</a:t>
            </a:r>
            <a:endParaRPr lang="en-US" sz="1250" dirty="0"/>
          </a:p>
        </p:txBody>
      </p:sp>
      <p:sp>
        <p:nvSpPr>
          <p:cNvPr id="10" name="Shape 7"/>
          <p:cNvSpPr/>
          <p:nvPr/>
        </p:nvSpPr>
        <p:spPr>
          <a:xfrm>
            <a:off x="3977640" y="5234940"/>
            <a:ext cx="403708" cy="0"/>
          </a:xfrm>
          <a:prstGeom prst="line">
            <a:avLst/>
          </a:prstGeom>
          <a:noFill/>
          <a:ln w="15875">
            <a:solidFill>
              <a:srgbClr val="98CBFF"/>
            </a:solidFill>
            <a:prstDash val="solid"/>
            <a:tailEnd type="triangle"/>
          </a:ln>
        </p:spPr>
      </p:sp>
      <p:sp>
        <p:nvSpPr>
          <p:cNvPr id="11" name="Shape 8"/>
          <p:cNvSpPr/>
          <p:nvPr/>
        </p:nvSpPr>
        <p:spPr>
          <a:xfrm>
            <a:off x="4472788" y="4709160"/>
            <a:ext cx="3246120" cy="1051560"/>
          </a:xfrm>
          <a:prstGeom prst="roundRect">
            <a:avLst>
              <a:gd name="adj" fmla="val 17391"/>
            </a:avLst>
          </a:prstGeom>
          <a:solidFill>
            <a:srgbClr val="FFFFFF">
              <a:alpha val="6000"/>
            </a:srgbClr>
          </a:solidFill>
          <a:ln w="9525">
            <a:solidFill>
              <a:srgbClr val="FFFFFF">
                <a:alpha val="14000"/>
              </a:srgbClr>
            </a:solidFill>
            <a:prstDash val="solid"/>
          </a:ln>
        </p:spPr>
      </p:sp>
      <p:sp>
        <p:nvSpPr>
          <p:cNvPr id="12" name="Text 9"/>
          <p:cNvSpPr txBox="1"/>
          <p:nvPr/>
        </p:nvSpPr>
        <p:spPr>
          <a:xfrm>
            <a:off x="4673956" y="4892040"/>
            <a:ext cx="2843784" cy="320040"/>
          </a:xfrm>
          <a:prstGeom prst="rect">
            <a:avLst/>
          </a:prstGeom>
          <a:noFill/>
          <a:ln/>
        </p:spPr>
        <p:txBody>
          <a:bodyPr wrap="square" lIns="0" tIns="0" rIns="0" bIns="0" rtlCol="0" anchor="t"/>
          <a:lstStyle/>
          <a:p>
            <a:pPr indent="0" marL="0">
              <a:buNone/>
            </a:pPr>
            <a:r>
              <a:rPr lang="en-US" sz="2500" b="1" dirty="0">
                <a:solidFill>
                  <a:srgbClr val="FFB1C4"/>
                </a:solidFill>
                <a:latin typeface="Inter" pitchFamily="34" charset="0"/>
                <a:ea typeface="Inter" pitchFamily="34" charset="-122"/>
                <a:cs typeface="Inter" pitchFamily="34" charset="-120"/>
              </a:rPr>
              <a:t>Swap</a:t>
            </a:r>
            <a:endParaRPr lang="en-US" sz="2500" dirty="0"/>
          </a:p>
        </p:txBody>
      </p:sp>
      <p:sp>
        <p:nvSpPr>
          <p:cNvPr id="13" name="Text 10"/>
          <p:cNvSpPr txBox="1"/>
          <p:nvPr/>
        </p:nvSpPr>
        <p:spPr>
          <a:xfrm>
            <a:off x="4673956" y="5431536"/>
            <a:ext cx="2843784" cy="228600"/>
          </a:xfrm>
          <a:prstGeom prst="rect">
            <a:avLst/>
          </a:prstGeom>
          <a:noFill/>
          <a:ln/>
        </p:spPr>
        <p:txBody>
          <a:bodyPr wrap="square" lIns="0" tIns="0" rIns="0" bIns="0" rtlCol="0" anchor="t"/>
          <a:lstStyle/>
          <a:p>
            <a:pPr indent="0" marL="0">
              <a:buNone/>
            </a:pPr>
            <a:r>
              <a:rPr lang="en-US" sz="1250" dirty="0">
                <a:solidFill>
                  <a:srgbClr val="BCB8BB"/>
                </a:solidFill>
                <a:latin typeface="JetBrains Mono" pitchFamily="34" charset="0"/>
                <a:ea typeface="JetBrains Mono" pitchFamily="34" charset="-122"/>
                <a:cs typeface="JetBrains Mono" pitchFamily="34" charset="-120"/>
              </a:rPr>
              <a:t>Soroswap · XLM → USDC</a:t>
            </a:r>
            <a:endParaRPr lang="en-US" sz="1250" dirty="0"/>
          </a:p>
        </p:txBody>
      </p:sp>
      <p:sp>
        <p:nvSpPr>
          <p:cNvPr id="14" name="Shape 11"/>
          <p:cNvSpPr/>
          <p:nvPr/>
        </p:nvSpPr>
        <p:spPr>
          <a:xfrm>
            <a:off x="7810348" y="5234940"/>
            <a:ext cx="403708" cy="0"/>
          </a:xfrm>
          <a:prstGeom prst="line">
            <a:avLst/>
          </a:prstGeom>
          <a:noFill/>
          <a:ln w="15875">
            <a:solidFill>
              <a:srgbClr val="98CBFF"/>
            </a:solidFill>
            <a:prstDash val="solid"/>
            <a:tailEnd type="triangle"/>
          </a:ln>
        </p:spPr>
      </p:sp>
      <p:sp>
        <p:nvSpPr>
          <p:cNvPr id="15" name="Shape 12"/>
          <p:cNvSpPr/>
          <p:nvPr/>
        </p:nvSpPr>
        <p:spPr>
          <a:xfrm>
            <a:off x="8305495" y="4709160"/>
            <a:ext cx="3246120" cy="1051560"/>
          </a:xfrm>
          <a:prstGeom prst="roundRect">
            <a:avLst>
              <a:gd name="adj" fmla="val 17391"/>
            </a:avLst>
          </a:prstGeom>
          <a:solidFill>
            <a:srgbClr val="FFFFFF">
              <a:alpha val="6000"/>
            </a:srgbClr>
          </a:solidFill>
          <a:ln w="9525">
            <a:solidFill>
              <a:srgbClr val="FFFFFF">
                <a:alpha val="14000"/>
              </a:srgbClr>
            </a:solidFill>
            <a:prstDash val="solid"/>
          </a:ln>
        </p:spPr>
      </p:sp>
      <p:sp>
        <p:nvSpPr>
          <p:cNvPr id="16" name="Text 13"/>
          <p:cNvSpPr txBox="1"/>
          <p:nvPr/>
        </p:nvSpPr>
        <p:spPr>
          <a:xfrm>
            <a:off x="8506663" y="4892040"/>
            <a:ext cx="2843784" cy="320040"/>
          </a:xfrm>
          <a:prstGeom prst="rect">
            <a:avLst/>
          </a:prstGeom>
          <a:noFill/>
          <a:ln/>
        </p:spPr>
        <p:txBody>
          <a:bodyPr wrap="square" lIns="0" tIns="0" rIns="0" bIns="0" rtlCol="0" anchor="t"/>
          <a:lstStyle/>
          <a:p>
            <a:pPr indent="0" marL="0">
              <a:buNone/>
            </a:pPr>
            <a:r>
              <a:rPr lang="en-US" sz="2500" b="1" dirty="0">
                <a:solidFill>
                  <a:srgbClr val="FFB1C4"/>
                </a:solidFill>
                <a:latin typeface="Inter" pitchFamily="34" charset="0"/>
                <a:ea typeface="Inter" pitchFamily="34" charset="-122"/>
                <a:cs typeface="Inter" pitchFamily="34" charset="-120"/>
              </a:rPr>
              <a:t>Pay</a:t>
            </a:r>
            <a:endParaRPr lang="en-US" sz="2500" dirty="0"/>
          </a:p>
        </p:txBody>
      </p:sp>
      <p:sp>
        <p:nvSpPr>
          <p:cNvPr id="17" name="Text 14"/>
          <p:cNvSpPr txBox="1"/>
          <p:nvPr/>
        </p:nvSpPr>
        <p:spPr>
          <a:xfrm>
            <a:off x="8506663" y="5431536"/>
            <a:ext cx="2843784" cy="228600"/>
          </a:xfrm>
          <a:prstGeom prst="rect">
            <a:avLst/>
          </a:prstGeom>
          <a:noFill/>
          <a:ln/>
        </p:spPr>
        <p:txBody>
          <a:bodyPr wrap="square" lIns="0" tIns="0" rIns="0" bIns="0" rtlCol="0" anchor="t"/>
          <a:lstStyle/>
          <a:p>
            <a:pPr indent="0" marL="0">
              <a:buNone/>
            </a:pPr>
            <a:r>
              <a:rPr lang="en-US" sz="1250" dirty="0">
                <a:solidFill>
                  <a:srgbClr val="BCB8BB"/>
                </a:solidFill>
                <a:latin typeface="JetBrains Mono" pitchFamily="34" charset="0"/>
                <a:ea typeface="JetBrains Mono" pitchFamily="34" charset="-122"/>
                <a:cs typeface="JetBrains Mono" pitchFamily="34" charset="-120"/>
              </a:rPr>
              <a:t>USDC reaches a recipient</a:t>
            </a:r>
            <a:endParaRPr lang="en-US" sz="1250" dirty="0"/>
          </a:p>
        </p:txBody>
      </p:sp>
      <p:sp>
        <p:nvSpPr>
          <p:cNvPr id="18" name="Text 15"/>
          <p:cNvSpPr txBox="1"/>
          <p:nvPr/>
        </p:nvSpPr>
        <p:spPr>
          <a:xfrm>
            <a:off x="640080" y="6217920"/>
            <a:ext cx="6400800" cy="274320"/>
          </a:xfrm>
          <a:prstGeom prst="rect">
            <a:avLst/>
          </a:prstGeom>
          <a:noFill/>
          <a:ln/>
        </p:spPr>
        <p:txBody>
          <a:bodyPr wrap="square" lIns="0" tIns="0" rIns="0" bIns="0" rtlCol="0" anchor="t"/>
          <a:lstStyle/>
          <a:p>
            <a:pPr indent="0" marL="0">
              <a:buNone/>
            </a:pPr>
            <a:r>
              <a:rPr lang="en-US" sz="1400" dirty="0">
                <a:solidFill>
                  <a:srgbClr val="BCB8BB"/>
                </a:solidFill>
                <a:latin typeface="Inter" pitchFamily="34" charset="0"/>
                <a:ea typeface="Inter" pitchFamily="34" charset="-122"/>
                <a:cs typeface="Inter" pitchFamily="34" charset="-120"/>
              </a:rPr>
              <a:t>Mychal Andres B. Pejana</a:t>
            </a:r>
            <a:endParaRPr lang="en-US" sz="1400" dirty="0"/>
          </a:p>
        </p:txBody>
      </p:sp>
      <p:sp>
        <p:nvSpPr>
          <p:cNvPr id="19" name="Text 16"/>
          <p:cNvSpPr txBox="1"/>
          <p:nvPr/>
        </p:nvSpPr>
        <p:spPr>
          <a:xfrm>
            <a:off x="8412480" y="6236208"/>
            <a:ext cx="3108960" cy="274320"/>
          </a:xfrm>
          <a:prstGeom prst="rect">
            <a:avLst/>
          </a:prstGeom>
          <a:noFill/>
          <a:ln/>
        </p:spPr>
        <p:txBody>
          <a:bodyPr wrap="square" lIns="0" tIns="0" rIns="0" bIns="0" rtlCol="0" anchor="t"/>
          <a:lstStyle/>
          <a:p>
            <a:pPr algn="r" indent="0" marL="0">
              <a:buNone/>
            </a:pPr>
            <a:r>
              <a:rPr lang="en-US" sz="1050" dirty="0">
                <a:solidFill>
                  <a:srgbClr val="98CBFF"/>
                </a:solidFill>
                <a:latin typeface="JetBrains Mono" pitchFamily="34" charset="0"/>
                <a:ea typeface="JetBrains Mono" pitchFamily="34" charset="-122"/>
                <a:cs typeface="JetBrains Mono" pitchFamily="34" charset="-120"/>
              </a:rPr>
              <a:t>STELLAR TESTNET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74320"/>
          </a:xfrm>
          <a:prstGeom prst="rect">
            <a:avLst/>
          </a:prstGeom>
          <a:noFill/>
          <a:ln/>
        </p:spPr>
        <p:txBody>
          <a:bodyPr wrap="square" lIns="0" tIns="0" rIns="0" bIns="0" rtlCol="0" anchor="ctr"/>
          <a:lstStyle/>
          <a:p>
            <a:pPr indent="0" marL="0">
              <a:buNone/>
            </a:pPr>
            <a:r>
              <a:rPr lang="en-US" sz="1100" b="1" spc="150" kern="0" dirty="0">
                <a:solidFill>
                  <a:srgbClr val="FFB1C4"/>
                </a:solidFill>
                <a:latin typeface="JetBrains Mono" pitchFamily="34" charset="0"/>
                <a:ea typeface="JetBrains Mono" pitchFamily="34" charset="-122"/>
                <a:cs typeface="JetBrains Mono" pitchFamily="34" charset="-120"/>
              </a:rPr>
              <a:t>THIS MONTH · FOUR DELIVERABLES</a:t>
            </a:r>
            <a:endParaRPr lang="en-US" sz="1100" dirty="0"/>
          </a:p>
        </p:txBody>
      </p:sp>
      <p:sp>
        <p:nvSpPr>
          <p:cNvPr id="3" name="Text 1"/>
          <p:cNvSpPr txBox="1"/>
          <p:nvPr/>
        </p:nvSpPr>
        <p:spPr>
          <a:xfrm>
            <a:off x="640080" y="804672"/>
            <a:ext cx="9692640" cy="777240"/>
          </a:xfrm>
          <a:prstGeom prst="rect">
            <a:avLst/>
          </a:prstGeom>
          <a:noFill/>
          <a:ln/>
        </p:spPr>
        <p:txBody>
          <a:bodyPr wrap="square" lIns="0" tIns="0" rIns="0" bIns="0" rtlCol="0" anchor="ctr"/>
          <a:lstStyle/>
          <a:p>
            <a:pPr indent="0" marL="0">
              <a:buNone/>
            </a:pPr>
            <a:r>
              <a:rPr lang="en-US" sz="4000" b="1" spc="-50" kern="0" dirty="0">
                <a:solidFill>
                  <a:srgbClr val="E5E2E1"/>
                </a:solidFill>
                <a:latin typeface="Inter" pitchFamily="34" charset="0"/>
                <a:ea typeface="Inter" pitchFamily="34" charset="-122"/>
                <a:cs typeface="Inter" pitchFamily="34" charset="-120"/>
              </a:rPr>
              <a:t>A stronger payment path.</a:t>
            </a:r>
            <a:endParaRPr lang="en-US" sz="4000" dirty="0"/>
          </a:p>
        </p:txBody>
      </p:sp>
      <p:sp>
        <p:nvSpPr>
          <p:cNvPr id="4" name="Text 2"/>
          <p:cNvSpPr txBox="1"/>
          <p:nvPr/>
        </p:nvSpPr>
        <p:spPr>
          <a:xfrm>
            <a:off x="640080" y="6400800"/>
            <a:ext cx="4572000" cy="228600"/>
          </a:xfrm>
          <a:prstGeom prst="rect">
            <a:avLst/>
          </a:prstGeom>
          <a:noFill/>
          <a:ln/>
        </p:spPr>
        <p:txBody>
          <a:bodyPr wrap="square" lIns="0" tIns="0" rIns="0" bIns="0" rtlCol="0" anchor="ctr"/>
          <a:lstStyle/>
          <a:p>
            <a:pPr indent="0" marL="0">
              <a:buNone/>
            </a:pPr>
            <a:r>
              <a:rPr lang="en-US" sz="900" dirty="0">
                <a:solidFill>
                  <a:srgbClr val="BCB8BB"/>
                </a:solidFill>
                <a:latin typeface="JetBrains Mono" pitchFamily="34" charset="0"/>
                <a:ea typeface="JetBrains Mono" pitchFamily="34" charset="-122"/>
                <a:cs typeface="JetBrains Mono" pitchFamily="34" charset="-120"/>
              </a:rPr>
              <a:t>Paiflow · InstaAwards Builder Showcase</a:t>
            </a:r>
            <a:endParaRPr lang="en-US" sz="900" dirty="0"/>
          </a:p>
        </p:txBody>
      </p:sp>
      <p:sp>
        <p:nvSpPr>
          <p:cNvPr id="5" name="Text 3"/>
          <p:cNvSpPr txBox="1"/>
          <p:nvPr/>
        </p:nvSpPr>
        <p:spPr>
          <a:xfrm>
            <a:off x="9722815" y="6400800"/>
            <a:ext cx="1828800" cy="228600"/>
          </a:xfrm>
          <a:prstGeom prst="rect">
            <a:avLst/>
          </a:prstGeom>
          <a:noFill/>
          <a:ln/>
        </p:spPr>
        <p:txBody>
          <a:bodyPr wrap="square" lIns="0" tIns="0" rIns="0" bIns="0" rtlCol="0" anchor="ctr"/>
          <a:lstStyle/>
          <a:p>
            <a:pPr algn="r" indent="0" marL="0">
              <a:buNone/>
            </a:pPr>
            <a:r>
              <a:rPr lang="en-US" sz="900" dirty="0">
                <a:solidFill>
                  <a:srgbClr val="BCB8BB"/>
                </a:solidFill>
                <a:latin typeface="JetBrains Mono" pitchFamily="34" charset="0"/>
                <a:ea typeface="JetBrains Mono" pitchFamily="34" charset="-122"/>
                <a:cs typeface="JetBrains Mono" pitchFamily="34" charset="-120"/>
              </a:rPr>
              <a:t>02 / 5</a:t>
            </a:r>
            <a:endParaRPr lang="en-US" sz="900" dirty="0"/>
          </a:p>
        </p:txBody>
      </p:sp>
      <p:sp>
        <p:nvSpPr>
          <p:cNvPr id="7" name="Shape 4"/>
          <p:cNvSpPr/>
          <p:nvPr/>
        </p:nvSpPr>
        <p:spPr>
          <a:xfrm>
            <a:off x="640080" y="1874520"/>
            <a:ext cx="5272888" cy="2057400"/>
          </a:xfrm>
          <a:prstGeom prst="roundRect">
            <a:avLst>
              <a:gd name="adj" fmla="val 8889"/>
            </a:avLst>
          </a:prstGeom>
          <a:solidFill>
            <a:srgbClr val="FFFFFF">
              <a:alpha val="8000"/>
            </a:srgbClr>
          </a:solidFill>
          <a:ln w="9525">
            <a:solidFill>
              <a:srgbClr val="FFFFFF">
                <a:alpha val="14000"/>
              </a:srgbClr>
            </a:solidFill>
            <a:prstDash val="solid"/>
          </a:ln>
        </p:spPr>
      </p:sp>
      <p:sp>
        <p:nvSpPr>
          <p:cNvPr id="8" name="Text 5"/>
          <p:cNvSpPr txBox="1"/>
          <p:nvPr/>
        </p:nvSpPr>
        <p:spPr>
          <a:xfrm>
            <a:off x="932688" y="2139696"/>
            <a:ext cx="914400" cy="274320"/>
          </a:xfrm>
          <a:prstGeom prst="rect">
            <a:avLst/>
          </a:prstGeom>
          <a:noFill/>
          <a:ln/>
        </p:spPr>
        <p:txBody>
          <a:bodyPr wrap="square" lIns="0" tIns="0" rIns="0" bIns="0" rtlCol="0" anchor="t"/>
          <a:lstStyle/>
          <a:p>
            <a:pPr indent="0" marL="0">
              <a:buNone/>
            </a:pPr>
            <a:r>
              <a:rPr lang="en-US" sz="1300" dirty="0">
                <a:solidFill>
                  <a:srgbClr val="98CBFF"/>
                </a:solidFill>
                <a:latin typeface="JetBrains Mono" pitchFamily="34" charset="0"/>
                <a:ea typeface="JetBrains Mono" pitchFamily="34" charset="-122"/>
                <a:cs typeface="JetBrains Mono" pitchFamily="34" charset="-120"/>
              </a:rPr>
              <a:t>01</a:t>
            </a:r>
            <a:endParaRPr lang="en-US" sz="1300" dirty="0"/>
          </a:p>
        </p:txBody>
      </p:sp>
      <p:sp>
        <p:nvSpPr>
          <p:cNvPr id="9" name="Text 6"/>
          <p:cNvSpPr txBox="1"/>
          <p:nvPr/>
        </p:nvSpPr>
        <p:spPr>
          <a:xfrm>
            <a:off x="932688" y="2670048"/>
            <a:ext cx="4687672" cy="502920"/>
          </a:xfrm>
          <a:prstGeom prst="rect">
            <a:avLst/>
          </a:prstGeom>
          <a:noFill/>
          <a:ln/>
        </p:spPr>
        <p:txBody>
          <a:bodyPr wrap="square" lIns="0" tIns="0" rIns="0" bIns="0" rtlCol="0" anchor="t"/>
          <a:lstStyle/>
          <a:p>
            <a:pPr indent="0" marL="0">
              <a:buNone/>
            </a:pPr>
            <a:r>
              <a:rPr lang="en-US" sz="3000" b="1" dirty="0">
                <a:solidFill>
                  <a:srgbClr val="FFB1C4"/>
                </a:solidFill>
                <a:latin typeface="Inter" pitchFamily="34" charset="0"/>
                <a:ea typeface="Inter" pitchFamily="34" charset="-122"/>
                <a:cs typeface="Inter" pitchFamily="34" charset="-120"/>
              </a:rPr>
              <a:t>Real swaps</a:t>
            </a:r>
            <a:endParaRPr lang="en-US" sz="3000" dirty="0"/>
          </a:p>
        </p:txBody>
      </p:sp>
      <p:sp>
        <p:nvSpPr>
          <p:cNvPr id="10" name="Text 7"/>
          <p:cNvSpPr txBox="1"/>
          <p:nvPr/>
        </p:nvSpPr>
        <p:spPr>
          <a:xfrm>
            <a:off x="932688" y="3328416"/>
            <a:ext cx="4687672" cy="411480"/>
          </a:xfrm>
          <a:prstGeom prst="rect">
            <a:avLst/>
          </a:prstGeom>
          <a:noFill/>
          <a:ln/>
        </p:spPr>
        <p:txBody>
          <a:bodyPr wrap="square" lIns="0" tIns="0" rIns="0" bIns="0" rtlCol="0" anchor="t"/>
          <a:lstStyle/>
          <a:p>
            <a:pPr indent="0" marL="0">
              <a:buNone/>
            </a:pPr>
            <a:r>
              <a:rPr lang="en-US" sz="1800" dirty="0">
                <a:solidFill>
                  <a:srgbClr val="E5E2E1"/>
                </a:solidFill>
                <a:latin typeface="Inter" pitchFamily="34" charset="0"/>
                <a:ea typeface="Inter" pitchFamily="34" charset="-122"/>
                <a:cs typeface="Inter" pitchFamily="34" charset="-120"/>
              </a:rPr>
              <a:t>Soroswap execution with live quotes.</a:t>
            </a:r>
            <a:endParaRPr lang="en-US" sz="1800" dirty="0"/>
          </a:p>
        </p:txBody>
      </p:sp>
      <p:sp>
        <p:nvSpPr>
          <p:cNvPr id="11" name="Shape 8"/>
          <p:cNvSpPr/>
          <p:nvPr/>
        </p:nvSpPr>
        <p:spPr>
          <a:xfrm>
            <a:off x="6278728" y="1874520"/>
            <a:ext cx="5272888" cy="2057400"/>
          </a:xfrm>
          <a:prstGeom prst="roundRect">
            <a:avLst>
              <a:gd name="adj" fmla="val 8889"/>
            </a:avLst>
          </a:prstGeom>
          <a:solidFill>
            <a:srgbClr val="FFFFFF">
              <a:alpha val="8000"/>
            </a:srgbClr>
          </a:solidFill>
          <a:ln w="9525">
            <a:solidFill>
              <a:srgbClr val="FFFFFF">
                <a:alpha val="14000"/>
              </a:srgbClr>
            </a:solidFill>
            <a:prstDash val="solid"/>
          </a:ln>
        </p:spPr>
      </p:sp>
      <p:sp>
        <p:nvSpPr>
          <p:cNvPr id="12" name="Text 9"/>
          <p:cNvSpPr txBox="1"/>
          <p:nvPr/>
        </p:nvSpPr>
        <p:spPr>
          <a:xfrm>
            <a:off x="6571336" y="2139696"/>
            <a:ext cx="914400" cy="274320"/>
          </a:xfrm>
          <a:prstGeom prst="rect">
            <a:avLst/>
          </a:prstGeom>
          <a:noFill/>
          <a:ln/>
        </p:spPr>
        <p:txBody>
          <a:bodyPr wrap="square" lIns="0" tIns="0" rIns="0" bIns="0" rtlCol="0" anchor="t"/>
          <a:lstStyle/>
          <a:p>
            <a:pPr indent="0" marL="0">
              <a:buNone/>
            </a:pPr>
            <a:r>
              <a:rPr lang="en-US" sz="1300" dirty="0">
                <a:solidFill>
                  <a:srgbClr val="98CBFF"/>
                </a:solidFill>
                <a:latin typeface="JetBrains Mono" pitchFamily="34" charset="0"/>
                <a:ea typeface="JetBrains Mono" pitchFamily="34" charset="-122"/>
                <a:cs typeface="JetBrains Mono" pitchFamily="34" charset="-120"/>
              </a:rPr>
              <a:t>02</a:t>
            </a:r>
            <a:endParaRPr lang="en-US" sz="1300" dirty="0"/>
          </a:p>
        </p:txBody>
      </p:sp>
      <p:sp>
        <p:nvSpPr>
          <p:cNvPr id="13" name="Text 10"/>
          <p:cNvSpPr txBox="1"/>
          <p:nvPr/>
        </p:nvSpPr>
        <p:spPr>
          <a:xfrm>
            <a:off x="6571336" y="2670048"/>
            <a:ext cx="4687672" cy="502920"/>
          </a:xfrm>
          <a:prstGeom prst="rect">
            <a:avLst/>
          </a:prstGeom>
          <a:noFill/>
          <a:ln/>
        </p:spPr>
        <p:txBody>
          <a:bodyPr wrap="square" lIns="0" tIns="0" rIns="0" bIns="0" rtlCol="0" anchor="t"/>
          <a:lstStyle/>
          <a:p>
            <a:pPr indent="0" marL="0">
              <a:buNone/>
            </a:pPr>
            <a:r>
              <a:rPr lang="en-US" sz="3000" b="1" dirty="0">
                <a:solidFill>
                  <a:srgbClr val="FFB1C4"/>
                </a:solidFill>
                <a:latin typeface="Inter" pitchFamily="34" charset="0"/>
                <a:ea typeface="Inter" pitchFamily="34" charset="-122"/>
                <a:cs typeface="Inter" pitchFamily="34" charset="-120"/>
              </a:rPr>
              <a:t>Developer API</a:t>
            </a:r>
            <a:endParaRPr lang="en-US" sz="3000" dirty="0"/>
          </a:p>
        </p:txBody>
      </p:sp>
      <p:sp>
        <p:nvSpPr>
          <p:cNvPr id="14" name="Text 11"/>
          <p:cNvSpPr txBox="1"/>
          <p:nvPr/>
        </p:nvSpPr>
        <p:spPr>
          <a:xfrm>
            <a:off x="6571336" y="3328416"/>
            <a:ext cx="4687672" cy="411480"/>
          </a:xfrm>
          <a:prstGeom prst="rect">
            <a:avLst/>
          </a:prstGeom>
          <a:noFill/>
          <a:ln/>
        </p:spPr>
        <p:txBody>
          <a:bodyPr wrap="square" lIns="0" tIns="0" rIns="0" bIns="0" rtlCol="0" anchor="t"/>
          <a:lstStyle/>
          <a:p>
            <a:pPr indent="0" marL="0">
              <a:buNone/>
            </a:pPr>
            <a:r>
              <a:rPr lang="en-US" sz="1800" dirty="0">
                <a:solidFill>
                  <a:srgbClr val="E5E2E1"/>
                </a:solidFill>
                <a:latin typeface="Inter" pitchFamily="34" charset="0"/>
                <a:ea typeface="Inter" pitchFamily="34" charset="-122"/>
                <a:cs typeface="Inter" pitchFamily="34" charset="-120"/>
              </a:rPr>
              <a:t>Run the same flow from your backend.</a:t>
            </a:r>
            <a:endParaRPr lang="en-US" sz="1800" dirty="0"/>
          </a:p>
        </p:txBody>
      </p:sp>
      <p:sp>
        <p:nvSpPr>
          <p:cNvPr id="15" name="Shape 12"/>
          <p:cNvSpPr/>
          <p:nvPr/>
        </p:nvSpPr>
        <p:spPr>
          <a:xfrm>
            <a:off x="640080" y="4224528"/>
            <a:ext cx="5272888" cy="1325880"/>
          </a:xfrm>
          <a:prstGeom prst="roundRect">
            <a:avLst>
              <a:gd name="adj" fmla="val 13793"/>
            </a:avLst>
          </a:prstGeom>
          <a:solidFill>
            <a:srgbClr val="FFFFFF">
              <a:alpha val="4000"/>
            </a:srgbClr>
          </a:solidFill>
          <a:ln w="9525">
            <a:solidFill>
              <a:srgbClr val="FFFFFF">
                <a:alpha val="14000"/>
              </a:srgbClr>
            </a:solidFill>
            <a:prstDash val="solid"/>
          </a:ln>
        </p:spPr>
      </p:sp>
      <p:sp>
        <p:nvSpPr>
          <p:cNvPr id="16" name="Text 13"/>
          <p:cNvSpPr txBox="1"/>
          <p:nvPr/>
        </p:nvSpPr>
        <p:spPr>
          <a:xfrm>
            <a:off x="932688" y="4489704"/>
            <a:ext cx="4687672" cy="365760"/>
          </a:xfrm>
          <a:prstGeom prst="rect">
            <a:avLst/>
          </a:prstGeom>
          <a:noFill/>
          <a:ln/>
        </p:spPr>
        <p:txBody>
          <a:bodyPr wrap="square" lIns="0" tIns="0" rIns="0" bIns="0" rtlCol="0" anchor="t"/>
          <a:lstStyle/>
          <a:p>
            <a:pPr indent="0" marL="0">
              <a:buNone/>
            </a:pPr>
            <a:r>
              <a:rPr lang="en-US" sz="2300" b="1" dirty="0">
                <a:solidFill>
                  <a:srgbClr val="E5E2E1"/>
                </a:solidFill>
                <a:latin typeface="Inter" pitchFamily="34" charset="0"/>
                <a:ea typeface="Inter" pitchFamily="34" charset="-122"/>
                <a:cs typeface="Inter" pitchFamily="34" charset="-120"/>
              </a:rPr>
              <a:t>Clearer builder</a:t>
            </a:r>
            <a:endParaRPr lang="en-US" sz="2300" dirty="0"/>
          </a:p>
        </p:txBody>
      </p:sp>
      <p:sp>
        <p:nvSpPr>
          <p:cNvPr id="17" name="Text 14"/>
          <p:cNvSpPr txBox="1"/>
          <p:nvPr/>
        </p:nvSpPr>
        <p:spPr>
          <a:xfrm>
            <a:off x="932688" y="5010912"/>
            <a:ext cx="4687672" cy="329184"/>
          </a:xfrm>
          <a:prstGeom prst="rect">
            <a:avLst/>
          </a:prstGeom>
          <a:noFill/>
          <a:ln/>
        </p:spPr>
        <p:txBody>
          <a:bodyPr wrap="square" lIns="0" tIns="0" rIns="0" bIns="0" rtlCol="0" anchor="t"/>
          <a:lstStyle/>
          <a:p>
            <a:pPr indent="0" marL="0">
              <a:buNone/>
            </a:pPr>
            <a:r>
              <a:rPr lang="en-US" sz="1700" dirty="0">
                <a:solidFill>
                  <a:srgbClr val="BCB8BB"/>
                </a:solidFill>
                <a:latin typeface="Inter" pitchFamily="34" charset="0"/>
                <a:ea typeface="Inter" pitchFamily="34" charset="-122"/>
                <a:cs typeface="Inter" pitchFamily="34" charset="-120"/>
              </a:rPr>
              <a:t>Field validation, keyboard and mobile.</a:t>
            </a:r>
            <a:endParaRPr lang="en-US" sz="1700" dirty="0"/>
          </a:p>
        </p:txBody>
      </p:sp>
      <p:sp>
        <p:nvSpPr>
          <p:cNvPr id="18" name="Shape 15"/>
          <p:cNvSpPr/>
          <p:nvPr/>
        </p:nvSpPr>
        <p:spPr>
          <a:xfrm>
            <a:off x="6278728" y="4224528"/>
            <a:ext cx="5272888" cy="1325880"/>
          </a:xfrm>
          <a:prstGeom prst="roundRect">
            <a:avLst>
              <a:gd name="adj" fmla="val 13793"/>
            </a:avLst>
          </a:prstGeom>
          <a:solidFill>
            <a:srgbClr val="FFFFFF">
              <a:alpha val="4000"/>
            </a:srgbClr>
          </a:solidFill>
          <a:ln w="9525">
            <a:solidFill>
              <a:srgbClr val="FFFFFF">
                <a:alpha val="14000"/>
              </a:srgbClr>
            </a:solidFill>
            <a:prstDash val="solid"/>
          </a:ln>
        </p:spPr>
      </p:sp>
      <p:sp>
        <p:nvSpPr>
          <p:cNvPr id="19" name="Text 16"/>
          <p:cNvSpPr txBox="1"/>
          <p:nvPr/>
        </p:nvSpPr>
        <p:spPr>
          <a:xfrm>
            <a:off x="6571336" y="4489704"/>
            <a:ext cx="4687672" cy="365760"/>
          </a:xfrm>
          <a:prstGeom prst="rect">
            <a:avLst/>
          </a:prstGeom>
          <a:noFill/>
          <a:ln/>
        </p:spPr>
        <p:txBody>
          <a:bodyPr wrap="square" lIns="0" tIns="0" rIns="0" bIns="0" rtlCol="0" anchor="t"/>
          <a:lstStyle/>
          <a:p>
            <a:pPr indent="0" marL="0">
              <a:buNone/>
            </a:pPr>
            <a:r>
              <a:rPr lang="en-US" sz="2300" b="1" dirty="0">
                <a:solidFill>
                  <a:srgbClr val="E5E2E1"/>
                </a:solidFill>
                <a:latin typeface="Inter" pitchFamily="34" charset="0"/>
                <a:ea typeface="Inter" pitchFamily="34" charset="-122"/>
                <a:cs typeface="Inter" pitchFamily="34" charset="-120"/>
              </a:rPr>
              <a:t>Verified end to end</a:t>
            </a:r>
            <a:endParaRPr lang="en-US" sz="2300" dirty="0"/>
          </a:p>
        </p:txBody>
      </p:sp>
      <p:sp>
        <p:nvSpPr>
          <p:cNvPr id="20" name="Text 17"/>
          <p:cNvSpPr txBox="1"/>
          <p:nvPr/>
        </p:nvSpPr>
        <p:spPr>
          <a:xfrm>
            <a:off x="6571336" y="5010912"/>
            <a:ext cx="4687672" cy="329184"/>
          </a:xfrm>
          <a:prstGeom prst="rect">
            <a:avLst/>
          </a:prstGeom>
          <a:noFill/>
          <a:ln/>
        </p:spPr>
        <p:txBody>
          <a:bodyPr wrap="square" lIns="0" tIns="0" rIns="0" bIns="0" rtlCol="0" anchor="t"/>
          <a:lstStyle/>
          <a:p>
            <a:pPr indent="0" marL="0">
              <a:buNone/>
            </a:pPr>
            <a:r>
              <a:rPr lang="en-US" sz="1700" dirty="0">
                <a:solidFill>
                  <a:srgbClr val="BCB8BB"/>
                </a:solidFill>
                <a:latin typeface="Inter" pitchFamily="34" charset="0"/>
                <a:ea typeface="Inter" pitchFamily="34" charset="-122"/>
                <a:cs typeface="Inter" pitchFamily="34" charset="-120"/>
              </a:rPr>
              <a:t>Wallet + API runs, backed by receipts.</a:t>
            </a:r>
            <a:endParaRPr lang="en-US" sz="1700" dirty="0"/>
          </a:p>
        </p:txBody>
      </p:sp>
      <p:sp>
        <p:nvSpPr>
          <p:cNvPr id="21" name="Text 18"/>
          <p:cNvSpPr txBox="1"/>
          <p:nvPr/>
        </p:nvSpPr>
        <p:spPr>
          <a:xfrm>
            <a:off x="640080" y="5943600"/>
            <a:ext cx="10911535" cy="274320"/>
          </a:xfrm>
          <a:prstGeom prst="rect">
            <a:avLst/>
          </a:prstGeom>
          <a:noFill/>
          <a:ln/>
        </p:spPr>
        <p:txBody>
          <a:bodyPr wrap="square" lIns="0" tIns="0" rIns="0" bIns="0" rtlCol="0" anchor="t"/>
          <a:lstStyle/>
          <a:p>
            <a:pPr indent="0" marL="0">
              <a:buNone/>
            </a:pPr>
            <a:r>
              <a:rPr lang="en-US" sz="1100" dirty="0">
                <a:solidFill>
                  <a:srgbClr val="98CBFF"/>
                </a:solidFill>
                <a:latin typeface="JetBrains Mono" pitchFamily="34" charset="0"/>
                <a:ea typeface="JetBrains Mono" pitchFamily="34" charset="-122"/>
                <a:cs typeface="JetBrains Mono" pitchFamily="34" charset="-120"/>
              </a:rPr>
              <a:t>7 SEP–4 OCT 2026 · ALL FOUR COMPLETE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74320"/>
          </a:xfrm>
          <a:prstGeom prst="rect">
            <a:avLst/>
          </a:prstGeom>
          <a:noFill/>
          <a:ln/>
        </p:spPr>
        <p:txBody>
          <a:bodyPr wrap="square" lIns="0" tIns="0" rIns="0" bIns="0" rtlCol="0" anchor="ctr"/>
          <a:lstStyle/>
          <a:p>
            <a:pPr indent="0" marL="0">
              <a:buNone/>
            </a:pPr>
            <a:r>
              <a:rPr lang="en-US" sz="1100" b="1" spc="150" kern="0" dirty="0">
                <a:solidFill>
                  <a:srgbClr val="FFB1C4"/>
                </a:solidFill>
                <a:latin typeface="JetBrains Mono" pitchFamily="34" charset="0"/>
                <a:ea typeface="JetBrains Mono" pitchFamily="34" charset="-122"/>
                <a:cs typeface="JetBrains Mono" pitchFamily="34" charset="-120"/>
              </a:rPr>
              <a:t>LIVE · STELLAR TESTNET</a:t>
            </a:r>
            <a:endParaRPr lang="en-US" sz="1100" dirty="0"/>
          </a:p>
        </p:txBody>
      </p:sp>
      <p:sp>
        <p:nvSpPr>
          <p:cNvPr id="3" name="Text 1"/>
          <p:cNvSpPr txBox="1"/>
          <p:nvPr/>
        </p:nvSpPr>
        <p:spPr>
          <a:xfrm>
            <a:off x="640080" y="804672"/>
            <a:ext cx="9692640" cy="777240"/>
          </a:xfrm>
          <a:prstGeom prst="rect">
            <a:avLst/>
          </a:prstGeom>
          <a:noFill/>
          <a:ln/>
        </p:spPr>
        <p:txBody>
          <a:bodyPr wrap="square" lIns="0" tIns="0" rIns="0" bIns="0" rtlCol="0" anchor="ctr"/>
          <a:lstStyle/>
          <a:p>
            <a:pPr indent="0" marL="0">
              <a:buNone/>
            </a:pPr>
            <a:r>
              <a:rPr lang="en-US" sz="4000" b="1" spc="-50" kern="0" dirty="0">
                <a:solidFill>
                  <a:srgbClr val="E5E2E1"/>
                </a:solidFill>
                <a:latin typeface="Inter" pitchFamily="34" charset="0"/>
                <a:ea typeface="Inter" pitchFamily="34" charset="-122"/>
                <a:cs typeface="Inter" pitchFamily="34" charset="-120"/>
              </a:rPr>
              <a:t>Watch the payment move.</a:t>
            </a:r>
            <a:endParaRPr lang="en-US" sz="4000" dirty="0"/>
          </a:p>
        </p:txBody>
      </p:sp>
      <p:sp>
        <p:nvSpPr>
          <p:cNvPr id="4" name="Text 2"/>
          <p:cNvSpPr txBox="1"/>
          <p:nvPr/>
        </p:nvSpPr>
        <p:spPr>
          <a:xfrm>
            <a:off x="640080" y="6400800"/>
            <a:ext cx="4572000" cy="228600"/>
          </a:xfrm>
          <a:prstGeom prst="rect">
            <a:avLst/>
          </a:prstGeom>
          <a:noFill/>
          <a:ln/>
        </p:spPr>
        <p:txBody>
          <a:bodyPr wrap="square" lIns="0" tIns="0" rIns="0" bIns="0" rtlCol="0" anchor="ctr"/>
          <a:lstStyle/>
          <a:p>
            <a:pPr indent="0" marL="0">
              <a:buNone/>
            </a:pPr>
            <a:r>
              <a:rPr lang="en-US" sz="900" dirty="0">
                <a:solidFill>
                  <a:srgbClr val="BCB8BB"/>
                </a:solidFill>
                <a:latin typeface="JetBrains Mono" pitchFamily="34" charset="0"/>
                <a:ea typeface="JetBrains Mono" pitchFamily="34" charset="-122"/>
                <a:cs typeface="JetBrains Mono" pitchFamily="34" charset="-120"/>
              </a:rPr>
              <a:t>Paiflow · InstaAwards Builder Showcase</a:t>
            </a:r>
            <a:endParaRPr lang="en-US" sz="900" dirty="0"/>
          </a:p>
        </p:txBody>
      </p:sp>
      <p:sp>
        <p:nvSpPr>
          <p:cNvPr id="5" name="Text 3"/>
          <p:cNvSpPr txBox="1"/>
          <p:nvPr/>
        </p:nvSpPr>
        <p:spPr>
          <a:xfrm>
            <a:off x="9722815" y="6400800"/>
            <a:ext cx="1828800" cy="228600"/>
          </a:xfrm>
          <a:prstGeom prst="rect">
            <a:avLst/>
          </a:prstGeom>
          <a:noFill/>
          <a:ln/>
        </p:spPr>
        <p:txBody>
          <a:bodyPr wrap="square" lIns="0" tIns="0" rIns="0" bIns="0" rtlCol="0" anchor="ctr"/>
          <a:lstStyle/>
          <a:p>
            <a:pPr algn="r" indent="0" marL="0">
              <a:buNone/>
            </a:pPr>
            <a:r>
              <a:rPr lang="en-US" sz="900" dirty="0">
                <a:solidFill>
                  <a:srgbClr val="BCB8BB"/>
                </a:solidFill>
                <a:latin typeface="JetBrains Mono" pitchFamily="34" charset="0"/>
                <a:ea typeface="JetBrains Mono" pitchFamily="34" charset="-122"/>
                <a:cs typeface="JetBrains Mono" pitchFamily="34" charset="-120"/>
              </a:rPr>
              <a:t>03 / 5</a:t>
            </a:r>
            <a:endParaRPr lang="en-US" sz="900" dirty="0"/>
          </a:p>
        </p:txBody>
      </p:sp>
      <p:sp>
        <p:nvSpPr>
          <p:cNvPr id="7" name="Shape 4"/>
          <p:cNvSpPr/>
          <p:nvPr/>
        </p:nvSpPr>
        <p:spPr>
          <a:xfrm>
            <a:off x="640080" y="2606040"/>
            <a:ext cx="3063240" cy="1691640"/>
          </a:xfrm>
          <a:prstGeom prst="roundRect">
            <a:avLst>
              <a:gd name="adj" fmla="val 10811"/>
            </a:avLst>
          </a:prstGeom>
          <a:solidFill>
            <a:srgbClr val="FFFFFF">
              <a:alpha val="7000"/>
            </a:srgbClr>
          </a:solidFill>
          <a:ln w="9525">
            <a:solidFill>
              <a:srgbClr val="FFFFFF">
                <a:alpha val="14000"/>
              </a:srgbClr>
            </a:solidFill>
            <a:prstDash val="solid"/>
          </a:ln>
        </p:spPr>
      </p:sp>
      <p:sp>
        <p:nvSpPr>
          <p:cNvPr id="8" name="Text 5"/>
          <p:cNvSpPr txBox="1"/>
          <p:nvPr/>
        </p:nvSpPr>
        <p:spPr>
          <a:xfrm>
            <a:off x="914400" y="2935224"/>
            <a:ext cx="2514600" cy="502920"/>
          </a:xfrm>
          <a:prstGeom prst="rect">
            <a:avLst/>
          </a:prstGeom>
          <a:noFill/>
          <a:ln/>
        </p:spPr>
        <p:txBody>
          <a:bodyPr wrap="square" lIns="0" tIns="0" rIns="0" bIns="0" rtlCol="0" anchor="t"/>
          <a:lstStyle/>
          <a:p>
            <a:pPr indent="0" marL="0">
              <a:buNone/>
            </a:pPr>
            <a:r>
              <a:rPr lang="en-US" sz="3200" b="1" dirty="0">
                <a:solidFill>
                  <a:srgbClr val="98CBFF"/>
                </a:solidFill>
                <a:latin typeface="Inter" pitchFamily="34" charset="0"/>
                <a:ea typeface="Inter" pitchFamily="34" charset="-122"/>
                <a:cs typeface="Inter" pitchFamily="34" charset="-120"/>
              </a:rPr>
              <a:t>Receive</a:t>
            </a:r>
            <a:endParaRPr lang="en-US" sz="3200" dirty="0"/>
          </a:p>
        </p:txBody>
      </p:sp>
      <p:sp>
        <p:nvSpPr>
          <p:cNvPr id="9" name="Text 6"/>
          <p:cNvSpPr txBox="1"/>
          <p:nvPr/>
        </p:nvSpPr>
        <p:spPr>
          <a:xfrm>
            <a:off x="914400" y="3666744"/>
            <a:ext cx="2514600" cy="365760"/>
          </a:xfrm>
          <a:prstGeom prst="rect">
            <a:avLst/>
          </a:prstGeom>
          <a:noFill/>
          <a:ln/>
        </p:spPr>
        <p:txBody>
          <a:bodyPr wrap="square" lIns="0" tIns="0" rIns="0" bIns="0" rtlCol="0" anchor="t"/>
          <a:lstStyle/>
          <a:p>
            <a:pPr indent="0" marL="0">
              <a:buNone/>
            </a:pPr>
            <a:r>
              <a:rPr lang="en-US" sz="1800" dirty="0">
                <a:solidFill>
                  <a:srgbClr val="E5E2E1"/>
                </a:solidFill>
                <a:latin typeface="JetBrains Mono" pitchFamily="34" charset="0"/>
                <a:ea typeface="JetBrains Mono" pitchFamily="34" charset="-122"/>
                <a:cs typeface="JetBrains Mono" pitchFamily="34" charset="-120"/>
              </a:rPr>
              <a:t>10 XLM</a:t>
            </a:r>
            <a:endParaRPr lang="en-US" sz="1800" dirty="0"/>
          </a:p>
        </p:txBody>
      </p:sp>
      <p:sp>
        <p:nvSpPr>
          <p:cNvPr id="10" name="Shape 7"/>
          <p:cNvSpPr/>
          <p:nvPr/>
        </p:nvSpPr>
        <p:spPr>
          <a:xfrm>
            <a:off x="3849624" y="3451860"/>
            <a:ext cx="568300" cy="0"/>
          </a:xfrm>
          <a:prstGeom prst="line">
            <a:avLst/>
          </a:prstGeom>
          <a:noFill/>
          <a:ln w="19050">
            <a:solidFill>
              <a:srgbClr val="98CBFF"/>
            </a:solidFill>
            <a:prstDash val="solid"/>
            <a:tailEnd type="triangle"/>
          </a:ln>
        </p:spPr>
      </p:sp>
      <p:sp>
        <p:nvSpPr>
          <p:cNvPr id="11" name="Shape 8"/>
          <p:cNvSpPr/>
          <p:nvPr/>
        </p:nvSpPr>
        <p:spPr>
          <a:xfrm>
            <a:off x="4564228" y="2606040"/>
            <a:ext cx="3063240" cy="1691640"/>
          </a:xfrm>
          <a:prstGeom prst="roundRect">
            <a:avLst>
              <a:gd name="adj" fmla="val 10811"/>
            </a:avLst>
          </a:prstGeom>
          <a:solidFill>
            <a:srgbClr val="FFFFFF">
              <a:alpha val="7000"/>
            </a:srgbClr>
          </a:solidFill>
          <a:ln w="9525">
            <a:solidFill>
              <a:srgbClr val="FFFFFF">
                <a:alpha val="14000"/>
              </a:srgbClr>
            </a:solidFill>
            <a:prstDash val="solid"/>
          </a:ln>
        </p:spPr>
      </p:sp>
      <p:sp>
        <p:nvSpPr>
          <p:cNvPr id="12" name="Text 9"/>
          <p:cNvSpPr txBox="1"/>
          <p:nvPr/>
        </p:nvSpPr>
        <p:spPr>
          <a:xfrm>
            <a:off x="4838548" y="2935224"/>
            <a:ext cx="2514600" cy="502920"/>
          </a:xfrm>
          <a:prstGeom prst="rect">
            <a:avLst/>
          </a:prstGeom>
          <a:noFill/>
          <a:ln/>
        </p:spPr>
        <p:txBody>
          <a:bodyPr wrap="square" lIns="0" tIns="0" rIns="0" bIns="0" rtlCol="0" anchor="t"/>
          <a:lstStyle/>
          <a:p>
            <a:pPr indent="0" marL="0">
              <a:buNone/>
            </a:pPr>
            <a:r>
              <a:rPr lang="en-US" sz="3200" b="1" dirty="0">
                <a:solidFill>
                  <a:srgbClr val="FFB1C4"/>
                </a:solidFill>
                <a:latin typeface="Inter" pitchFamily="34" charset="0"/>
                <a:ea typeface="Inter" pitchFamily="34" charset="-122"/>
                <a:cs typeface="Inter" pitchFamily="34" charset="-120"/>
              </a:rPr>
              <a:t>Swap</a:t>
            </a:r>
            <a:endParaRPr lang="en-US" sz="3200" dirty="0"/>
          </a:p>
        </p:txBody>
      </p:sp>
      <p:sp>
        <p:nvSpPr>
          <p:cNvPr id="13" name="Text 10"/>
          <p:cNvSpPr txBox="1"/>
          <p:nvPr/>
        </p:nvSpPr>
        <p:spPr>
          <a:xfrm>
            <a:off x="4838548" y="3666744"/>
            <a:ext cx="2514600" cy="365760"/>
          </a:xfrm>
          <a:prstGeom prst="rect">
            <a:avLst/>
          </a:prstGeom>
          <a:noFill/>
          <a:ln/>
        </p:spPr>
        <p:txBody>
          <a:bodyPr wrap="square" lIns="0" tIns="0" rIns="0" bIns="0" rtlCol="0" anchor="t"/>
          <a:lstStyle/>
          <a:p>
            <a:pPr indent="0" marL="0">
              <a:buNone/>
            </a:pPr>
            <a:r>
              <a:rPr lang="en-US" sz="1800" dirty="0">
                <a:solidFill>
                  <a:srgbClr val="E5E2E1"/>
                </a:solidFill>
                <a:latin typeface="JetBrains Mono" pitchFamily="34" charset="0"/>
                <a:ea typeface="JetBrains Mono" pitchFamily="34" charset="-122"/>
                <a:cs typeface="JetBrains Mono" pitchFamily="34" charset="-120"/>
              </a:rPr>
              <a:t>XLM → USDC</a:t>
            </a:r>
            <a:endParaRPr lang="en-US" sz="1800" dirty="0"/>
          </a:p>
        </p:txBody>
      </p:sp>
      <p:sp>
        <p:nvSpPr>
          <p:cNvPr id="14" name="Shape 11"/>
          <p:cNvSpPr/>
          <p:nvPr/>
        </p:nvSpPr>
        <p:spPr>
          <a:xfrm>
            <a:off x="7773772" y="3451860"/>
            <a:ext cx="568300" cy="0"/>
          </a:xfrm>
          <a:prstGeom prst="line">
            <a:avLst/>
          </a:prstGeom>
          <a:noFill/>
          <a:ln w="19050">
            <a:solidFill>
              <a:srgbClr val="98CBFF"/>
            </a:solidFill>
            <a:prstDash val="solid"/>
            <a:tailEnd type="triangle"/>
          </a:ln>
        </p:spPr>
      </p:sp>
      <p:sp>
        <p:nvSpPr>
          <p:cNvPr id="15" name="Shape 12"/>
          <p:cNvSpPr/>
          <p:nvPr/>
        </p:nvSpPr>
        <p:spPr>
          <a:xfrm>
            <a:off x="8488375" y="2606040"/>
            <a:ext cx="3063240" cy="1691640"/>
          </a:xfrm>
          <a:prstGeom prst="roundRect">
            <a:avLst>
              <a:gd name="adj" fmla="val 10811"/>
            </a:avLst>
          </a:prstGeom>
          <a:solidFill>
            <a:srgbClr val="FFFFFF">
              <a:alpha val="7000"/>
            </a:srgbClr>
          </a:solidFill>
          <a:ln w="9525">
            <a:solidFill>
              <a:srgbClr val="FFFFFF">
                <a:alpha val="14000"/>
              </a:srgbClr>
            </a:solidFill>
            <a:prstDash val="solid"/>
          </a:ln>
        </p:spPr>
      </p:sp>
      <p:sp>
        <p:nvSpPr>
          <p:cNvPr id="16" name="Text 13"/>
          <p:cNvSpPr txBox="1"/>
          <p:nvPr/>
        </p:nvSpPr>
        <p:spPr>
          <a:xfrm>
            <a:off x="8762695" y="2935224"/>
            <a:ext cx="2514600" cy="502920"/>
          </a:xfrm>
          <a:prstGeom prst="rect">
            <a:avLst/>
          </a:prstGeom>
          <a:noFill/>
          <a:ln/>
        </p:spPr>
        <p:txBody>
          <a:bodyPr wrap="square" lIns="0" tIns="0" rIns="0" bIns="0" rtlCol="0" anchor="t"/>
          <a:lstStyle/>
          <a:p>
            <a:pPr indent="0" marL="0">
              <a:buNone/>
            </a:pPr>
            <a:r>
              <a:rPr lang="en-US" sz="3200" b="1" dirty="0">
                <a:solidFill>
                  <a:srgbClr val="FFB1C4"/>
                </a:solidFill>
                <a:latin typeface="Inter" pitchFamily="34" charset="0"/>
                <a:ea typeface="Inter" pitchFamily="34" charset="-122"/>
                <a:cs typeface="Inter" pitchFamily="34" charset="-120"/>
              </a:rPr>
              <a:t>Pay</a:t>
            </a:r>
            <a:endParaRPr lang="en-US" sz="3200" dirty="0"/>
          </a:p>
        </p:txBody>
      </p:sp>
      <p:sp>
        <p:nvSpPr>
          <p:cNvPr id="17" name="Text 14"/>
          <p:cNvSpPr txBox="1"/>
          <p:nvPr/>
        </p:nvSpPr>
        <p:spPr>
          <a:xfrm>
            <a:off x="8762695" y="3666744"/>
            <a:ext cx="2514600" cy="365760"/>
          </a:xfrm>
          <a:prstGeom prst="rect">
            <a:avLst/>
          </a:prstGeom>
          <a:noFill/>
          <a:ln/>
        </p:spPr>
        <p:txBody>
          <a:bodyPr wrap="square" lIns="0" tIns="0" rIns="0" bIns="0" rtlCol="0" anchor="t"/>
          <a:lstStyle/>
          <a:p>
            <a:pPr indent="0" marL="0">
              <a:buNone/>
            </a:pPr>
            <a:r>
              <a:rPr lang="en-US" sz="1800" dirty="0">
                <a:solidFill>
                  <a:srgbClr val="E5E2E1"/>
                </a:solidFill>
                <a:latin typeface="JetBrains Mono" pitchFamily="34" charset="0"/>
                <a:ea typeface="JetBrains Mono" pitchFamily="34" charset="-122"/>
                <a:cs typeface="JetBrains Mono" pitchFamily="34" charset="-120"/>
              </a:rPr>
              <a:t>Recipient wallet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74320"/>
          </a:xfrm>
          <a:prstGeom prst="rect">
            <a:avLst/>
          </a:prstGeom>
          <a:noFill/>
          <a:ln/>
        </p:spPr>
        <p:txBody>
          <a:bodyPr wrap="square" lIns="0" tIns="0" rIns="0" bIns="0" rtlCol="0" anchor="ctr"/>
          <a:lstStyle/>
          <a:p>
            <a:pPr indent="0" marL="0">
              <a:buNone/>
            </a:pPr>
            <a:r>
              <a:rPr lang="en-US" sz="1100" b="1" spc="150" kern="0" dirty="0">
                <a:solidFill>
                  <a:srgbClr val="FFB1C4"/>
                </a:solidFill>
                <a:latin typeface="JetBrains Mono" pitchFamily="34" charset="0"/>
                <a:ea typeface="JetBrains Mono" pitchFamily="34" charset="-122"/>
                <a:cs typeface="JetBrains Mono" pitchFamily="34" charset="-120"/>
              </a:rPr>
              <a:t>RESULTS → FORECAST</a:t>
            </a:r>
            <a:endParaRPr lang="en-US" sz="1100" dirty="0"/>
          </a:p>
        </p:txBody>
      </p:sp>
      <p:sp>
        <p:nvSpPr>
          <p:cNvPr id="3" name="Text 1"/>
          <p:cNvSpPr txBox="1"/>
          <p:nvPr/>
        </p:nvSpPr>
        <p:spPr>
          <a:xfrm>
            <a:off x="640080" y="804672"/>
            <a:ext cx="9692640" cy="777240"/>
          </a:xfrm>
          <a:prstGeom prst="rect">
            <a:avLst/>
          </a:prstGeom>
          <a:noFill/>
          <a:ln/>
        </p:spPr>
        <p:txBody>
          <a:bodyPr wrap="square" lIns="0" tIns="0" rIns="0" bIns="0" rtlCol="0" anchor="ctr"/>
          <a:lstStyle/>
          <a:p>
            <a:pPr indent="0" marL="0">
              <a:buNone/>
            </a:pPr>
            <a:r>
              <a:rPr lang="en-US" sz="4000" b="1" spc="-50" kern="0" dirty="0">
                <a:solidFill>
                  <a:srgbClr val="E5E2E1"/>
                </a:solidFill>
                <a:latin typeface="Inter" pitchFamily="34" charset="0"/>
                <a:ea typeface="Inter" pitchFamily="34" charset="-122"/>
                <a:cs typeface="Inter" pitchFamily="34" charset="-120"/>
              </a:rPr>
              <a:t>From alpha to October.</a:t>
            </a:r>
            <a:endParaRPr lang="en-US" sz="4000" dirty="0"/>
          </a:p>
        </p:txBody>
      </p:sp>
      <p:sp>
        <p:nvSpPr>
          <p:cNvPr id="4" name="Text 2"/>
          <p:cNvSpPr txBox="1"/>
          <p:nvPr/>
        </p:nvSpPr>
        <p:spPr>
          <a:xfrm>
            <a:off x="640080" y="6400800"/>
            <a:ext cx="4572000" cy="228600"/>
          </a:xfrm>
          <a:prstGeom prst="rect">
            <a:avLst/>
          </a:prstGeom>
          <a:noFill/>
          <a:ln/>
        </p:spPr>
        <p:txBody>
          <a:bodyPr wrap="square" lIns="0" tIns="0" rIns="0" bIns="0" rtlCol="0" anchor="ctr"/>
          <a:lstStyle/>
          <a:p>
            <a:pPr indent="0" marL="0">
              <a:buNone/>
            </a:pPr>
            <a:r>
              <a:rPr lang="en-US" sz="900" dirty="0">
                <a:solidFill>
                  <a:srgbClr val="BCB8BB"/>
                </a:solidFill>
                <a:latin typeface="JetBrains Mono" pitchFamily="34" charset="0"/>
                <a:ea typeface="JetBrains Mono" pitchFamily="34" charset="-122"/>
                <a:cs typeface="JetBrains Mono" pitchFamily="34" charset="-120"/>
              </a:rPr>
              <a:t>Paiflow · InstaAwards Builder Showcase</a:t>
            </a:r>
            <a:endParaRPr lang="en-US" sz="900" dirty="0"/>
          </a:p>
        </p:txBody>
      </p:sp>
      <p:sp>
        <p:nvSpPr>
          <p:cNvPr id="5" name="Text 3"/>
          <p:cNvSpPr txBox="1"/>
          <p:nvPr/>
        </p:nvSpPr>
        <p:spPr>
          <a:xfrm>
            <a:off x="9722815" y="6400800"/>
            <a:ext cx="1828800" cy="228600"/>
          </a:xfrm>
          <a:prstGeom prst="rect">
            <a:avLst/>
          </a:prstGeom>
          <a:noFill/>
          <a:ln/>
        </p:spPr>
        <p:txBody>
          <a:bodyPr wrap="square" lIns="0" tIns="0" rIns="0" bIns="0" rtlCol="0" anchor="ctr"/>
          <a:lstStyle/>
          <a:p>
            <a:pPr algn="r" indent="0" marL="0">
              <a:buNone/>
            </a:pPr>
            <a:r>
              <a:rPr lang="en-US" sz="900" dirty="0">
                <a:solidFill>
                  <a:srgbClr val="BCB8BB"/>
                </a:solidFill>
                <a:latin typeface="JetBrains Mono" pitchFamily="34" charset="0"/>
                <a:ea typeface="JetBrains Mono" pitchFamily="34" charset="-122"/>
                <a:cs typeface="JetBrains Mono" pitchFamily="34" charset="-120"/>
              </a:rPr>
              <a:t>04 / 5</a:t>
            </a:r>
            <a:endParaRPr lang="en-US" sz="900" dirty="0"/>
          </a:p>
        </p:txBody>
      </p:sp>
      <p:sp>
        <p:nvSpPr>
          <p:cNvPr id="7" name="Shape 4"/>
          <p:cNvSpPr/>
          <p:nvPr/>
        </p:nvSpPr>
        <p:spPr>
          <a:xfrm>
            <a:off x="640080" y="1901952"/>
            <a:ext cx="137160" cy="137160"/>
          </a:xfrm>
          <a:prstGeom prst="rect">
            <a:avLst/>
          </a:prstGeom>
          <a:solidFill>
            <a:srgbClr val="FF4A8D"/>
          </a:solidFill>
          <a:ln w="12700">
            <a:solidFill>
              <a:srgbClr val="FF4A8D"/>
            </a:solidFill>
            <a:prstDash val="solid"/>
          </a:ln>
        </p:spPr>
      </p:sp>
      <p:sp>
        <p:nvSpPr>
          <p:cNvPr id="8" name="Text 5"/>
          <p:cNvSpPr txBox="1"/>
          <p:nvPr/>
        </p:nvSpPr>
        <p:spPr>
          <a:xfrm>
            <a:off x="877824" y="1837944"/>
            <a:ext cx="1188720" cy="274320"/>
          </a:xfrm>
          <a:prstGeom prst="rect">
            <a:avLst/>
          </a:prstGeom>
          <a:noFill/>
          <a:ln/>
        </p:spPr>
        <p:txBody>
          <a:bodyPr wrap="square" lIns="0" tIns="0" rIns="0" bIns="0" rtlCol="0" anchor="t"/>
          <a:lstStyle/>
          <a:p>
            <a:pPr indent="0" marL="0">
              <a:buNone/>
            </a:pPr>
            <a:r>
              <a:rPr lang="en-US" sz="1200" dirty="0">
                <a:solidFill>
                  <a:srgbClr val="BCB8BB"/>
                </a:solidFill>
                <a:latin typeface="Inter" pitchFamily="34" charset="0"/>
                <a:ea typeface="Inter" pitchFamily="34" charset="-122"/>
                <a:cs typeface="Inter" pitchFamily="34" charset="-120"/>
              </a:rPr>
              <a:t>Baseline</a:t>
            </a:r>
            <a:endParaRPr lang="en-US" sz="1200" dirty="0"/>
          </a:p>
        </p:txBody>
      </p:sp>
      <p:sp>
        <p:nvSpPr>
          <p:cNvPr id="9" name="Shape 6"/>
          <p:cNvSpPr/>
          <p:nvPr/>
        </p:nvSpPr>
        <p:spPr>
          <a:xfrm>
            <a:off x="2011680" y="1901952"/>
            <a:ext cx="137160" cy="137160"/>
          </a:xfrm>
          <a:prstGeom prst="rect">
            <a:avLst/>
          </a:prstGeom>
          <a:solidFill>
            <a:srgbClr val="FF4A8D">
              <a:alpha val="7000"/>
            </a:srgbClr>
          </a:solidFill>
          <a:ln w="12700">
            <a:solidFill>
              <a:srgbClr val="FFB1C4"/>
            </a:solidFill>
            <a:prstDash val="dash"/>
          </a:ln>
        </p:spPr>
      </p:sp>
      <p:sp>
        <p:nvSpPr>
          <p:cNvPr id="10" name="Text 7"/>
          <p:cNvSpPr txBox="1"/>
          <p:nvPr/>
        </p:nvSpPr>
        <p:spPr>
          <a:xfrm>
            <a:off x="2249424" y="1837944"/>
            <a:ext cx="2743200" cy="274320"/>
          </a:xfrm>
          <a:prstGeom prst="rect">
            <a:avLst/>
          </a:prstGeom>
          <a:noFill/>
          <a:ln/>
        </p:spPr>
        <p:txBody>
          <a:bodyPr wrap="square" lIns="0" tIns="0" rIns="0" bIns="0" rtlCol="0" anchor="t"/>
          <a:lstStyle/>
          <a:p>
            <a:pPr indent="0" marL="0">
              <a:buNone/>
            </a:pPr>
            <a:r>
              <a:rPr lang="en-US" sz="1200" dirty="0">
                <a:solidFill>
                  <a:srgbClr val="BCB8BB"/>
                </a:solidFill>
                <a:latin typeface="Inter" pitchFamily="34" charset="0"/>
                <a:ea typeface="Inter" pitchFamily="34" charset="-122"/>
                <a:cs typeface="Inter" pitchFamily="34" charset="-120"/>
              </a:rPr>
              <a:t>October increase</a:t>
            </a:r>
            <a:endParaRPr lang="en-US" sz="1200" dirty="0"/>
          </a:p>
        </p:txBody>
      </p:sp>
      <p:sp>
        <p:nvSpPr>
          <p:cNvPr id="11" name="Text 8"/>
          <p:cNvSpPr txBox="1"/>
          <p:nvPr/>
        </p:nvSpPr>
        <p:spPr>
          <a:xfrm>
            <a:off x="9345168" y="1847088"/>
            <a:ext cx="2240280" cy="274320"/>
          </a:xfrm>
          <a:prstGeom prst="rect">
            <a:avLst/>
          </a:prstGeom>
          <a:noFill/>
          <a:ln/>
        </p:spPr>
        <p:txBody>
          <a:bodyPr wrap="square" lIns="0" tIns="0" rIns="0" bIns="0" rtlCol="0" anchor="t"/>
          <a:lstStyle/>
          <a:p>
            <a:pPr indent="0" marL="0">
              <a:buNone/>
            </a:pPr>
            <a:r>
              <a:rPr lang="en-US" sz="1000" dirty="0">
                <a:solidFill>
                  <a:srgbClr val="98CBFF"/>
                </a:solidFill>
                <a:latin typeface="JetBrains Mono" pitchFamily="34" charset="0"/>
                <a:ea typeface="JetBrains Mono" pitchFamily="34" charset="-122"/>
                <a:cs typeface="JetBrains Mono" pitchFamily="34" charset="-120"/>
              </a:rPr>
              <a:t>BASELINE → TARGET</a:t>
            </a:r>
            <a:endParaRPr lang="en-US" sz="1000" dirty="0"/>
          </a:p>
        </p:txBody>
      </p:sp>
      <p:sp>
        <p:nvSpPr>
          <p:cNvPr id="12" name="Text 9"/>
          <p:cNvSpPr txBox="1"/>
          <p:nvPr/>
        </p:nvSpPr>
        <p:spPr>
          <a:xfrm>
            <a:off x="640080" y="2391156"/>
            <a:ext cx="2880360" cy="365760"/>
          </a:xfrm>
          <a:prstGeom prst="rect">
            <a:avLst/>
          </a:prstGeom>
          <a:noFill/>
          <a:ln/>
        </p:spPr>
        <p:txBody>
          <a:bodyPr wrap="square" lIns="0" tIns="0" rIns="0" bIns="0" rtlCol="0" anchor="ctr"/>
          <a:lstStyle/>
          <a:p>
            <a:pPr indent="0" marL="0">
              <a:buNone/>
            </a:pPr>
            <a:r>
              <a:rPr lang="en-US" sz="1700" dirty="0">
                <a:solidFill>
                  <a:srgbClr val="E5E2E1"/>
                </a:solidFill>
                <a:latin typeface="Inter" pitchFamily="34" charset="0"/>
                <a:ea typeface="Inter" pitchFamily="34" charset="-122"/>
                <a:cs typeface="Inter" pitchFamily="34" charset="-120"/>
              </a:rPr>
              <a:t>Users onboarded</a:t>
            </a:r>
            <a:endParaRPr lang="en-US" sz="1700" dirty="0"/>
          </a:p>
        </p:txBody>
      </p:sp>
      <p:sp>
        <p:nvSpPr>
          <p:cNvPr id="13" name="Shape 10"/>
          <p:cNvSpPr/>
          <p:nvPr/>
        </p:nvSpPr>
        <p:spPr>
          <a:xfrm>
            <a:off x="3657600" y="2404872"/>
            <a:ext cx="1078992" cy="365760"/>
          </a:xfrm>
          <a:prstGeom prst="rect">
            <a:avLst/>
          </a:prstGeom>
          <a:solidFill>
            <a:srgbClr val="FF4A8D"/>
          </a:solidFill>
          <a:ln w="12700">
            <a:solidFill>
              <a:srgbClr val="FF4A8D"/>
            </a:solidFill>
            <a:prstDash val="solid"/>
          </a:ln>
        </p:spPr>
      </p:sp>
      <p:sp>
        <p:nvSpPr>
          <p:cNvPr id="14" name="Shape 11"/>
          <p:cNvSpPr/>
          <p:nvPr/>
        </p:nvSpPr>
        <p:spPr>
          <a:xfrm>
            <a:off x="4736592" y="2404872"/>
            <a:ext cx="4315968" cy="365760"/>
          </a:xfrm>
          <a:prstGeom prst="rect">
            <a:avLst/>
          </a:prstGeom>
          <a:solidFill>
            <a:srgbClr val="FF4A8D">
              <a:alpha val="7000"/>
            </a:srgbClr>
          </a:solidFill>
          <a:ln w="12700">
            <a:solidFill>
              <a:srgbClr val="FFB1C4"/>
            </a:solidFill>
            <a:prstDash val="dash"/>
          </a:ln>
        </p:spPr>
      </p:sp>
      <p:sp>
        <p:nvSpPr>
          <p:cNvPr id="15" name="Text 12"/>
          <p:cNvSpPr txBox="1"/>
          <p:nvPr/>
        </p:nvSpPr>
        <p:spPr>
          <a:xfrm>
            <a:off x="4736592" y="2404872"/>
            <a:ext cx="4315968" cy="365760"/>
          </a:xfrm>
          <a:prstGeom prst="rect">
            <a:avLst/>
          </a:prstGeom>
          <a:noFill/>
          <a:ln/>
        </p:spPr>
        <p:txBody>
          <a:bodyPr wrap="square" lIns="0" tIns="0" rIns="0" bIns="0" rtlCol="0" anchor="ctr"/>
          <a:lstStyle/>
          <a:p>
            <a:pPr algn="ctr" indent="0" marL="0">
              <a:buNone/>
            </a:pPr>
            <a:r>
              <a:rPr lang="en-US" sz="1400" b="1" dirty="0">
                <a:solidFill>
                  <a:srgbClr val="FFB1C4"/>
                </a:solidFill>
                <a:latin typeface="JetBrains Mono" pitchFamily="34" charset="0"/>
                <a:ea typeface="JetBrains Mono" pitchFamily="34" charset="-122"/>
                <a:cs typeface="JetBrains Mono" pitchFamily="34" charset="-120"/>
              </a:rPr>
              <a:t>+36</a:t>
            </a:r>
            <a:endParaRPr lang="en-US" sz="1400" dirty="0"/>
          </a:p>
        </p:txBody>
      </p:sp>
      <p:sp>
        <p:nvSpPr>
          <p:cNvPr id="16" name="Text 13"/>
          <p:cNvSpPr txBox="1"/>
          <p:nvPr/>
        </p:nvSpPr>
        <p:spPr>
          <a:xfrm>
            <a:off x="9345168" y="2391156"/>
            <a:ext cx="2240280" cy="365760"/>
          </a:xfrm>
          <a:prstGeom prst="rect">
            <a:avLst/>
          </a:prstGeom>
          <a:noFill/>
          <a:ln/>
        </p:spPr>
        <p:txBody>
          <a:bodyPr wrap="square" lIns="0" tIns="0" rIns="0" bIns="0" rtlCol="0" anchor="ctr"/>
          <a:lstStyle/>
          <a:p>
            <a:pPr indent="0" marL="0">
              <a:buNone/>
            </a:pPr>
            <a:r>
              <a:rPr lang="en-US" sz="1600" b="1" dirty="0">
                <a:solidFill>
                  <a:srgbClr val="E5E2E1"/>
                </a:solidFill>
                <a:latin typeface="JetBrains Mono" pitchFamily="34" charset="0"/>
                <a:ea typeface="JetBrains Mono" pitchFamily="34" charset="-122"/>
                <a:cs typeface="JetBrains Mono" pitchFamily="34" charset="-120"/>
              </a:rPr>
              <a:t>9 → 45+</a:t>
            </a:r>
            <a:endParaRPr lang="en-US" sz="1600" dirty="0"/>
          </a:p>
        </p:txBody>
      </p:sp>
      <p:sp>
        <p:nvSpPr>
          <p:cNvPr id="17" name="Text 14"/>
          <p:cNvSpPr txBox="1"/>
          <p:nvPr/>
        </p:nvSpPr>
        <p:spPr>
          <a:xfrm>
            <a:off x="640080" y="2866644"/>
            <a:ext cx="2880360" cy="365760"/>
          </a:xfrm>
          <a:prstGeom prst="rect">
            <a:avLst/>
          </a:prstGeom>
          <a:noFill/>
          <a:ln/>
        </p:spPr>
        <p:txBody>
          <a:bodyPr wrap="square" lIns="0" tIns="0" rIns="0" bIns="0" rtlCol="0" anchor="ctr"/>
          <a:lstStyle/>
          <a:p>
            <a:pPr indent="0" marL="0">
              <a:buNone/>
            </a:pPr>
            <a:r>
              <a:rPr lang="en-US" sz="1700" dirty="0">
                <a:solidFill>
                  <a:srgbClr val="E5E2E1"/>
                </a:solidFill>
                <a:latin typeface="Inter" pitchFamily="34" charset="0"/>
                <a:ea typeface="Inter" pitchFamily="34" charset="-122"/>
                <a:cs typeface="Inter" pitchFamily="34" charset="-120"/>
              </a:rPr>
              <a:t>Flow deployments</a:t>
            </a:r>
            <a:endParaRPr lang="en-US" sz="1700" dirty="0"/>
          </a:p>
        </p:txBody>
      </p:sp>
      <p:sp>
        <p:nvSpPr>
          <p:cNvPr id="18" name="Shape 15"/>
          <p:cNvSpPr/>
          <p:nvPr/>
        </p:nvSpPr>
        <p:spPr>
          <a:xfrm>
            <a:off x="3657600" y="2880360"/>
            <a:ext cx="2059894" cy="365760"/>
          </a:xfrm>
          <a:prstGeom prst="rect">
            <a:avLst/>
          </a:prstGeom>
          <a:solidFill>
            <a:srgbClr val="FF4A8D"/>
          </a:solidFill>
          <a:ln w="12700">
            <a:solidFill>
              <a:srgbClr val="FF4A8D"/>
            </a:solidFill>
            <a:prstDash val="solid"/>
          </a:ln>
        </p:spPr>
      </p:sp>
      <p:sp>
        <p:nvSpPr>
          <p:cNvPr id="19" name="Shape 16"/>
          <p:cNvSpPr/>
          <p:nvPr/>
        </p:nvSpPr>
        <p:spPr>
          <a:xfrm>
            <a:off x="5717494" y="2880360"/>
            <a:ext cx="3335066" cy="365760"/>
          </a:xfrm>
          <a:prstGeom prst="rect">
            <a:avLst/>
          </a:prstGeom>
          <a:solidFill>
            <a:srgbClr val="FF4A8D">
              <a:alpha val="7000"/>
            </a:srgbClr>
          </a:solidFill>
          <a:ln w="12700">
            <a:solidFill>
              <a:srgbClr val="FFB1C4"/>
            </a:solidFill>
            <a:prstDash val="dash"/>
          </a:ln>
        </p:spPr>
      </p:sp>
      <p:sp>
        <p:nvSpPr>
          <p:cNvPr id="20" name="Text 17"/>
          <p:cNvSpPr txBox="1"/>
          <p:nvPr/>
        </p:nvSpPr>
        <p:spPr>
          <a:xfrm>
            <a:off x="5717494" y="2880360"/>
            <a:ext cx="3335066" cy="365760"/>
          </a:xfrm>
          <a:prstGeom prst="rect">
            <a:avLst/>
          </a:prstGeom>
          <a:noFill/>
          <a:ln/>
        </p:spPr>
        <p:txBody>
          <a:bodyPr wrap="square" lIns="0" tIns="0" rIns="0" bIns="0" rtlCol="0" anchor="ctr"/>
          <a:lstStyle/>
          <a:p>
            <a:pPr algn="ctr" indent="0" marL="0">
              <a:buNone/>
            </a:pPr>
            <a:r>
              <a:rPr lang="en-US" sz="1400" b="1" dirty="0">
                <a:solidFill>
                  <a:srgbClr val="FFB1C4"/>
                </a:solidFill>
                <a:latin typeface="JetBrains Mono" pitchFamily="34" charset="0"/>
                <a:ea typeface="JetBrains Mono" pitchFamily="34" charset="-122"/>
                <a:cs typeface="JetBrains Mono" pitchFamily="34" charset="-120"/>
              </a:rPr>
              <a:t>+68</a:t>
            </a:r>
            <a:endParaRPr lang="en-US" sz="1400" dirty="0"/>
          </a:p>
        </p:txBody>
      </p:sp>
      <p:sp>
        <p:nvSpPr>
          <p:cNvPr id="21" name="Text 18"/>
          <p:cNvSpPr txBox="1"/>
          <p:nvPr/>
        </p:nvSpPr>
        <p:spPr>
          <a:xfrm>
            <a:off x="9345168" y="2866644"/>
            <a:ext cx="2240280" cy="365760"/>
          </a:xfrm>
          <a:prstGeom prst="rect">
            <a:avLst/>
          </a:prstGeom>
          <a:noFill/>
          <a:ln/>
        </p:spPr>
        <p:txBody>
          <a:bodyPr wrap="square" lIns="0" tIns="0" rIns="0" bIns="0" rtlCol="0" anchor="ctr"/>
          <a:lstStyle/>
          <a:p>
            <a:pPr indent="0" marL="0">
              <a:buNone/>
            </a:pPr>
            <a:r>
              <a:rPr lang="en-US" sz="1600" b="1" dirty="0">
                <a:solidFill>
                  <a:srgbClr val="E5E2E1"/>
                </a:solidFill>
                <a:latin typeface="JetBrains Mono" pitchFamily="34" charset="0"/>
                <a:ea typeface="JetBrains Mono" pitchFamily="34" charset="-122"/>
                <a:cs typeface="JetBrains Mono" pitchFamily="34" charset="-120"/>
              </a:rPr>
              <a:t>42 → 110+</a:t>
            </a:r>
            <a:endParaRPr lang="en-US" sz="1600" dirty="0"/>
          </a:p>
        </p:txBody>
      </p:sp>
      <p:sp>
        <p:nvSpPr>
          <p:cNvPr id="22" name="Text 19"/>
          <p:cNvSpPr txBox="1"/>
          <p:nvPr/>
        </p:nvSpPr>
        <p:spPr>
          <a:xfrm>
            <a:off x="640080" y="3342132"/>
            <a:ext cx="2880360" cy="365760"/>
          </a:xfrm>
          <a:prstGeom prst="rect">
            <a:avLst/>
          </a:prstGeom>
          <a:noFill/>
          <a:ln/>
        </p:spPr>
        <p:txBody>
          <a:bodyPr wrap="square" lIns="0" tIns="0" rIns="0" bIns="0" rtlCol="0" anchor="ctr"/>
          <a:lstStyle/>
          <a:p>
            <a:pPr indent="0" marL="0">
              <a:buNone/>
            </a:pPr>
            <a:r>
              <a:rPr lang="en-US" sz="1700" dirty="0">
                <a:solidFill>
                  <a:srgbClr val="E5E2E1"/>
                </a:solidFill>
                <a:latin typeface="Inter" pitchFamily="34" charset="0"/>
                <a:ea typeface="Inter" pitchFamily="34" charset="-122"/>
                <a:cs typeface="Inter" pitchFamily="34" charset="-120"/>
              </a:rPr>
              <a:t>Unique flows designed</a:t>
            </a:r>
            <a:endParaRPr lang="en-US" sz="1700" dirty="0"/>
          </a:p>
        </p:txBody>
      </p:sp>
      <p:sp>
        <p:nvSpPr>
          <p:cNvPr id="23" name="Shape 20"/>
          <p:cNvSpPr/>
          <p:nvPr/>
        </p:nvSpPr>
        <p:spPr>
          <a:xfrm>
            <a:off x="3657600" y="3355848"/>
            <a:ext cx="2247900" cy="365760"/>
          </a:xfrm>
          <a:prstGeom prst="rect">
            <a:avLst/>
          </a:prstGeom>
          <a:solidFill>
            <a:srgbClr val="FF4A8D"/>
          </a:solidFill>
          <a:ln w="12700">
            <a:solidFill>
              <a:srgbClr val="FF4A8D"/>
            </a:solidFill>
            <a:prstDash val="solid"/>
          </a:ln>
        </p:spPr>
      </p:sp>
      <p:sp>
        <p:nvSpPr>
          <p:cNvPr id="24" name="Shape 21"/>
          <p:cNvSpPr/>
          <p:nvPr/>
        </p:nvSpPr>
        <p:spPr>
          <a:xfrm>
            <a:off x="5905500" y="3355848"/>
            <a:ext cx="3147060" cy="365760"/>
          </a:xfrm>
          <a:prstGeom prst="rect">
            <a:avLst/>
          </a:prstGeom>
          <a:solidFill>
            <a:srgbClr val="FF4A8D">
              <a:alpha val="7000"/>
            </a:srgbClr>
          </a:solidFill>
          <a:ln w="12700">
            <a:solidFill>
              <a:srgbClr val="FFB1C4"/>
            </a:solidFill>
            <a:prstDash val="dash"/>
          </a:ln>
        </p:spPr>
      </p:sp>
      <p:sp>
        <p:nvSpPr>
          <p:cNvPr id="25" name="Text 22"/>
          <p:cNvSpPr txBox="1"/>
          <p:nvPr/>
        </p:nvSpPr>
        <p:spPr>
          <a:xfrm>
            <a:off x="5905500" y="3355848"/>
            <a:ext cx="3147060" cy="365760"/>
          </a:xfrm>
          <a:prstGeom prst="rect">
            <a:avLst/>
          </a:prstGeom>
          <a:noFill/>
          <a:ln/>
        </p:spPr>
        <p:txBody>
          <a:bodyPr wrap="square" lIns="0" tIns="0" rIns="0" bIns="0" rtlCol="0" anchor="ctr"/>
          <a:lstStyle/>
          <a:p>
            <a:pPr algn="ctr" indent="0" marL="0">
              <a:buNone/>
            </a:pPr>
            <a:r>
              <a:rPr lang="en-US" sz="1400" b="1" dirty="0">
                <a:solidFill>
                  <a:srgbClr val="FFB1C4"/>
                </a:solidFill>
                <a:latin typeface="JetBrains Mono" pitchFamily="34" charset="0"/>
                <a:ea typeface="JetBrains Mono" pitchFamily="34" charset="-122"/>
                <a:cs typeface="JetBrains Mono" pitchFamily="34" charset="-120"/>
              </a:rPr>
              <a:t>+35</a:t>
            </a:r>
            <a:endParaRPr lang="en-US" sz="1400" dirty="0"/>
          </a:p>
        </p:txBody>
      </p:sp>
      <p:sp>
        <p:nvSpPr>
          <p:cNvPr id="26" name="Text 23"/>
          <p:cNvSpPr txBox="1"/>
          <p:nvPr/>
        </p:nvSpPr>
        <p:spPr>
          <a:xfrm>
            <a:off x="9345168" y="3342132"/>
            <a:ext cx="2240280" cy="365760"/>
          </a:xfrm>
          <a:prstGeom prst="rect">
            <a:avLst/>
          </a:prstGeom>
          <a:noFill/>
          <a:ln/>
        </p:spPr>
        <p:txBody>
          <a:bodyPr wrap="square" lIns="0" tIns="0" rIns="0" bIns="0" rtlCol="0" anchor="ctr"/>
          <a:lstStyle/>
          <a:p>
            <a:pPr indent="0" marL="0">
              <a:buNone/>
            </a:pPr>
            <a:r>
              <a:rPr lang="en-US" sz="1600" b="1" dirty="0">
                <a:solidFill>
                  <a:srgbClr val="E5E2E1"/>
                </a:solidFill>
                <a:latin typeface="JetBrains Mono" pitchFamily="34" charset="0"/>
                <a:ea typeface="JetBrains Mono" pitchFamily="34" charset="-122"/>
                <a:cs typeface="JetBrains Mono" pitchFamily="34" charset="-120"/>
              </a:rPr>
              <a:t>25 → 60+</a:t>
            </a:r>
            <a:endParaRPr lang="en-US" sz="1600" dirty="0"/>
          </a:p>
        </p:txBody>
      </p:sp>
      <p:sp>
        <p:nvSpPr>
          <p:cNvPr id="27" name="Text 24"/>
          <p:cNvSpPr txBox="1"/>
          <p:nvPr/>
        </p:nvSpPr>
        <p:spPr>
          <a:xfrm>
            <a:off x="640080" y="3817620"/>
            <a:ext cx="2880360" cy="365760"/>
          </a:xfrm>
          <a:prstGeom prst="rect">
            <a:avLst/>
          </a:prstGeom>
          <a:noFill/>
          <a:ln/>
        </p:spPr>
        <p:txBody>
          <a:bodyPr wrap="square" lIns="0" tIns="0" rIns="0" bIns="0" rtlCol="0" anchor="ctr"/>
          <a:lstStyle/>
          <a:p>
            <a:pPr indent="0" marL="0">
              <a:buNone/>
            </a:pPr>
            <a:r>
              <a:rPr lang="en-US" sz="1700" dirty="0">
                <a:solidFill>
                  <a:srgbClr val="E5E2E1"/>
                </a:solidFill>
                <a:latin typeface="Inter" pitchFamily="34" charset="0"/>
                <a:ea typeface="Inter" pitchFamily="34" charset="-122"/>
                <a:cs typeface="Inter" pitchFamily="34" charset="-120"/>
              </a:rPr>
              <a:t>Signed transactions</a:t>
            </a:r>
            <a:endParaRPr lang="en-US" sz="1700" dirty="0"/>
          </a:p>
        </p:txBody>
      </p:sp>
      <p:sp>
        <p:nvSpPr>
          <p:cNvPr id="28" name="Shape 25"/>
          <p:cNvSpPr/>
          <p:nvPr/>
        </p:nvSpPr>
        <p:spPr>
          <a:xfrm>
            <a:off x="3657600" y="3831336"/>
            <a:ext cx="2072800" cy="365760"/>
          </a:xfrm>
          <a:prstGeom prst="rect">
            <a:avLst/>
          </a:prstGeom>
          <a:solidFill>
            <a:srgbClr val="FF4A8D"/>
          </a:solidFill>
          <a:ln w="12700">
            <a:solidFill>
              <a:srgbClr val="FF4A8D"/>
            </a:solidFill>
            <a:prstDash val="solid"/>
          </a:ln>
        </p:spPr>
      </p:sp>
      <p:sp>
        <p:nvSpPr>
          <p:cNvPr id="29" name="Shape 26"/>
          <p:cNvSpPr/>
          <p:nvPr/>
        </p:nvSpPr>
        <p:spPr>
          <a:xfrm>
            <a:off x="5730400" y="3831336"/>
            <a:ext cx="3322160" cy="365760"/>
          </a:xfrm>
          <a:prstGeom prst="rect">
            <a:avLst/>
          </a:prstGeom>
          <a:solidFill>
            <a:srgbClr val="FF4A8D">
              <a:alpha val="7000"/>
            </a:srgbClr>
          </a:solidFill>
          <a:ln w="12700">
            <a:solidFill>
              <a:srgbClr val="FFB1C4"/>
            </a:solidFill>
            <a:prstDash val="dash"/>
          </a:ln>
        </p:spPr>
      </p:sp>
      <p:sp>
        <p:nvSpPr>
          <p:cNvPr id="30" name="Text 27"/>
          <p:cNvSpPr txBox="1"/>
          <p:nvPr/>
        </p:nvSpPr>
        <p:spPr>
          <a:xfrm>
            <a:off x="5730400" y="3831336"/>
            <a:ext cx="3322160" cy="365760"/>
          </a:xfrm>
          <a:prstGeom prst="rect">
            <a:avLst/>
          </a:prstGeom>
          <a:noFill/>
          <a:ln/>
        </p:spPr>
        <p:txBody>
          <a:bodyPr wrap="square" lIns="0" tIns="0" rIns="0" bIns="0" rtlCol="0" anchor="ctr"/>
          <a:lstStyle/>
          <a:p>
            <a:pPr algn="ctr" indent="0" marL="0">
              <a:buNone/>
            </a:pPr>
            <a:r>
              <a:rPr lang="en-US" sz="1400" b="1" dirty="0">
                <a:solidFill>
                  <a:srgbClr val="FFB1C4"/>
                </a:solidFill>
                <a:latin typeface="JetBrains Mono" pitchFamily="34" charset="0"/>
                <a:ea typeface="JetBrains Mono" pitchFamily="34" charset="-122"/>
                <a:cs typeface="JetBrains Mono" pitchFamily="34" charset="-120"/>
              </a:rPr>
              <a:t>+117</a:t>
            </a:r>
            <a:endParaRPr lang="en-US" sz="1400" dirty="0"/>
          </a:p>
        </p:txBody>
      </p:sp>
      <p:sp>
        <p:nvSpPr>
          <p:cNvPr id="31" name="Text 28"/>
          <p:cNvSpPr txBox="1"/>
          <p:nvPr/>
        </p:nvSpPr>
        <p:spPr>
          <a:xfrm>
            <a:off x="9345168" y="3817620"/>
            <a:ext cx="2240280" cy="365760"/>
          </a:xfrm>
          <a:prstGeom prst="rect">
            <a:avLst/>
          </a:prstGeom>
          <a:noFill/>
          <a:ln/>
        </p:spPr>
        <p:txBody>
          <a:bodyPr wrap="square" lIns="0" tIns="0" rIns="0" bIns="0" rtlCol="0" anchor="ctr"/>
          <a:lstStyle/>
          <a:p>
            <a:pPr indent="0" marL="0">
              <a:buNone/>
            </a:pPr>
            <a:r>
              <a:rPr lang="en-US" sz="1600" b="1" dirty="0">
                <a:solidFill>
                  <a:srgbClr val="E5E2E1"/>
                </a:solidFill>
                <a:latin typeface="JetBrains Mono" pitchFamily="34" charset="0"/>
                <a:ea typeface="JetBrains Mono" pitchFamily="34" charset="-122"/>
                <a:cs typeface="JetBrains Mono" pitchFamily="34" charset="-120"/>
              </a:rPr>
              <a:t>73 → 190+</a:t>
            </a:r>
            <a:endParaRPr lang="en-US" sz="1600" dirty="0"/>
          </a:p>
        </p:txBody>
      </p:sp>
      <p:sp>
        <p:nvSpPr>
          <p:cNvPr id="32" name="Text 29"/>
          <p:cNvSpPr txBox="1"/>
          <p:nvPr/>
        </p:nvSpPr>
        <p:spPr>
          <a:xfrm>
            <a:off x="640080" y="4293108"/>
            <a:ext cx="2880360" cy="365760"/>
          </a:xfrm>
          <a:prstGeom prst="rect">
            <a:avLst/>
          </a:prstGeom>
          <a:noFill/>
          <a:ln/>
        </p:spPr>
        <p:txBody>
          <a:bodyPr wrap="square" lIns="0" tIns="0" rIns="0" bIns="0" rtlCol="0" anchor="ctr"/>
          <a:lstStyle/>
          <a:p>
            <a:pPr indent="0" marL="0">
              <a:buNone/>
            </a:pPr>
            <a:r>
              <a:rPr lang="en-US" sz="1700" dirty="0">
                <a:solidFill>
                  <a:srgbClr val="E5E2E1"/>
                </a:solidFill>
                <a:latin typeface="Inter" pitchFamily="34" charset="0"/>
                <a:ea typeface="Inter" pitchFamily="34" charset="-122"/>
                <a:cs typeface="Inter" pitchFamily="34" charset="-120"/>
              </a:rPr>
              <a:t>Signing wallets</a:t>
            </a:r>
            <a:endParaRPr lang="en-US" sz="1700" dirty="0"/>
          </a:p>
        </p:txBody>
      </p:sp>
      <p:sp>
        <p:nvSpPr>
          <p:cNvPr id="33" name="Shape 30"/>
          <p:cNvSpPr/>
          <p:nvPr/>
        </p:nvSpPr>
        <p:spPr>
          <a:xfrm>
            <a:off x="3657600" y="4306824"/>
            <a:ext cx="2038096" cy="365760"/>
          </a:xfrm>
          <a:prstGeom prst="rect">
            <a:avLst/>
          </a:prstGeom>
          <a:solidFill>
            <a:srgbClr val="FF4A8D"/>
          </a:solidFill>
          <a:ln w="12700">
            <a:solidFill>
              <a:srgbClr val="FF4A8D"/>
            </a:solidFill>
            <a:prstDash val="solid"/>
          </a:ln>
        </p:spPr>
      </p:sp>
      <p:sp>
        <p:nvSpPr>
          <p:cNvPr id="34" name="Shape 31"/>
          <p:cNvSpPr/>
          <p:nvPr/>
        </p:nvSpPr>
        <p:spPr>
          <a:xfrm>
            <a:off x="5695696" y="4306824"/>
            <a:ext cx="3356864" cy="365760"/>
          </a:xfrm>
          <a:prstGeom prst="rect">
            <a:avLst/>
          </a:prstGeom>
          <a:solidFill>
            <a:srgbClr val="FF4A8D">
              <a:alpha val="7000"/>
            </a:srgbClr>
          </a:solidFill>
          <a:ln w="12700">
            <a:solidFill>
              <a:srgbClr val="FFB1C4"/>
            </a:solidFill>
            <a:prstDash val="dash"/>
          </a:ln>
        </p:spPr>
      </p:sp>
      <p:sp>
        <p:nvSpPr>
          <p:cNvPr id="35" name="Text 32"/>
          <p:cNvSpPr txBox="1"/>
          <p:nvPr/>
        </p:nvSpPr>
        <p:spPr>
          <a:xfrm>
            <a:off x="5695696" y="4306824"/>
            <a:ext cx="3356864" cy="365760"/>
          </a:xfrm>
          <a:prstGeom prst="rect">
            <a:avLst/>
          </a:prstGeom>
          <a:noFill/>
          <a:ln/>
        </p:spPr>
        <p:txBody>
          <a:bodyPr wrap="square" lIns="0" tIns="0" rIns="0" bIns="0" rtlCol="0" anchor="ctr"/>
          <a:lstStyle/>
          <a:p>
            <a:pPr algn="ctr" indent="0" marL="0">
              <a:buNone/>
            </a:pPr>
            <a:r>
              <a:rPr lang="en-US" sz="1400" b="1" dirty="0">
                <a:solidFill>
                  <a:srgbClr val="FFB1C4"/>
                </a:solidFill>
                <a:latin typeface="JetBrains Mono" pitchFamily="34" charset="0"/>
                <a:ea typeface="JetBrains Mono" pitchFamily="34" charset="-122"/>
                <a:cs typeface="JetBrains Mono" pitchFamily="34" charset="-120"/>
              </a:rPr>
              <a:t>+28</a:t>
            </a:r>
            <a:endParaRPr lang="en-US" sz="1400" dirty="0"/>
          </a:p>
        </p:txBody>
      </p:sp>
      <p:sp>
        <p:nvSpPr>
          <p:cNvPr id="36" name="Text 33"/>
          <p:cNvSpPr txBox="1"/>
          <p:nvPr/>
        </p:nvSpPr>
        <p:spPr>
          <a:xfrm>
            <a:off x="9345168" y="4293108"/>
            <a:ext cx="2240280" cy="365760"/>
          </a:xfrm>
          <a:prstGeom prst="rect">
            <a:avLst/>
          </a:prstGeom>
          <a:noFill/>
          <a:ln/>
        </p:spPr>
        <p:txBody>
          <a:bodyPr wrap="square" lIns="0" tIns="0" rIns="0" bIns="0" rtlCol="0" anchor="ctr"/>
          <a:lstStyle/>
          <a:p>
            <a:pPr indent="0" marL="0">
              <a:buNone/>
            </a:pPr>
            <a:r>
              <a:rPr lang="en-US" sz="1600" b="1" dirty="0">
                <a:solidFill>
                  <a:srgbClr val="E5E2E1"/>
                </a:solidFill>
                <a:latin typeface="JetBrains Mono" pitchFamily="34" charset="0"/>
                <a:ea typeface="JetBrains Mono" pitchFamily="34" charset="-122"/>
                <a:cs typeface="JetBrains Mono" pitchFamily="34" charset="-120"/>
              </a:rPr>
              <a:t>17 → 45+</a:t>
            </a:r>
            <a:endParaRPr lang="en-US" sz="1600" dirty="0"/>
          </a:p>
        </p:txBody>
      </p:sp>
      <p:sp>
        <p:nvSpPr>
          <p:cNvPr id="37" name="Text 34"/>
          <p:cNvSpPr txBox="1"/>
          <p:nvPr/>
        </p:nvSpPr>
        <p:spPr>
          <a:xfrm>
            <a:off x="640080" y="4768596"/>
            <a:ext cx="2880360" cy="365760"/>
          </a:xfrm>
          <a:prstGeom prst="rect">
            <a:avLst/>
          </a:prstGeom>
          <a:noFill/>
          <a:ln/>
        </p:spPr>
        <p:txBody>
          <a:bodyPr wrap="square" lIns="0" tIns="0" rIns="0" bIns="0" rtlCol="0" anchor="ctr"/>
          <a:lstStyle/>
          <a:p>
            <a:pPr indent="0" marL="0">
              <a:buNone/>
            </a:pPr>
            <a:r>
              <a:rPr lang="en-US" sz="1700" dirty="0">
                <a:solidFill>
                  <a:srgbClr val="E5E2E1"/>
                </a:solidFill>
                <a:latin typeface="Inter" pitchFamily="34" charset="0"/>
                <a:ea typeface="Inter" pitchFamily="34" charset="-122"/>
                <a:cs typeface="Inter" pitchFamily="34" charset="-120"/>
              </a:rPr>
              <a:t>Sandbox tries</a:t>
            </a:r>
            <a:endParaRPr lang="en-US" sz="1700" dirty="0"/>
          </a:p>
        </p:txBody>
      </p:sp>
      <p:sp>
        <p:nvSpPr>
          <p:cNvPr id="38" name="Shape 35"/>
          <p:cNvSpPr/>
          <p:nvPr/>
        </p:nvSpPr>
        <p:spPr>
          <a:xfrm>
            <a:off x="3657600" y="4782312"/>
            <a:ext cx="719328" cy="365760"/>
          </a:xfrm>
          <a:prstGeom prst="rect">
            <a:avLst/>
          </a:prstGeom>
          <a:solidFill>
            <a:srgbClr val="FF4A8D"/>
          </a:solidFill>
          <a:ln w="12700">
            <a:solidFill>
              <a:srgbClr val="FF4A8D"/>
            </a:solidFill>
            <a:prstDash val="solid"/>
          </a:ln>
        </p:spPr>
      </p:sp>
      <p:sp>
        <p:nvSpPr>
          <p:cNvPr id="39" name="Shape 36"/>
          <p:cNvSpPr/>
          <p:nvPr/>
        </p:nvSpPr>
        <p:spPr>
          <a:xfrm>
            <a:off x="4376928" y="4782312"/>
            <a:ext cx="4675632" cy="365760"/>
          </a:xfrm>
          <a:prstGeom prst="rect">
            <a:avLst/>
          </a:prstGeom>
          <a:solidFill>
            <a:srgbClr val="FF4A8D">
              <a:alpha val="7000"/>
            </a:srgbClr>
          </a:solidFill>
          <a:ln w="12700">
            <a:solidFill>
              <a:srgbClr val="FFB1C4"/>
            </a:solidFill>
            <a:prstDash val="dash"/>
          </a:ln>
        </p:spPr>
      </p:sp>
      <p:sp>
        <p:nvSpPr>
          <p:cNvPr id="40" name="Text 37"/>
          <p:cNvSpPr txBox="1"/>
          <p:nvPr/>
        </p:nvSpPr>
        <p:spPr>
          <a:xfrm>
            <a:off x="4376928" y="4782312"/>
            <a:ext cx="4675632" cy="365760"/>
          </a:xfrm>
          <a:prstGeom prst="rect">
            <a:avLst/>
          </a:prstGeom>
          <a:noFill/>
          <a:ln/>
        </p:spPr>
        <p:txBody>
          <a:bodyPr wrap="square" lIns="0" tIns="0" rIns="0" bIns="0" rtlCol="0" anchor="ctr"/>
          <a:lstStyle/>
          <a:p>
            <a:pPr algn="ctr" indent="0" marL="0">
              <a:buNone/>
            </a:pPr>
            <a:r>
              <a:rPr lang="en-US" sz="1400" b="1" dirty="0">
                <a:solidFill>
                  <a:srgbClr val="FFB1C4"/>
                </a:solidFill>
                <a:latin typeface="JetBrains Mono" pitchFamily="34" charset="0"/>
                <a:ea typeface="JetBrains Mono" pitchFamily="34" charset="-122"/>
                <a:cs typeface="JetBrains Mono" pitchFamily="34" charset="-120"/>
              </a:rPr>
              <a:t>+52</a:t>
            </a:r>
            <a:endParaRPr lang="en-US" sz="1400" dirty="0"/>
          </a:p>
        </p:txBody>
      </p:sp>
      <p:sp>
        <p:nvSpPr>
          <p:cNvPr id="41" name="Text 38"/>
          <p:cNvSpPr txBox="1"/>
          <p:nvPr/>
        </p:nvSpPr>
        <p:spPr>
          <a:xfrm>
            <a:off x="9345168" y="4768596"/>
            <a:ext cx="2240280" cy="365760"/>
          </a:xfrm>
          <a:prstGeom prst="rect">
            <a:avLst/>
          </a:prstGeom>
          <a:noFill/>
          <a:ln/>
        </p:spPr>
        <p:txBody>
          <a:bodyPr wrap="square" lIns="0" tIns="0" rIns="0" bIns="0" rtlCol="0" anchor="ctr"/>
          <a:lstStyle/>
          <a:p>
            <a:pPr indent="0" marL="0">
              <a:buNone/>
            </a:pPr>
            <a:r>
              <a:rPr lang="en-US" sz="1600" b="1" dirty="0">
                <a:solidFill>
                  <a:srgbClr val="E5E2E1"/>
                </a:solidFill>
                <a:latin typeface="JetBrains Mono" pitchFamily="34" charset="0"/>
                <a:ea typeface="JetBrains Mono" pitchFamily="34" charset="-122"/>
                <a:cs typeface="JetBrains Mono" pitchFamily="34" charset="-120"/>
              </a:rPr>
              <a:t>8 → 60+</a:t>
            </a:r>
            <a:endParaRPr lang="en-US" sz="1600" dirty="0"/>
          </a:p>
        </p:txBody>
      </p:sp>
      <p:sp>
        <p:nvSpPr>
          <p:cNvPr id="42" name="Text 39"/>
          <p:cNvSpPr txBox="1"/>
          <p:nvPr/>
        </p:nvSpPr>
        <p:spPr>
          <a:xfrm>
            <a:off x="640080" y="5550408"/>
            <a:ext cx="10911535" cy="274320"/>
          </a:xfrm>
          <a:prstGeom prst="rect">
            <a:avLst/>
          </a:prstGeom>
          <a:noFill/>
          <a:ln/>
        </p:spPr>
        <p:txBody>
          <a:bodyPr wrap="square" lIns="0" tIns="0" rIns="0" bIns="0" rtlCol="0" anchor="t"/>
          <a:lstStyle/>
          <a:p>
            <a:pPr indent="0" marL="0">
              <a:buNone/>
            </a:pPr>
            <a:r>
              <a:rPr lang="en-US" sz="1300" dirty="0">
                <a:solidFill>
                  <a:srgbClr val="BCB8BB"/>
                </a:solidFill>
                <a:latin typeface="Inter" pitchFamily="34" charset="0"/>
                <a:ea typeface="Inter" pitchFamily="34" charset="-122"/>
                <a:cs typeface="Inter" pitchFamily="34" charset="-120"/>
              </a:rPr>
              <a:t>9 active testers · 8 external + 1 project member · 7 swap flows executed</a:t>
            </a:r>
            <a:endParaRPr lang="en-US" sz="1300" dirty="0"/>
          </a:p>
        </p:txBody>
      </p:sp>
      <p:sp>
        <p:nvSpPr>
          <p:cNvPr id="43" name="Text 40"/>
          <p:cNvSpPr txBox="1"/>
          <p:nvPr/>
        </p:nvSpPr>
        <p:spPr>
          <a:xfrm>
            <a:off x="640080" y="5971032"/>
            <a:ext cx="10911535" cy="274320"/>
          </a:xfrm>
          <a:prstGeom prst="rect">
            <a:avLst/>
          </a:prstGeom>
          <a:noFill/>
          <a:ln/>
        </p:spPr>
        <p:txBody>
          <a:bodyPr wrap="square" lIns="0" tIns="0" rIns="0" bIns="0" rtlCol="0" anchor="t"/>
          <a:lstStyle/>
          <a:p>
            <a:pPr indent="0" marL="0">
              <a:buNone/>
            </a:pPr>
            <a:r>
              <a:rPr lang="en-US" sz="1050" dirty="0">
                <a:solidFill>
                  <a:srgbClr val="BCB8BB"/>
                </a:solidFill>
                <a:latin typeface="JetBrains Mono" pitchFamily="34" charset="0"/>
                <a:ea typeface="JetBrains Mono" pitchFamily="34" charset="-122"/>
                <a:cs typeface="JetBrains Mono" pitchFamily="34" charset="-120"/>
              </a:rPr>
              <a:t>Minimum forecast by 31 Oct; each bar has its own scale. Alpha: 30 Sep; sandbox: 1 Oct.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74320"/>
          </a:xfrm>
          <a:prstGeom prst="rect">
            <a:avLst/>
          </a:prstGeom>
          <a:noFill/>
          <a:ln/>
        </p:spPr>
        <p:txBody>
          <a:bodyPr wrap="square" lIns="0" tIns="0" rIns="0" bIns="0" rtlCol="0" anchor="ctr"/>
          <a:lstStyle/>
          <a:p>
            <a:pPr indent="0" marL="0">
              <a:buNone/>
            </a:pPr>
            <a:r>
              <a:rPr lang="en-US" sz="1100" b="1" spc="150" kern="0" dirty="0">
                <a:solidFill>
                  <a:srgbClr val="FFB1C4"/>
                </a:solidFill>
                <a:latin typeface="JetBrains Mono" pitchFamily="34" charset="0"/>
                <a:ea typeface="JetBrains Mono" pitchFamily="34" charset="-122"/>
                <a:cs typeface="JetBrains Mono" pitchFamily="34" charset="-120"/>
              </a:rPr>
              <a:t>PLANNED EVENTS · OCTOBER</a:t>
            </a:r>
            <a:endParaRPr lang="en-US" sz="1100" dirty="0"/>
          </a:p>
        </p:txBody>
      </p:sp>
      <p:sp>
        <p:nvSpPr>
          <p:cNvPr id="3" name="Text 1"/>
          <p:cNvSpPr txBox="1"/>
          <p:nvPr/>
        </p:nvSpPr>
        <p:spPr>
          <a:xfrm>
            <a:off x="640080" y="804672"/>
            <a:ext cx="9692640" cy="777240"/>
          </a:xfrm>
          <a:prstGeom prst="rect">
            <a:avLst/>
          </a:prstGeom>
          <a:noFill/>
          <a:ln/>
        </p:spPr>
        <p:txBody>
          <a:bodyPr wrap="square" lIns="0" tIns="0" rIns="0" bIns="0" rtlCol="0" anchor="ctr"/>
          <a:lstStyle/>
          <a:p>
            <a:pPr indent="0" marL="0">
              <a:buNone/>
            </a:pPr>
            <a:r>
              <a:rPr lang="en-US" sz="4000" b="1" spc="-50" kern="0" dirty="0">
                <a:solidFill>
                  <a:srgbClr val="E5E2E1"/>
                </a:solidFill>
                <a:latin typeface="Inter" pitchFamily="34" charset="0"/>
                <a:ea typeface="Inter" pitchFamily="34" charset="-122"/>
                <a:cs typeface="Inter" pitchFamily="34" charset="-120"/>
              </a:rPr>
              <a:t>Bring Paiflow to more builders.</a:t>
            </a:r>
            <a:endParaRPr lang="en-US" sz="4000" dirty="0"/>
          </a:p>
        </p:txBody>
      </p:sp>
      <p:sp>
        <p:nvSpPr>
          <p:cNvPr id="4" name="Text 2"/>
          <p:cNvSpPr txBox="1"/>
          <p:nvPr/>
        </p:nvSpPr>
        <p:spPr>
          <a:xfrm>
            <a:off x="640080" y="6400800"/>
            <a:ext cx="4572000" cy="228600"/>
          </a:xfrm>
          <a:prstGeom prst="rect">
            <a:avLst/>
          </a:prstGeom>
          <a:noFill/>
          <a:ln/>
        </p:spPr>
        <p:txBody>
          <a:bodyPr wrap="square" lIns="0" tIns="0" rIns="0" bIns="0" rtlCol="0" anchor="ctr"/>
          <a:lstStyle/>
          <a:p>
            <a:pPr indent="0" marL="0">
              <a:buNone/>
            </a:pPr>
            <a:r>
              <a:rPr lang="en-US" sz="900" dirty="0">
                <a:solidFill>
                  <a:srgbClr val="BCB8BB"/>
                </a:solidFill>
                <a:latin typeface="JetBrains Mono" pitchFamily="34" charset="0"/>
                <a:ea typeface="JetBrains Mono" pitchFamily="34" charset="-122"/>
                <a:cs typeface="JetBrains Mono" pitchFamily="34" charset="-120"/>
              </a:rPr>
              <a:t>Paiflow · InstaAwards Builder Showcase</a:t>
            </a:r>
            <a:endParaRPr lang="en-US" sz="900" dirty="0"/>
          </a:p>
        </p:txBody>
      </p:sp>
      <p:sp>
        <p:nvSpPr>
          <p:cNvPr id="5" name="Text 3"/>
          <p:cNvSpPr txBox="1"/>
          <p:nvPr/>
        </p:nvSpPr>
        <p:spPr>
          <a:xfrm>
            <a:off x="9722815" y="6400800"/>
            <a:ext cx="1828800" cy="228600"/>
          </a:xfrm>
          <a:prstGeom prst="rect">
            <a:avLst/>
          </a:prstGeom>
          <a:noFill/>
          <a:ln/>
        </p:spPr>
        <p:txBody>
          <a:bodyPr wrap="square" lIns="0" tIns="0" rIns="0" bIns="0" rtlCol="0" anchor="ctr"/>
          <a:lstStyle/>
          <a:p>
            <a:pPr algn="r" indent="0" marL="0">
              <a:buNone/>
            </a:pPr>
            <a:r>
              <a:rPr lang="en-US" sz="900" dirty="0">
                <a:solidFill>
                  <a:srgbClr val="BCB8BB"/>
                </a:solidFill>
                <a:latin typeface="JetBrains Mono" pitchFamily="34" charset="0"/>
                <a:ea typeface="JetBrains Mono" pitchFamily="34" charset="-122"/>
                <a:cs typeface="JetBrains Mono" pitchFamily="34" charset="-120"/>
              </a:rPr>
              <a:t>05 / 5</a:t>
            </a:r>
            <a:endParaRPr lang="en-US" sz="900" dirty="0"/>
          </a:p>
        </p:txBody>
      </p:sp>
      <p:sp>
        <p:nvSpPr>
          <p:cNvPr id="7" name="Shape 4"/>
          <p:cNvSpPr/>
          <p:nvPr/>
        </p:nvSpPr>
        <p:spPr>
          <a:xfrm>
            <a:off x="640080" y="1874520"/>
            <a:ext cx="5029200" cy="2907792"/>
          </a:xfrm>
          <a:prstGeom prst="roundRect">
            <a:avLst>
              <a:gd name="adj" fmla="val 6289"/>
            </a:avLst>
          </a:prstGeom>
          <a:solidFill>
            <a:srgbClr val="FFFFFF">
              <a:alpha val="8000"/>
            </a:srgbClr>
          </a:solidFill>
          <a:ln w="9525">
            <a:solidFill>
              <a:srgbClr val="FFFFFF">
                <a:alpha val="14000"/>
              </a:srgbClr>
            </a:solidFill>
            <a:prstDash val="solid"/>
          </a:ln>
        </p:spPr>
      </p:sp>
      <p:sp>
        <p:nvSpPr>
          <p:cNvPr id="8" name="Text 5"/>
          <p:cNvSpPr txBox="1"/>
          <p:nvPr/>
        </p:nvSpPr>
        <p:spPr>
          <a:xfrm>
            <a:off x="960120" y="2167128"/>
            <a:ext cx="4389120" cy="320040"/>
          </a:xfrm>
          <a:prstGeom prst="rect">
            <a:avLst/>
          </a:prstGeom>
          <a:noFill/>
          <a:ln/>
        </p:spPr>
        <p:txBody>
          <a:bodyPr wrap="square" lIns="0" tIns="0" rIns="0" bIns="0" rtlCol="0" anchor="t"/>
          <a:lstStyle/>
          <a:p>
            <a:pPr indent="0" marL="0">
              <a:buNone/>
            </a:pPr>
            <a:r>
              <a:rPr lang="en-US" sz="1100" dirty="0">
                <a:solidFill>
                  <a:srgbClr val="98CBFF"/>
                </a:solidFill>
                <a:latin typeface="JetBrains Mono" pitchFamily="34" charset="0"/>
                <a:ea typeface="JetBrains Mono" pitchFamily="34" charset="-122"/>
                <a:cs typeface="JetBrains Mono" pitchFamily="34" charset="-120"/>
              </a:rPr>
              <a:t>BUILDING WITH PAIFLOW</a:t>
            </a:r>
            <a:endParaRPr lang="en-US" sz="1100" dirty="0"/>
          </a:p>
        </p:txBody>
      </p:sp>
      <p:sp>
        <p:nvSpPr>
          <p:cNvPr id="9" name="Text 6"/>
          <p:cNvSpPr txBox="1"/>
          <p:nvPr/>
        </p:nvSpPr>
        <p:spPr>
          <a:xfrm>
            <a:off x="960120" y="2734056"/>
            <a:ext cx="4389120" cy="731520"/>
          </a:xfrm>
          <a:prstGeom prst="rect">
            <a:avLst/>
          </a:prstGeom>
          <a:noFill/>
          <a:ln/>
        </p:spPr>
        <p:txBody>
          <a:bodyPr wrap="square" lIns="0" tIns="0" rIns="0" bIns="0" rtlCol="0" anchor="t"/>
          <a:lstStyle/>
          <a:p>
            <a:pPr indent="0" marL="0">
              <a:buNone/>
            </a:pPr>
            <a:r>
              <a:rPr lang="en-US" sz="3500" b="1" dirty="0">
                <a:solidFill>
                  <a:srgbClr val="FFB1C4"/>
                </a:solidFill>
                <a:latin typeface="JetBrains Mono" pitchFamily="34" charset="0"/>
                <a:ea typeface="JetBrains Mono" pitchFamily="34" charset="-122"/>
                <a:cs typeface="JetBrains Mono" pitchFamily="34" charset="-120"/>
              </a:rPr>
              <a:t>2 hackathons</a:t>
            </a:r>
            <a:endParaRPr lang="en-US" sz="3500" dirty="0"/>
          </a:p>
        </p:txBody>
      </p:sp>
      <p:sp>
        <p:nvSpPr>
          <p:cNvPr id="10" name="Text 7"/>
          <p:cNvSpPr txBox="1"/>
          <p:nvPr/>
        </p:nvSpPr>
        <p:spPr>
          <a:xfrm>
            <a:off x="960120" y="3730752"/>
            <a:ext cx="4389120" cy="731520"/>
          </a:xfrm>
          <a:prstGeom prst="rect">
            <a:avLst/>
          </a:prstGeom>
          <a:noFill/>
          <a:ln/>
        </p:spPr>
        <p:txBody>
          <a:bodyPr wrap="square" lIns="0" tIns="0" rIns="0" bIns="0" rtlCol="0" anchor="t"/>
          <a:lstStyle/>
          <a:p>
            <a:pPr indent="0" marL="0">
              <a:buNone/>
            </a:pPr>
            <a:r>
              <a:rPr lang="en-US" sz="2200" dirty="0">
                <a:solidFill>
                  <a:srgbClr val="E5E2E1"/>
                </a:solidFill>
                <a:latin typeface="Inter" pitchFamily="34" charset="0"/>
                <a:ea typeface="Inter" pitchFamily="34" charset="-122"/>
                <a:cs typeface="Inter" pitchFamily="34" charset="-120"/>
              </a:rPr>
              <a:t>In collaboration with</a:t>
            </a:r>
            <a:endParaRPr lang="en-US" sz="2200" dirty="0"/>
          </a:p>
          <a:p>
            <a:pPr indent="0" marL="0">
              <a:buNone/>
            </a:pPr>
            <a:r>
              <a:rPr lang="en-US" sz="2200" dirty="0">
                <a:solidFill>
                  <a:srgbClr val="E5E2E1"/>
                </a:solidFill>
                <a:latin typeface="Inter" pitchFamily="34" charset="0"/>
                <a:ea typeface="Inter" pitchFamily="34" charset="-122"/>
                <a:cs typeface="Inter" pitchFamily="34" charset="-120"/>
              </a:rPr>
              <a:t>JRU + Web3 Iloilo.</a:t>
            </a:r>
            <a:endParaRPr lang="en-US" sz="2200" dirty="0"/>
          </a:p>
        </p:txBody>
      </p:sp>
      <p:sp>
        <p:nvSpPr>
          <p:cNvPr id="11" name="Shape 8"/>
          <p:cNvSpPr/>
          <p:nvPr/>
        </p:nvSpPr>
        <p:spPr>
          <a:xfrm>
            <a:off x="6035040" y="1874520"/>
            <a:ext cx="5516575" cy="1316736"/>
          </a:xfrm>
          <a:prstGeom prst="roundRect">
            <a:avLst>
              <a:gd name="adj" fmla="val 13889"/>
            </a:avLst>
          </a:prstGeom>
          <a:solidFill>
            <a:srgbClr val="FFFFFF">
              <a:alpha val="4000"/>
            </a:srgbClr>
          </a:solidFill>
          <a:ln w="9525">
            <a:solidFill>
              <a:srgbClr val="FFFFFF">
                <a:alpha val="14000"/>
              </a:srgbClr>
            </a:solidFill>
            <a:prstDash val="solid"/>
          </a:ln>
        </p:spPr>
      </p:sp>
      <p:sp>
        <p:nvSpPr>
          <p:cNvPr id="12" name="Text 9"/>
          <p:cNvSpPr txBox="1"/>
          <p:nvPr/>
        </p:nvSpPr>
        <p:spPr>
          <a:xfrm>
            <a:off x="6309360" y="2103120"/>
            <a:ext cx="4967935" cy="438912"/>
          </a:xfrm>
          <a:prstGeom prst="rect">
            <a:avLst/>
          </a:prstGeom>
          <a:noFill/>
          <a:ln/>
        </p:spPr>
        <p:txBody>
          <a:bodyPr wrap="square" lIns="0" tIns="0" rIns="0" bIns="0" rtlCol="0" anchor="t"/>
          <a:lstStyle/>
          <a:p>
            <a:pPr indent="0" marL="0">
              <a:buNone/>
            </a:pPr>
            <a:r>
              <a:rPr lang="en-US" sz="2200" b="1" dirty="0">
                <a:solidFill>
                  <a:srgbClr val="E5E2E1"/>
                </a:solidFill>
                <a:latin typeface="Inter" pitchFamily="34" charset="0"/>
                <a:ea typeface="Inter" pitchFamily="34" charset="-122"/>
                <a:cs typeface="Inter" pitchFamily="34" charset="-120"/>
              </a:rPr>
              <a:t>Weekly builder sessions</a:t>
            </a:r>
            <a:endParaRPr lang="en-US" sz="2200" dirty="0"/>
          </a:p>
        </p:txBody>
      </p:sp>
      <p:sp>
        <p:nvSpPr>
          <p:cNvPr id="13" name="Text 10"/>
          <p:cNvSpPr txBox="1"/>
          <p:nvPr/>
        </p:nvSpPr>
        <p:spPr>
          <a:xfrm>
            <a:off x="6309360" y="2697480"/>
            <a:ext cx="4967935" cy="320040"/>
          </a:xfrm>
          <a:prstGeom prst="rect">
            <a:avLst/>
          </a:prstGeom>
          <a:noFill/>
          <a:ln/>
        </p:spPr>
        <p:txBody>
          <a:bodyPr wrap="square" lIns="0" tIns="0" rIns="0" bIns="0" rtlCol="0" anchor="t"/>
          <a:lstStyle/>
          <a:p>
            <a:pPr indent="0" marL="0">
              <a:buNone/>
            </a:pPr>
            <a:r>
              <a:rPr lang="en-US" sz="1600" dirty="0">
                <a:solidFill>
                  <a:srgbClr val="BCB8BB"/>
                </a:solidFill>
                <a:latin typeface="Inter" pitchFamily="34" charset="0"/>
                <a:ea typeface="Inter" pitchFamily="34" charset="-122"/>
                <a:cs typeface="Inter" pitchFamily="34" charset="-120"/>
              </a:rPr>
              <a:t>Onboard and build after the hackathon.</a:t>
            </a:r>
            <a:endParaRPr lang="en-US" sz="1600" dirty="0"/>
          </a:p>
        </p:txBody>
      </p:sp>
      <p:sp>
        <p:nvSpPr>
          <p:cNvPr id="14" name="Shape 11"/>
          <p:cNvSpPr/>
          <p:nvPr/>
        </p:nvSpPr>
        <p:spPr>
          <a:xfrm>
            <a:off x="6035040" y="3465576"/>
            <a:ext cx="5516575" cy="1316736"/>
          </a:xfrm>
          <a:prstGeom prst="roundRect">
            <a:avLst>
              <a:gd name="adj" fmla="val 13889"/>
            </a:avLst>
          </a:prstGeom>
          <a:solidFill>
            <a:srgbClr val="FFFFFF">
              <a:alpha val="4000"/>
            </a:srgbClr>
          </a:solidFill>
          <a:ln w="9525">
            <a:solidFill>
              <a:srgbClr val="FFFFFF">
                <a:alpha val="14000"/>
              </a:srgbClr>
            </a:solidFill>
            <a:prstDash val="solid"/>
          </a:ln>
        </p:spPr>
      </p:sp>
      <p:sp>
        <p:nvSpPr>
          <p:cNvPr id="15" name="Text 12"/>
          <p:cNvSpPr txBox="1"/>
          <p:nvPr/>
        </p:nvSpPr>
        <p:spPr>
          <a:xfrm>
            <a:off x="6309360" y="3694176"/>
            <a:ext cx="4967935" cy="438912"/>
          </a:xfrm>
          <a:prstGeom prst="rect">
            <a:avLst/>
          </a:prstGeom>
          <a:noFill/>
          <a:ln/>
        </p:spPr>
        <p:txBody>
          <a:bodyPr wrap="square" lIns="0" tIns="0" rIns="0" bIns="0" rtlCol="0" anchor="t"/>
          <a:lstStyle/>
          <a:p>
            <a:pPr indent="0" marL="0">
              <a:buNone/>
            </a:pPr>
            <a:r>
              <a:rPr lang="en-US" sz="2200" b="1" dirty="0">
                <a:solidFill>
                  <a:srgbClr val="E5E2E1"/>
                </a:solidFill>
                <a:latin typeface="Inter" pitchFamily="34" charset="0"/>
                <a:ea typeface="Inter" pitchFamily="34" charset="-122"/>
                <a:cs typeface="Inter" pitchFamily="34" charset="-120"/>
              </a:rPr>
              <a:t>BlockQuest Fiesta PH</a:t>
            </a:r>
            <a:endParaRPr lang="en-US" sz="2200" dirty="0"/>
          </a:p>
        </p:txBody>
      </p:sp>
      <p:sp>
        <p:nvSpPr>
          <p:cNvPr id="16" name="Text 13"/>
          <p:cNvSpPr txBox="1"/>
          <p:nvPr/>
        </p:nvSpPr>
        <p:spPr>
          <a:xfrm>
            <a:off x="6309360" y="4288536"/>
            <a:ext cx="4967935" cy="320040"/>
          </a:xfrm>
          <a:prstGeom prst="rect">
            <a:avLst/>
          </a:prstGeom>
          <a:noFill/>
          <a:ln/>
        </p:spPr>
        <p:txBody>
          <a:bodyPr wrap="square" lIns="0" tIns="0" rIns="0" bIns="0" rtlCol="0" anchor="t"/>
          <a:lstStyle/>
          <a:p>
            <a:pPr indent="0" marL="0">
              <a:buNone/>
            </a:pPr>
            <a:r>
              <a:rPr lang="en-US" sz="1600" dirty="0">
                <a:solidFill>
                  <a:srgbClr val="BCB8BB"/>
                </a:solidFill>
                <a:latin typeface="Inter" pitchFamily="34" charset="0"/>
                <a:ea typeface="Inter" pitchFamily="34" charset="-122"/>
                <a:cs typeface="Inter" pitchFamily="34" charset="-120"/>
              </a:rPr>
              <a:t>Hands-on Paiflow booth in Laguna.</a:t>
            </a:r>
            <a:endParaRPr lang="en-US" sz="1600" dirty="0"/>
          </a:p>
        </p:txBody>
      </p:sp>
      <p:sp>
        <p:nvSpPr>
          <p:cNvPr id="17" name="Text 14"/>
          <p:cNvSpPr txBox="1"/>
          <p:nvPr/>
        </p:nvSpPr>
        <p:spPr>
          <a:xfrm>
            <a:off x="640080" y="4983480"/>
            <a:ext cx="10911535" cy="219456"/>
          </a:xfrm>
          <a:prstGeom prst="rect">
            <a:avLst/>
          </a:prstGeom>
          <a:noFill/>
          <a:ln/>
        </p:spPr>
        <p:txBody>
          <a:bodyPr wrap="square" lIns="0" tIns="0" rIns="0" bIns="0" rtlCol="0" anchor="t"/>
          <a:lstStyle/>
          <a:p>
            <a:pPr indent="0" marL="0">
              <a:buNone/>
            </a:pPr>
            <a:r>
              <a:rPr lang="en-US" sz="1050" dirty="0">
                <a:solidFill>
                  <a:srgbClr val="98CBFF"/>
                </a:solidFill>
                <a:latin typeface="JetBrains Mono" pitchFamily="34" charset="0"/>
                <a:ea typeface="JetBrains Mono" pitchFamily="34" charset="-122"/>
                <a:cs typeface="JetBrains Mono" pitchFamily="34" charset="-120"/>
              </a:rPr>
              <a:t>AKLAN · IN PLANNING · DATE TBC</a:t>
            </a:r>
            <a:endParaRPr lang="en-US" sz="1050" dirty="0"/>
          </a:p>
        </p:txBody>
      </p:sp>
      <p:sp>
        <p:nvSpPr>
          <p:cNvPr id="18" name="Text 15"/>
          <p:cNvSpPr txBox="1"/>
          <p:nvPr/>
        </p:nvSpPr>
        <p:spPr>
          <a:xfrm>
            <a:off x="640080" y="5303520"/>
            <a:ext cx="10911535" cy="548640"/>
          </a:xfrm>
          <a:prstGeom prst="rect">
            <a:avLst/>
          </a:prstGeom>
          <a:noFill/>
          <a:ln/>
        </p:spPr>
        <p:txBody>
          <a:bodyPr wrap="square" lIns="0" tIns="0" rIns="0" bIns="0" rtlCol="0" anchor="t"/>
          <a:lstStyle/>
          <a:p>
            <a:pPr indent="0" marL="0">
              <a:buNone/>
            </a:pPr>
            <a:r>
              <a:rPr lang="en-US" sz="1600" dirty="0">
                <a:solidFill>
                  <a:srgbClr val="BCB8BB"/>
                </a:solidFill>
                <a:latin typeface="Inter" pitchFamily="34" charset="0"/>
                <a:ea typeface="Inter" pitchFamily="34" charset="-122"/>
                <a:cs typeface="Inter" pitchFamily="34" charset="-120"/>
              </a:rPr>
              <a:t>Join a university event to bring Paiflow to more students</a:t>
            </a:r>
            <a:endParaRPr lang="en-US" sz="1600" dirty="0"/>
          </a:p>
          <a:p>
            <a:pPr indent="0" marL="0">
              <a:buNone/>
            </a:pPr>
            <a:r>
              <a:rPr lang="en-US" sz="1600" dirty="0">
                <a:solidFill>
                  <a:srgbClr val="BCB8BB"/>
                </a:solidFill>
                <a:latin typeface="Inter" pitchFamily="34" charset="0"/>
                <a:ea typeface="Inter" pitchFamily="34" charset="-122"/>
                <a:cs typeface="Inter" pitchFamily="34" charset="-120"/>
              </a:rPr>
              <a:t>through a booth, a mini hackathon, or both.</a:t>
            </a:r>
            <a:endParaRPr lang="en-US" sz="1600" dirty="0"/>
          </a:p>
        </p:txBody>
      </p:sp>
      <p:sp>
        <p:nvSpPr>
          <p:cNvPr id="19" name="Text 16"/>
          <p:cNvSpPr txBox="1"/>
          <p:nvPr/>
        </p:nvSpPr>
        <p:spPr>
          <a:xfrm>
            <a:off x="640080" y="5916168"/>
            <a:ext cx="10911535" cy="292608"/>
          </a:xfrm>
          <a:prstGeom prst="rect">
            <a:avLst/>
          </a:prstGeom>
          <a:noFill/>
          <a:ln/>
        </p:spPr>
        <p:txBody>
          <a:bodyPr wrap="square" lIns="0" tIns="0" rIns="0" bIns="0" rtlCol="0" anchor="t"/>
          <a:lstStyle/>
          <a:p>
            <a:pPr indent="0" marL="0">
              <a:buNone/>
            </a:pPr>
            <a:r>
              <a:rPr lang="en-US" sz="2000" b="1" dirty="0">
                <a:solidFill>
                  <a:srgbClr val="FFB1C4"/>
                </a:solidFill>
                <a:latin typeface="Inter" pitchFamily="34" charset="0"/>
                <a:ea typeface="Inter" pitchFamily="34" charset="-122"/>
                <a:cs typeface="Inter" pitchFamily="34" charset="-120"/>
              </a:rPr>
              <a:t>Draw the flow. Sign it. Watch it land.</a:t>
            </a:r>
            <a:endParaRPr lang="en-US" sz="2000" dirty="0"/>
          </a:p>
        </p:txBody>
      </p:sp>
      <p:sp>
        <p:nvSpPr>
          <p:cNvPr id="20" name="Text 17"/>
          <p:cNvSpPr txBox="1"/>
          <p:nvPr/>
        </p:nvSpPr>
        <p:spPr>
          <a:xfrm>
            <a:off x="9875520" y="5980176"/>
            <a:ext cx="1645920" cy="201168"/>
          </a:xfrm>
          <a:prstGeom prst="rect">
            <a:avLst/>
          </a:prstGeom>
          <a:noFill/>
          <a:ln/>
        </p:spPr>
        <p:txBody>
          <a:bodyPr wrap="square" lIns="0" tIns="0" rIns="0" bIns="0" rtlCol="0" anchor="t"/>
          <a:lstStyle/>
          <a:p>
            <a:pPr indent="0" marL="0">
              <a:buNone/>
            </a:pPr>
            <a:r>
              <a:rPr lang="en-US" sz="1000" dirty="0">
                <a:solidFill>
                  <a:srgbClr val="98CBFF"/>
                </a:solidFill>
                <a:latin typeface="JetBrains Mono" pitchFamily="34" charset="0"/>
                <a:ea typeface="JetBrains Mono" pitchFamily="34" charset="-122"/>
                <a:cs typeface="JetBrains Mono" pitchFamily="34" charset="-120"/>
              </a:rPr>
              <a:t>paiflow.xyz</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Paiflow — InstaAwards Builder Showcase</dc:title>
  <dc:subject>Five-minute InstaAwards showcase with a required live demo</dc:subject>
  <dc:creator>Mychal Andres B. Pejana</dc:creator>
  <cp:lastModifiedBy>Mychal Andres B. Pejana</cp:lastModifiedBy>
  <cp:revision>1</cp:revision>
  <dcterms:created xsi:type="dcterms:W3CDTF">2026-10-06T01:21:44Z</dcterms:created>
  <dcterms:modified xsi:type="dcterms:W3CDTF">2026-10-06T01:21:44Z</dcterms:modified>
</cp:coreProperties>
</file>