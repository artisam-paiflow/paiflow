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7"/>
  </p:sldMasterIdLst>
  <p:sldIdLst>
    <p:sldId id="256" r:id="rId1"/>
    <p:sldId id="257" r:id="rId2"/>
    <p:sldId id="258" r:id="rId3"/>
    <p:sldId id="259" r:id="rId4"/>
    <p:sldId id="260" r:id="rId5"/>
  </p:sldIdLst>
  <p:sldSz cx="12192000" cy="6858000" type="screen16x9"/>
  <p:notesSz cx="6858000" cy="9144000"/>
</p:presentation>
</file>

<file path=ppt/_rels/presentation.xml.rels><?xml version="1.0" encoding="UTF-8" standalone="yes"?><Relationships xmlns="http://schemas.openxmlformats.org/package/2006/relationships"><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7" Type="http://schemas.openxmlformats.org/officeDocument/2006/relationships/slideMaster" Target="slideMasters/slideMaster1.xml"/></Relationships>
</file>

<file path=ppt/notesSlides/_rels/notesSlide1.xml.rels><?xml version="1.0" encoding="UTF-8" standalone="yes"?><Relationships xmlns="http://schemas.openxmlformats.org/package/2006/relationships"><Relationship Id="rId1"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peaker notes"/>
          <p:cNvSpPr txBox="1"/>
          <p:nvPr>
            <p:ph type="body" idx="1"/>
          </p:nvPr>
        </p:nvSpPr>
        <p:spPr/>
        <p:txBody>
          <a:bodyPr/>
          <a:lstStyle/>
          <a:p>
            <a:r>
              <a:t>0:00–0:30. Say: Hi, I’m Mychal, the builder of Paiflow. Moving money can mean receiving one asset, converting it, then paying someone in another. Paiflow lets you draw that flow and deploy it as Stellar smart contracts, signed with your own wallet. Today I’ll show what changed during InstaAwards, run a real testnet payment live, and share our October plans. Source: docs/instawards/README.md. The core builder existed before the sprint; do not imply it was first built this month.</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peaker notes"/>
          <p:cNvSpPr txBox="1"/>
          <p:nvPr>
            <p:ph type="body" idx="1"/>
          </p:nvPr>
        </p:nvSpPr>
        <p:spPr/>
        <p:txBody>
          <a:bodyPr/>
          <a:lstStyle/>
          <a:p>
            <a:r>
              <a:t>0:30–1:05. Say: This month, we connected the Swap block to the real Soroswap router, added an API so a backend can run the same deployed flow, and rebuilt the swap settings with clearer validation and keyboard and mobile support. We then verified wallet and API execution on one deployment, with recordings and transaction receipts. The shared input migration covers the Swapper panel, not every panel. Sources: docs/instawards/week-1.md through week-4.md; docs/instawards/README.md.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peaker notes"/>
          <p:cNvSpPr txBox="1"/>
          <p:nvPr>
            <p:ph type="body" idx="1"/>
          </p:nvPr>
        </p:nvSpPr>
        <p:spPr/>
        <p:txBody>
          <a:bodyPr/>
          <a:lstStyle/>
          <a:p>
            <a:r>
              <a:t>1:05–3:30 LIVE DEMO. Switch screen sharing to the app. Before the session: prepare a Receive → Swap → Pay flow for 10 testnet XLM; deploy and fund as required; verify router liquidity, recipient USDC trustline, wallet connection, and correct testnet network. Keep deployment and explorer tabs ready. 1:05–1:30 show the canvas and explain the recipient. 1:30–1:55 open Swap settings, show live quote and slippage protection. 1:55–2:25 trigger and sign with your own wallet. 2:25–3:10 show confirmation, payout events and explorer receipt. 3:10–3:30 explain that all steps execute together and the same flow also supports API execution. While waiting, explain wallet signing and atomic execution. The USDC amount is determined by the current quote; do not promise an old output amount. If the event feed lags, use the confirmed explorer transaction. The demo must be live; a recording cannot substitute. Live deployment is not assumed required. Rehearse this actual flow before presenting. Sources: docs/instawards/evidence/d4/walkthrough-script.md and e2e-run-checklist.md.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peaker notes"/>
          <p:cNvSpPr txBox="1"/>
          <p:nvPr>
            <p:ph type="body" idx="1"/>
          </p:nvPr>
        </p:nvSpPr>
        <p:spPr/>
        <p:txBody>
          <a:bodyPr/>
          <a:lstStyle/>
          <a:p>
            <a:r>
              <a:t>3:30–4:15. Say: By September 30, nine active alpha testers, including eight external testers, had produced 42 deployments and 73 signed transactions. Seven swap flows had executed. In October we forecast at least 45 onboarded users, 110 deployments, and 190 signed transactions. That means 36 more users, 68 more deployments, and 117 more signed transactions. The new-activity column makes the increase clear; these are planned minimums, not results. Do not read all six rows. The baseline covers the nine-person alpha cohort, including one project member. Signing wallets count distinct addresses, not people; sandbox tries count browsers opening the builder as of October 1. Unique flows designed means distinct flows deployed. Source: /home/salt/Downloads/paiflow-kpis-october-2026.pdf, created October 3 2026 at 06:39:39 HKT. Delta is the minimum target minus baseline: +36 users, +68 deployments, +35 unique flows, +117 signed transactions, +28 signing wallets, +52 sandbox browsers. Repo’s 15 deploying wallets and PDF’s 17 signing wallets measure different actions. Do not mix this cohort baseline with the 86 all-public deployment total.</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peaker notes"/>
          <p:cNvSpPr txBox="1"/>
          <p:nvPr>
            <p:ph type="body" idx="1"/>
          </p:nvPr>
        </p:nvSpPr>
        <p:spPr/>
        <p:txBody>
          <a:bodyPr/>
          <a:lstStyle/>
          <a:p>
            <a:r>
              <a:t>4:15–4:40. Say: To grow that usage, we’re planning a university hackathon for up to ten teams, followed by weekly builder sessions. We’ll also bring a hands-on Paiflow booth to BlockQuest Fiesta PH in Laguna. A university event in Aklan is in planning, with its date still to be confirmed. 4:40–4:50 close: Paiflow: draw the flow, sign it, and watch the payment land. Try it at paiflow.xyz, and check the receipts in our docs. Thank you. 4:50–5:00 buffer. Event source: latest October 3 PDF. These are planned events; no dates or confirmed attendance are invented. Optional future roadmap from the same PDF: local-currency cash-out and USDT/EURC support; omit from the timed narration to preserve the live demo.</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E0E0E"/>
        </a:solidFill>
        <a:effectLst/>
      </p:bgPr>
    </p:bg>
    <p:spTree>
      <p:nvGrpSpPr>
        <p:cNvPr id="1" name=""/>
        <p:cNvGrpSpPr/>
        <p:nvPr/>
      </p:nvGrpSpPr>
      <p:grpSpPr>
        <a:xfrm>
          <a:off x="0" y="0"/>
          <a:ext cx="0" cy="0"/>
          <a:chOff x="0" y="0"/>
          <a:chExt cx="0" cy="0"/>
        </a:xfrm>
      </p:grpSpPr>
      <p:sp>
        <p:nvSpPr>
          <p:cNvPr id="2" name="Panel 2"/>
          <p:cNvSpPr/>
          <p:nvPr/>
        </p:nvSpPr>
        <p:spPr>
          <a:xfrm>
            <a:off x="457200" y="0"/>
            <a:ext cx="5486" cy="6858000"/>
          </a:xfrm>
          <a:prstGeom prst="rect">
            <a:avLst/>
          </a:prstGeom>
          <a:solidFill>
            <a:srgbClr val="131B22"/>
          </a:solidFill>
          <a:ln w="9525">
            <a:solidFill>
              <a:srgbClr val="131B22"/>
            </a:solidFill>
          </a:ln>
        </p:spPr>
      </p:sp>
      <p:sp>
        <p:nvSpPr>
          <p:cNvPr id="3" name="Panel 3"/>
          <p:cNvSpPr/>
          <p:nvPr/>
        </p:nvSpPr>
        <p:spPr>
          <a:xfrm>
            <a:off x="914400" y="0"/>
            <a:ext cx="5486" cy="6858000"/>
          </a:xfrm>
          <a:prstGeom prst="rect">
            <a:avLst/>
          </a:prstGeom>
          <a:solidFill>
            <a:srgbClr val="131B22"/>
          </a:solidFill>
          <a:ln w="9525">
            <a:solidFill>
              <a:srgbClr val="131B22"/>
            </a:solidFill>
          </a:ln>
        </p:spPr>
      </p:sp>
      <p:sp>
        <p:nvSpPr>
          <p:cNvPr id="4" name="Panel 4"/>
          <p:cNvSpPr/>
          <p:nvPr/>
        </p:nvSpPr>
        <p:spPr>
          <a:xfrm>
            <a:off x="1371600" y="0"/>
            <a:ext cx="5486" cy="6858000"/>
          </a:xfrm>
          <a:prstGeom prst="rect">
            <a:avLst/>
          </a:prstGeom>
          <a:solidFill>
            <a:srgbClr val="131B22"/>
          </a:solidFill>
          <a:ln w="9525">
            <a:solidFill>
              <a:srgbClr val="131B22"/>
            </a:solidFill>
          </a:ln>
        </p:spPr>
      </p:sp>
      <p:sp>
        <p:nvSpPr>
          <p:cNvPr id="5" name="Panel 5"/>
          <p:cNvSpPr/>
          <p:nvPr/>
        </p:nvSpPr>
        <p:spPr>
          <a:xfrm>
            <a:off x="1828800" y="0"/>
            <a:ext cx="5486" cy="6858000"/>
          </a:xfrm>
          <a:prstGeom prst="rect">
            <a:avLst/>
          </a:prstGeom>
          <a:solidFill>
            <a:srgbClr val="131B22"/>
          </a:solidFill>
          <a:ln w="9525">
            <a:solidFill>
              <a:srgbClr val="131B22"/>
            </a:solidFill>
          </a:ln>
        </p:spPr>
      </p:sp>
      <p:sp>
        <p:nvSpPr>
          <p:cNvPr id="6" name="Panel 6"/>
          <p:cNvSpPr/>
          <p:nvPr/>
        </p:nvSpPr>
        <p:spPr>
          <a:xfrm>
            <a:off x="2286000" y="0"/>
            <a:ext cx="5486" cy="6858000"/>
          </a:xfrm>
          <a:prstGeom prst="rect">
            <a:avLst/>
          </a:prstGeom>
          <a:solidFill>
            <a:srgbClr val="131B22"/>
          </a:solidFill>
          <a:ln w="9525">
            <a:solidFill>
              <a:srgbClr val="131B22"/>
            </a:solidFill>
          </a:ln>
        </p:spPr>
      </p:sp>
      <p:sp>
        <p:nvSpPr>
          <p:cNvPr id="7" name="Panel 7"/>
          <p:cNvSpPr/>
          <p:nvPr/>
        </p:nvSpPr>
        <p:spPr>
          <a:xfrm>
            <a:off x="2743200" y="0"/>
            <a:ext cx="5486" cy="6858000"/>
          </a:xfrm>
          <a:prstGeom prst="rect">
            <a:avLst/>
          </a:prstGeom>
          <a:solidFill>
            <a:srgbClr val="131B22"/>
          </a:solidFill>
          <a:ln w="9525">
            <a:solidFill>
              <a:srgbClr val="131B22"/>
            </a:solidFill>
          </a:ln>
        </p:spPr>
      </p:sp>
      <p:sp>
        <p:nvSpPr>
          <p:cNvPr id="8" name="Panel 8"/>
          <p:cNvSpPr/>
          <p:nvPr/>
        </p:nvSpPr>
        <p:spPr>
          <a:xfrm>
            <a:off x="3200400" y="0"/>
            <a:ext cx="5486" cy="6858000"/>
          </a:xfrm>
          <a:prstGeom prst="rect">
            <a:avLst/>
          </a:prstGeom>
          <a:solidFill>
            <a:srgbClr val="131B22"/>
          </a:solidFill>
          <a:ln w="9525">
            <a:solidFill>
              <a:srgbClr val="131B22"/>
            </a:solidFill>
          </a:ln>
        </p:spPr>
      </p:sp>
      <p:sp>
        <p:nvSpPr>
          <p:cNvPr id="9" name="Panel 9"/>
          <p:cNvSpPr/>
          <p:nvPr/>
        </p:nvSpPr>
        <p:spPr>
          <a:xfrm>
            <a:off x="3657600" y="0"/>
            <a:ext cx="5486" cy="6858000"/>
          </a:xfrm>
          <a:prstGeom prst="rect">
            <a:avLst/>
          </a:prstGeom>
          <a:solidFill>
            <a:srgbClr val="131B22"/>
          </a:solidFill>
          <a:ln w="9525">
            <a:solidFill>
              <a:srgbClr val="131B22"/>
            </a:solidFill>
          </a:ln>
        </p:spPr>
      </p:sp>
      <p:sp>
        <p:nvSpPr>
          <p:cNvPr id="10" name="Panel 10"/>
          <p:cNvSpPr/>
          <p:nvPr/>
        </p:nvSpPr>
        <p:spPr>
          <a:xfrm>
            <a:off x="4114800" y="0"/>
            <a:ext cx="5486" cy="6858000"/>
          </a:xfrm>
          <a:prstGeom prst="rect">
            <a:avLst/>
          </a:prstGeom>
          <a:solidFill>
            <a:srgbClr val="131B22"/>
          </a:solidFill>
          <a:ln w="9525">
            <a:solidFill>
              <a:srgbClr val="131B22"/>
            </a:solidFill>
          </a:ln>
        </p:spPr>
      </p:sp>
      <p:sp>
        <p:nvSpPr>
          <p:cNvPr id="11" name="Panel 11"/>
          <p:cNvSpPr/>
          <p:nvPr/>
        </p:nvSpPr>
        <p:spPr>
          <a:xfrm>
            <a:off x="4572000" y="0"/>
            <a:ext cx="5486" cy="6858000"/>
          </a:xfrm>
          <a:prstGeom prst="rect">
            <a:avLst/>
          </a:prstGeom>
          <a:solidFill>
            <a:srgbClr val="131B22"/>
          </a:solidFill>
          <a:ln w="9525">
            <a:solidFill>
              <a:srgbClr val="131B22"/>
            </a:solidFill>
          </a:ln>
        </p:spPr>
      </p:sp>
      <p:sp>
        <p:nvSpPr>
          <p:cNvPr id="12" name="Panel 12"/>
          <p:cNvSpPr/>
          <p:nvPr/>
        </p:nvSpPr>
        <p:spPr>
          <a:xfrm>
            <a:off x="5029200" y="0"/>
            <a:ext cx="5486" cy="6858000"/>
          </a:xfrm>
          <a:prstGeom prst="rect">
            <a:avLst/>
          </a:prstGeom>
          <a:solidFill>
            <a:srgbClr val="131B22"/>
          </a:solidFill>
          <a:ln w="9525">
            <a:solidFill>
              <a:srgbClr val="131B22"/>
            </a:solidFill>
          </a:ln>
        </p:spPr>
      </p:sp>
      <p:sp>
        <p:nvSpPr>
          <p:cNvPr id="13" name="Panel 13"/>
          <p:cNvSpPr/>
          <p:nvPr/>
        </p:nvSpPr>
        <p:spPr>
          <a:xfrm>
            <a:off x="5486400" y="0"/>
            <a:ext cx="5486" cy="6858000"/>
          </a:xfrm>
          <a:prstGeom prst="rect">
            <a:avLst/>
          </a:prstGeom>
          <a:solidFill>
            <a:srgbClr val="131B22"/>
          </a:solidFill>
          <a:ln w="9525">
            <a:solidFill>
              <a:srgbClr val="131B22"/>
            </a:solidFill>
          </a:ln>
        </p:spPr>
      </p:sp>
      <p:sp>
        <p:nvSpPr>
          <p:cNvPr id="14" name="Panel 14"/>
          <p:cNvSpPr/>
          <p:nvPr/>
        </p:nvSpPr>
        <p:spPr>
          <a:xfrm>
            <a:off x="5943600" y="0"/>
            <a:ext cx="5486" cy="6858000"/>
          </a:xfrm>
          <a:prstGeom prst="rect">
            <a:avLst/>
          </a:prstGeom>
          <a:solidFill>
            <a:srgbClr val="131B22"/>
          </a:solidFill>
          <a:ln w="9525">
            <a:solidFill>
              <a:srgbClr val="131B22"/>
            </a:solidFill>
          </a:ln>
        </p:spPr>
      </p:sp>
      <p:sp>
        <p:nvSpPr>
          <p:cNvPr id="15" name="Panel 15"/>
          <p:cNvSpPr/>
          <p:nvPr/>
        </p:nvSpPr>
        <p:spPr>
          <a:xfrm>
            <a:off x="6400800" y="0"/>
            <a:ext cx="5486" cy="6858000"/>
          </a:xfrm>
          <a:prstGeom prst="rect">
            <a:avLst/>
          </a:prstGeom>
          <a:solidFill>
            <a:srgbClr val="131B22"/>
          </a:solidFill>
          <a:ln w="9525">
            <a:solidFill>
              <a:srgbClr val="131B22"/>
            </a:solidFill>
          </a:ln>
        </p:spPr>
      </p:sp>
      <p:sp>
        <p:nvSpPr>
          <p:cNvPr id="16" name="Panel 16"/>
          <p:cNvSpPr/>
          <p:nvPr/>
        </p:nvSpPr>
        <p:spPr>
          <a:xfrm>
            <a:off x="6858000" y="0"/>
            <a:ext cx="5486" cy="6858000"/>
          </a:xfrm>
          <a:prstGeom prst="rect">
            <a:avLst/>
          </a:prstGeom>
          <a:solidFill>
            <a:srgbClr val="131B22"/>
          </a:solidFill>
          <a:ln w="9525">
            <a:solidFill>
              <a:srgbClr val="131B22"/>
            </a:solidFill>
          </a:ln>
        </p:spPr>
      </p:sp>
      <p:sp>
        <p:nvSpPr>
          <p:cNvPr id="17" name="Panel 17"/>
          <p:cNvSpPr/>
          <p:nvPr/>
        </p:nvSpPr>
        <p:spPr>
          <a:xfrm>
            <a:off x="7315200" y="0"/>
            <a:ext cx="5486" cy="6858000"/>
          </a:xfrm>
          <a:prstGeom prst="rect">
            <a:avLst/>
          </a:prstGeom>
          <a:solidFill>
            <a:srgbClr val="131B22"/>
          </a:solidFill>
          <a:ln w="9525">
            <a:solidFill>
              <a:srgbClr val="131B22"/>
            </a:solidFill>
          </a:ln>
        </p:spPr>
      </p:sp>
      <p:sp>
        <p:nvSpPr>
          <p:cNvPr id="18" name="Panel 18"/>
          <p:cNvSpPr/>
          <p:nvPr/>
        </p:nvSpPr>
        <p:spPr>
          <a:xfrm>
            <a:off x="7772400" y="0"/>
            <a:ext cx="5486" cy="6858000"/>
          </a:xfrm>
          <a:prstGeom prst="rect">
            <a:avLst/>
          </a:prstGeom>
          <a:solidFill>
            <a:srgbClr val="131B22"/>
          </a:solidFill>
          <a:ln w="9525">
            <a:solidFill>
              <a:srgbClr val="131B22"/>
            </a:solidFill>
          </a:ln>
        </p:spPr>
      </p:sp>
      <p:sp>
        <p:nvSpPr>
          <p:cNvPr id="19" name="Panel 19"/>
          <p:cNvSpPr/>
          <p:nvPr/>
        </p:nvSpPr>
        <p:spPr>
          <a:xfrm>
            <a:off x="8229600" y="0"/>
            <a:ext cx="5486" cy="6858000"/>
          </a:xfrm>
          <a:prstGeom prst="rect">
            <a:avLst/>
          </a:prstGeom>
          <a:solidFill>
            <a:srgbClr val="131B22"/>
          </a:solidFill>
          <a:ln w="9525">
            <a:solidFill>
              <a:srgbClr val="131B22"/>
            </a:solidFill>
          </a:ln>
        </p:spPr>
      </p:sp>
      <p:sp>
        <p:nvSpPr>
          <p:cNvPr id="20" name="Panel 20"/>
          <p:cNvSpPr/>
          <p:nvPr/>
        </p:nvSpPr>
        <p:spPr>
          <a:xfrm>
            <a:off x="8686800" y="0"/>
            <a:ext cx="5486" cy="6858000"/>
          </a:xfrm>
          <a:prstGeom prst="rect">
            <a:avLst/>
          </a:prstGeom>
          <a:solidFill>
            <a:srgbClr val="131B22"/>
          </a:solidFill>
          <a:ln w="9525">
            <a:solidFill>
              <a:srgbClr val="131B22"/>
            </a:solidFill>
          </a:ln>
        </p:spPr>
      </p:sp>
      <p:sp>
        <p:nvSpPr>
          <p:cNvPr id="21" name="Panel 21"/>
          <p:cNvSpPr/>
          <p:nvPr/>
        </p:nvSpPr>
        <p:spPr>
          <a:xfrm>
            <a:off x="9144000" y="0"/>
            <a:ext cx="5486" cy="6858000"/>
          </a:xfrm>
          <a:prstGeom prst="rect">
            <a:avLst/>
          </a:prstGeom>
          <a:solidFill>
            <a:srgbClr val="131B22"/>
          </a:solidFill>
          <a:ln w="9525">
            <a:solidFill>
              <a:srgbClr val="131B22"/>
            </a:solidFill>
          </a:ln>
        </p:spPr>
      </p:sp>
      <p:sp>
        <p:nvSpPr>
          <p:cNvPr id="22" name="Panel 22"/>
          <p:cNvSpPr/>
          <p:nvPr/>
        </p:nvSpPr>
        <p:spPr>
          <a:xfrm>
            <a:off x="9601200" y="0"/>
            <a:ext cx="5486" cy="6858000"/>
          </a:xfrm>
          <a:prstGeom prst="rect">
            <a:avLst/>
          </a:prstGeom>
          <a:solidFill>
            <a:srgbClr val="131B22"/>
          </a:solidFill>
          <a:ln w="9525">
            <a:solidFill>
              <a:srgbClr val="131B22"/>
            </a:solidFill>
          </a:ln>
        </p:spPr>
      </p:sp>
      <p:sp>
        <p:nvSpPr>
          <p:cNvPr id="23" name="Panel 23"/>
          <p:cNvSpPr/>
          <p:nvPr/>
        </p:nvSpPr>
        <p:spPr>
          <a:xfrm>
            <a:off x="10058400" y="0"/>
            <a:ext cx="5486" cy="6858000"/>
          </a:xfrm>
          <a:prstGeom prst="rect">
            <a:avLst/>
          </a:prstGeom>
          <a:solidFill>
            <a:srgbClr val="131B22"/>
          </a:solidFill>
          <a:ln w="9525">
            <a:solidFill>
              <a:srgbClr val="131B22"/>
            </a:solidFill>
          </a:ln>
        </p:spPr>
      </p:sp>
      <p:sp>
        <p:nvSpPr>
          <p:cNvPr id="24" name="Panel 24"/>
          <p:cNvSpPr/>
          <p:nvPr/>
        </p:nvSpPr>
        <p:spPr>
          <a:xfrm>
            <a:off x="10515600" y="0"/>
            <a:ext cx="5486" cy="6858000"/>
          </a:xfrm>
          <a:prstGeom prst="rect">
            <a:avLst/>
          </a:prstGeom>
          <a:solidFill>
            <a:srgbClr val="131B22"/>
          </a:solidFill>
          <a:ln w="9525">
            <a:solidFill>
              <a:srgbClr val="131B22"/>
            </a:solidFill>
          </a:ln>
        </p:spPr>
      </p:sp>
      <p:sp>
        <p:nvSpPr>
          <p:cNvPr id="25" name="Panel 25"/>
          <p:cNvSpPr/>
          <p:nvPr/>
        </p:nvSpPr>
        <p:spPr>
          <a:xfrm>
            <a:off x="10972800" y="0"/>
            <a:ext cx="5486" cy="6858000"/>
          </a:xfrm>
          <a:prstGeom prst="rect">
            <a:avLst/>
          </a:prstGeom>
          <a:solidFill>
            <a:srgbClr val="131B22"/>
          </a:solidFill>
          <a:ln w="9525">
            <a:solidFill>
              <a:srgbClr val="131B22"/>
            </a:solidFill>
          </a:ln>
        </p:spPr>
      </p:sp>
      <p:sp>
        <p:nvSpPr>
          <p:cNvPr id="26" name="Panel 26"/>
          <p:cNvSpPr/>
          <p:nvPr/>
        </p:nvSpPr>
        <p:spPr>
          <a:xfrm>
            <a:off x="11430000" y="0"/>
            <a:ext cx="5486" cy="6858000"/>
          </a:xfrm>
          <a:prstGeom prst="rect">
            <a:avLst/>
          </a:prstGeom>
          <a:solidFill>
            <a:srgbClr val="131B22"/>
          </a:solidFill>
          <a:ln w="9525">
            <a:solidFill>
              <a:srgbClr val="131B22"/>
            </a:solidFill>
          </a:ln>
        </p:spPr>
      </p:sp>
      <p:sp>
        <p:nvSpPr>
          <p:cNvPr id="27" name="Panel 27"/>
          <p:cNvSpPr/>
          <p:nvPr/>
        </p:nvSpPr>
        <p:spPr>
          <a:xfrm>
            <a:off x="11887200" y="0"/>
            <a:ext cx="5486" cy="6858000"/>
          </a:xfrm>
          <a:prstGeom prst="rect">
            <a:avLst/>
          </a:prstGeom>
          <a:solidFill>
            <a:srgbClr val="131B22"/>
          </a:solidFill>
          <a:ln w="9525">
            <a:solidFill>
              <a:srgbClr val="131B22"/>
            </a:solidFill>
          </a:ln>
        </p:spPr>
      </p:sp>
      <p:sp>
        <p:nvSpPr>
          <p:cNvPr id="28" name="Panel 28"/>
          <p:cNvSpPr/>
          <p:nvPr/>
        </p:nvSpPr>
        <p:spPr>
          <a:xfrm>
            <a:off x="0" y="457200"/>
            <a:ext cx="12192000" cy="5486"/>
          </a:xfrm>
          <a:prstGeom prst="rect">
            <a:avLst/>
          </a:prstGeom>
          <a:solidFill>
            <a:srgbClr val="131B22"/>
          </a:solidFill>
          <a:ln w="9525">
            <a:solidFill>
              <a:srgbClr val="131B22"/>
            </a:solidFill>
          </a:ln>
        </p:spPr>
      </p:sp>
      <p:sp>
        <p:nvSpPr>
          <p:cNvPr id="29" name="Panel 29"/>
          <p:cNvSpPr/>
          <p:nvPr/>
        </p:nvSpPr>
        <p:spPr>
          <a:xfrm>
            <a:off x="0" y="914400"/>
            <a:ext cx="12192000" cy="5486"/>
          </a:xfrm>
          <a:prstGeom prst="rect">
            <a:avLst/>
          </a:prstGeom>
          <a:solidFill>
            <a:srgbClr val="131B22"/>
          </a:solidFill>
          <a:ln w="9525">
            <a:solidFill>
              <a:srgbClr val="131B22"/>
            </a:solidFill>
          </a:ln>
        </p:spPr>
      </p:sp>
      <p:sp>
        <p:nvSpPr>
          <p:cNvPr id="30" name="Panel 30"/>
          <p:cNvSpPr/>
          <p:nvPr/>
        </p:nvSpPr>
        <p:spPr>
          <a:xfrm>
            <a:off x="0" y="1371600"/>
            <a:ext cx="12192000" cy="5486"/>
          </a:xfrm>
          <a:prstGeom prst="rect">
            <a:avLst/>
          </a:prstGeom>
          <a:solidFill>
            <a:srgbClr val="131B22"/>
          </a:solidFill>
          <a:ln w="9525">
            <a:solidFill>
              <a:srgbClr val="131B22"/>
            </a:solidFill>
          </a:ln>
        </p:spPr>
      </p:sp>
      <p:sp>
        <p:nvSpPr>
          <p:cNvPr id="31" name="Panel 31"/>
          <p:cNvSpPr/>
          <p:nvPr/>
        </p:nvSpPr>
        <p:spPr>
          <a:xfrm>
            <a:off x="0" y="1828800"/>
            <a:ext cx="12192000" cy="5486"/>
          </a:xfrm>
          <a:prstGeom prst="rect">
            <a:avLst/>
          </a:prstGeom>
          <a:solidFill>
            <a:srgbClr val="131B22"/>
          </a:solidFill>
          <a:ln w="9525">
            <a:solidFill>
              <a:srgbClr val="131B22"/>
            </a:solidFill>
          </a:ln>
        </p:spPr>
      </p:sp>
      <p:sp>
        <p:nvSpPr>
          <p:cNvPr id="32" name="Panel 32"/>
          <p:cNvSpPr/>
          <p:nvPr/>
        </p:nvSpPr>
        <p:spPr>
          <a:xfrm>
            <a:off x="0" y="2286000"/>
            <a:ext cx="12192000" cy="5486"/>
          </a:xfrm>
          <a:prstGeom prst="rect">
            <a:avLst/>
          </a:prstGeom>
          <a:solidFill>
            <a:srgbClr val="131B22"/>
          </a:solidFill>
          <a:ln w="9525">
            <a:solidFill>
              <a:srgbClr val="131B22"/>
            </a:solidFill>
          </a:ln>
        </p:spPr>
      </p:sp>
      <p:sp>
        <p:nvSpPr>
          <p:cNvPr id="33" name="Panel 33"/>
          <p:cNvSpPr/>
          <p:nvPr/>
        </p:nvSpPr>
        <p:spPr>
          <a:xfrm>
            <a:off x="0" y="2743200"/>
            <a:ext cx="12192000" cy="5486"/>
          </a:xfrm>
          <a:prstGeom prst="rect">
            <a:avLst/>
          </a:prstGeom>
          <a:solidFill>
            <a:srgbClr val="131B22"/>
          </a:solidFill>
          <a:ln w="9525">
            <a:solidFill>
              <a:srgbClr val="131B22"/>
            </a:solidFill>
          </a:ln>
        </p:spPr>
      </p:sp>
      <p:sp>
        <p:nvSpPr>
          <p:cNvPr id="34" name="Panel 34"/>
          <p:cNvSpPr/>
          <p:nvPr/>
        </p:nvSpPr>
        <p:spPr>
          <a:xfrm>
            <a:off x="0" y="3200400"/>
            <a:ext cx="12192000" cy="5486"/>
          </a:xfrm>
          <a:prstGeom prst="rect">
            <a:avLst/>
          </a:prstGeom>
          <a:solidFill>
            <a:srgbClr val="131B22"/>
          </a:solidFill>
          <a:ln w="9525">
            <a:solidFill>
              <a:srgbClr val="131B22"/>
            </a:solidFill>
          </a:ln>
        </p:spPr>
      </p:sp>
      <p:sp>
        <p:nvSpPr>
          <p:cNvPr id="35" name="Panel 35"/>
          <p:cNvSpPr/>
          <p:nvPr/>
        </p:nvSpPr>
        <p:spPr>
          <a:xfrm>
            <a:off x="0" y="3657600"/>
            <a:ext cx="12192000" cy="5486"/>
          </a:xfrm>
          <a:prstGeom prst="rect">
            <a:avLst/>
          </a:prstGeom>
          <a:solidFill>
            <a:srgbClr val="131B22"/>
          </a:solidFill>
          <a:ln w="9525">
            <a:solidFill>
              <a:srgbClr val="131B22"/>
            </a:solidFill>
          </a:ln>
        </p:spPr>
      </p:sp>
      <p:sp>
        <p:nvSpPr>
          <p:cNvPr id="36" name="Panel 36"/>
          <p:cNvSpPr/>
          <p:nvPr/>
        </p:nvSpPr>
        <p:spPr>
          <a:xfrm>
            <a:off x="0" y="4114800"/>
            <a:ext cx="12192000" cy="5486"/>
          </a:xfrm>
          <a:prstGeom prst="rect">
            <a:avLst/>
          </a:prstGeom>
          <a:solidFill>
            <a:srgbClr val="131B22"/>
          </a:solidFill>
          <a:ln w="9525">
            <a:solidFill>
              <a:srgbClr val="131B22"/>
            </a:solidFill>
          </a:ln>
        </p:spPr>
      </p:sp>
      <p:sp>
        <p:nvSpPr>
          <p:cNvPr id="37" name="Panel 37"/>
          <p:cNvSpPr/>
          <p:nvPr/>
        </p:nvSpPr>
        <p:spPr>
          <a:xfrm>
            <a:off x="0" y="4572000"/>
            <a:ext cx="12192000" cy="5486"/>
          </a:xfrm>
          <a:prstGeom prst="rect">
            <a:avLst/>
          </a:prstGeom>
          <a:solidFill>
            <a:srgbClr val="131B22"/>
          </a:solidFill>
          <a:ln w="9525">
            <a:solidFill>
              <a:srgbClr val="131B22"/>
            </a:solidFill>
          </a:ln>
        </p:spPr>
      </p:sp>
      <p:sp>
        <p:nvSpPr>
          <p:cNvPr id="38" name="Panel 38"/>
          <p:cNvSpPr/>
          <p:nvPr/>
        </p:nvSpPr>
        <p:spPr>
          <a:xfrm>
            <a:off x="0" y="5029200"/>
            <a:ext cx="12192000" cy="5486"/>
          </a:xfrm>
          <a:prstGeom prst="rect">
            <a:avLst/>
          </a:prstGeom>
          <a:solidFill>
            <a:srgbClr val="131B22"/>
          </a:solidFill>
          <a:ln w="9525">
            <a:solidFill>
              <a:srgbClr val="131B22"/>
            </a:solidFill>
          </a:ln>
        </p:spPr>
      </p:sp>
      <p:sp>
        <p:nvSpPr>
          <p:cNvPr id="39" name="Panel 39"/>
          <p:cNvSpPr/>
          <p:nvPr/>
        </p:nvSpPr>
        <p:spPr>
          <a:xfrm>
            <a:off x="0" y="5486400"/>
            <a:ext cx="12192000" cy="5486"/>
          </a:xfrm>
          <a:prstGeom prst="rect">
            <a:avLst/>
          </a:prstGeom>
          <a:solidFill>
            <a:srgbClr val="131B22"/>
          </a:solidFill>
          <a:ln w="9525">
            <a:solidFill>
              <a:srgbClr val="131B22"/>
            </a:solidFill>
          </a:ln>
        </p:spPr>
      </p:sp>
      <p:sp>
        <p:nvSpPr>
          <p:cNvPr id="40" name="Panel 40"/>
          <p:cNvSpPr/>
          <p:nvPr/>
        </p:nvSpPr>
        <p:spPr>
          <a:xfrm>
            <a:off x="0" y="5943600"/>
            <a:ext cx="12192000" cy="5486"/>
          </a:xfrm>
          <a:prstGeom prst="rect">
            <a:avLst/>
          </a:prstGeom>
          <a:solidFill>
            <a:srgbClr val="131B22"/>
          </a:solidFill>
          <a:ln w="9525">
            <a:solidFill>
              <a:srgbClr val="131B22"/>
            </a:solidFill>
          </a:ln>
        </p:spPr>
      </p:sp>
      <p:sp>
        <p:nvSpPr>
          <p:cNvPr id="41" name="Panel 41"/>
          <p:cNvSpPr/>
          <p:nvPr/>
        </p:nvSpPr>
        <p:spPr>
          <a:xfrm>
            <a:off x="0" y="6400800"/>
            <a:ext cx="12192000" cy="5486"/>
          </a:xfrm>
          <a:prstGeom prst="rect">
            <a:avLst/>
          </a:prstGeom>
          <a:solidFill>
            <a:srgbClr val="131B22"/>
          </a:solidFill>
          <a:ln w="9525">
            <a:solidFill>
              <a:srgbClr val="131B22"/>
            </a:solidFill>
          </a:ln>
        </p:spPr>
      </p:sp>
      <p:sp>
        <p:nvSpPr>
          <p:cNvPr id="42" name="Text 42"/>
          <p:cNvSpPr txBox="1"/>
          <p:nvPr/>
        </p:nvSpPr>
        <p:spPr>
          <a:xfrm>
            <a:off x="594360" y="329184"/>
            <a:ext cx="2743200" cy="320040"/>
          </a:xfrm>
          <a:prstGeom prst="rect">
            <a:avLst/>
          </a:prstGeom>
          <a:noFill/>
          <a:ln>
            <a:noFill/>
          </a:ln>
        </p:spPr>
        <p:txBody>
          <a:bodyPr wrap="square" lIns="0" tIns="0" rIns="0" bIns="0" anchor="t"/>
          <a:lstStyle/>
          <a:p>
            <a:pPr/>
            <a:r>
              <a:rPr lang="en-US" sz="2200" b="1">
                <a:solidFill>
                  <a:srgbClr val="FFB1C4"/>
                </a:solidFill>
                <a:latin typeface="Space Grotesk"/>
              </a:rPr>
              <a:t>Paiflow</a:t>
            </a:r>
            <a:endParaRPr lang="en-US" sz="2200"/>
          </a:p>
        </p:txBody>
      </p:sp>
      <p:sp>
        <p:nvSpPr>
          <p:cNvPr id="43" name="Text 43"/>
          <p:cNvSpPr txBox="1"/>
          <p:nvPr/>
        </p:nvSpPr>
        <p:spPr>
          <a:xfrm>
            <a:off x="7498080" y="393192"/>
            <a:ext cx="4114800" cy="228600"/>
          </a:xfrm>
          <a:prstGeom prst="rect">
            <a:avLst/>
          </a:prstGeom>
          <a:noFill/>
          <a:ln>
            <a:noFill/>
          </a:ln>
        </p:spPr>
        <p:txBody>
          <a:bodyPr wrap="square" lIns="0" tIns="0" rIns="0" bIns="0" anchor="t"/>
          <a:lstStyle/>
          <a:p>
            <a:pPr/>
            <a:r>
              <a:rPr lang="en-US" sz="1100" b="0">
                <a:solidFill>
                  <a:srgbClr val="98CBFF"/>
                </a:solidFill>
                <a:latin typeface="JetBrains Mono"/>
              </a:rPr>
              <a:t>VISUAL PAYMENT FLOWS</a:t>
            </a:r>
            <a:endParaRPr lang="en-US" sz="1100"/>
          </a:p>
        </p:txBody>
      </p:sp>
      <p:sp>
        <p:nvSpPr>
          <p:cNvPr id="44" name="Panel 44"/>
          <p:cNvSpPr/>
          <p:nvPr/>
        </p:nvSpPr>
        <p:spPr>
          <a:xfrm>
            <a:off x="594360" y="6345936"/>
            <a:ext cx="10972800" cy="10973"/>
          </a:xfrm>
          <a:prstGeom prst="rect">
            <a:avLst/>
          </a:prstGeom>
          <a:solidFill>
            <a:srgbClr val="5C3F46"/>
          </a:solidFill>
          <a:ln w="9525">
            <a:solidFill>
              <a:srgbClr val="5C3F46"/>
            </a:solidFill>
          </a:ln>
        </p:spPr>
      </p:sp>
      <p:sp>
        <p:nvSpPr>
          <p:cNvPr id="45" name="Text 45"/>
          <p:cNvSpPr txBox="1"/>
          <p:nvPr/>
        </p:nvSpPr>
        <p:spPr>
          <a:xfrm>
            <a:off x="594360" y="6473952"/>
            <a:ext cx="9144000" cy="182880"/>
          </a:xfrm>
          <a:prstGeom prst="rect">
            <a:avLst/>
          </a:prstGeom>
          <a:noFill/>
          <a:ln>
            <a:noFill/>
          </a:ln>
        </p:spPr>
        <p:txBody>
          <a:bodyPr wrap="square" lIns="0" tIns="0" rIns="0" bIns="0" anchor="t"/>
          <a:lstStyle/>
          <a:p>
            <a:pPr/>
            <a:r>
              <a:rPr lang="en-US" sz="1000" b="0">
                <a:solidFill>
                  <a:srgbClr val="A8A3A6"/>
                </a:solidFill>
                <a:latin typeface="JetBrains Mono"/>
              </a:rPr>
              <a:t>InstaAwards Builder Showcase  /  08 OCT 2026  /  Stellar testnet</a:t>
            </a:r>
            <a:endParaRPr lang="en-US" sz="1000"/>
          </a:p>
        </p:txBody>
      </p:sp>
      <p:sp>
        <p:nvSpPr>
          <p:cNvPr id="46" name="Text 46"/>
          <p:cNvSpPr txBox="1"/>
          <p:nvPr/>
        </p:nvSpPr>
        <p:spPr>
          <a:xfrm>
            <a:off x="10972800" y="6455664"/>
            <a:ext cx="548640" cy="228600"/>
          </a:xfrm>
          <a:prstGeom prst="rect">
            <a:avLst/>
          </a:prstGeom>
          <a:noFill/>
          <a:ln>
            <a:noFill/>
          </a:ln>
        </p:spPr>
        <p:txBody>
          <a:bodyPr wrap="square" lIns="0" tIns="0" rIns="0" bIns="0" anchor="t"/>
          <a:lstStyle/>
          <a:p>
            <a:pPr/>
            <a:r>
              <a:rPr lang="en-US" sz="1100" b="0">
                <a:solidFill>
                  <a:srgbClr val="FFB1C4"/>
                </a:solidFill>
                <a:latin typeface="JetBrains Mono"/>
              </a:rPr>
              <a:t>01</a:t>
            </a:r>
            <a:endParaRPr lang="en-US" sz="1100"/>
          </a:p>
        </p:txBody>
      </p:sp>
      <p:sp>
        <p:nvSpPr>
          <p:cNvPr id="47" name="Text 47"/>
          <p:cNvSpPr txBox="1"/>
          <p:nvPr/>
        </p:nvSpPr>
        <p:spPr>
          <a:xfrm>
            <a:off x="594360" y="1097280"/>
            <a:ext cx="10789920" cy="1463040"/>
          </a:xfrm>
          <a:prstGeom prst="rect">
            <a:avLst/>
          </a:prstGeom>
          <a:noFill/>
          <a:ln>
            <a:noFill/>
          </a:ln>
        </p:spPr>
        <p:txBody>
          <a:bodyPr wrap="square" lIns="0" tIns="0" rIns="0" bIns="0" anchor="t"/>
          <a:lstStyle/>
          <a:p>
            <a:pPr/>
            <a:r>
              <a:rPr lang="en-US" sz="4800" b="1">
                <a:solidFill>
                  <a:srgbClr val="E5E2E1"/>
                </a:solidFill>
                <a:latin typeface="Space Grotesk"/>
              </a:rPr>
              <a:t>Draw how money moves.</a:t>
            </a:r>
            <a:endParaRPr lang="en-US" sz="4800"/>
          </a:p>
        </p:txBody>
      </p:sp>
      <p:sp>
        <p:nvSpPr>
          <p:cNvPr id="48" name="Text 48"/>
          <p:cNvSpPr txBox="1"/>
          <p:nvPr/>
        </p:nvSpPr>
        <p:spPr>
          <a:xfrm>
            <a:off x="594360" y="2240280"/>
            <a:ext cx="10789920" cy="640080"/>
          </a:xfrm>
          <a:prstGeom prst="rect">
            <a:avLst/>
          </a:prstGeom>
          <a:noFill/>
          <a:ln>
            <a:noFill/>
          </a:ln>
        </p:spPr>
        <p:txBody>
          <a:bodyPr wrap="square" lIns="0" tIns="0" rIns="0" bIns="0" anchor="t"/>
          <a:lstStyle/>
          <a:p>
            <a:pPr/>
            <a:r>
              <a:rPr lang="en-US" sz="3200" b="1">
                <a:solidFill>
                  <a:srgbClr val="FFB1C4"/>
                </a:solidFill>
                <a:latin typeface="Space Grotesk"/>
              </a:rPr>
              <a:t>Drag. Drop. Deploy.</a:t>
            </a:r>
            <a:endParaRPr lang="en-US" sz="3200"/>
          </a:p>
        </p:txBody>
      </p:sp>
      <p:sp>
        <p:nvSpPr>
          <p:cNvPr id="49" name="Text 49"/>
          <p:cNvSpPr txBox="1"/>
          <p:nvPr/>
        </p:nvSpPr>
        <p:spPr>
          <a:xfrm>
            <a:off x="594360" y="3035808"/>
            <a:ext cx="9966960" cy="731520"/>
          </a:xfrm>
          <a:prstGeom prst="rect">
            <a:avLst/>
          </a:prstGeom>
          <a:noFill/>
          <a:ln>
            <a:noFill/>
          </a:ln>
        </p:spPr>
        <p:txBody>
          <a:bodyPr wrap="square" lIns="0" tIns="0" rIns="0" bIns="0" anchor="t"/>
          <a:lstStyle/>
          <a:p>
            <a:pPr/>
            <a:r>
              <a:rPr lang="en-US" sz="2500" b="0">
                <a:solidFill>
                  <a:srgbClr val="E5E2E1"/>
                </a:solidFill>
                <a:latin typeface="Geist"/>
              </a:rPr>
              <a:t>Turn a visual payment flow into Stellar smart contracts,</a:t>
            </a:r>
            <a:endParaRPr lang="en-US" sz="2500"/>
          </a:p>
          <a:p>
            <a:pPr/>
            <a:r>
              <a:rPr lang="en-US" sz="2500" b="0">
                <a:solidFill>
                  <a:srgbClr val="E5E2E1"/>
                </a:solidFill>
                <a:latin typeface="Geist"/>
              </a:rPr>
              <a:t>signed with your own wallet.</a:t>
            </a:r>
            <a:endParaRPr lang="en-US" sz="2500"/>
          </a:p>
        </p:txBody>
      </p:sp>
      <p:sp>
        <p:nvSpPr>
          <p:cNvPr id="50" name="Panel 50"/>
          <p:cNvSpPr/>
          <p:nvPr/>
        </p:nvSpPr>
        <p:spPr>
          <a:xfrm>
            <a:off x="594360" y="4270248"/>
            <a:ext cx="3383280" cy="1033272"/>
          </a:xfrm>
          <a:prstGeom prst="rect">
            <a:avLst/>
          </a:prstGeom>
          <a:solidFill>
            <a:srgbClr val="1C1B1B"/>
          </a:solidFill>
          <a:ln w="9525">
            <a:solidFill>
              <a:srgbClr val="5C3F46"/>
            </a:solidFill>
          </a:ln>
        </p:spPr>
      </p:sp>
      <p:sp>
        <p:nvSpPr>
          <p:cNvPr id="51" name="Text 51"/>
          <p:cNvSpPr txBox="1"/>
          <p:nvPr/>
        </p:nvSpPr>
        <p:spPr>
          <a:xfrm>
            <a:off x="804672" y="4434840"/>
            <a:ext cx="2926080" cy="365760"/>
          </a:xfrm>
          <a:prstGeom prst="rect">
            <a:avLst/>
          </a:prstGeom>
          <a:noFill/>
          <a:ln>
            <a:noFill/>
          </a:ln>
        </p:spPr>
        <p:txBody>
          <a:bodyPr wrap="square" lIns="0" tIns="0" rIns="0" bIns="0" anchor="t"/>
          <a:lstStyle/>
          <a:p>
            <a:pPr/>
            <a:r>
              <a:rPr lang="en-US" sz="2400" b="1">
                <a:solidFill>
                  <a:srgbClr val="98CBFF"/>
                </a:solidFill>
                <a:latin typeface="Space Grotesk"/>
              </a:rPr>
              <a:t>Receive</a:t>
            </a:r>
            <a:endParaRPr lang="en-US" sz="2400"/>
          </a:p>
        </p:txBody>
      </p:sp>
      <p:sp>
        <p:nvSpPr>
          <p:cNvPr id="52" name="Text 52"/>
          <p:cNvSpPr txBox="1"/>
          <p:nvPr/>
        </p:nvSpPr>
        <p:spPr>
          <a:xfrm>
            <a:off x="804672" y="4882896"/>
            <a:ext cx="2926080" cy="274320"/>
          </a:xfrm>
          <a:prstGeom prst="rect">
            <a:avLst/>
          </a:prstGeom>
          <a:noFill/>
          <a:ln>
            <a:noFill/>
          </a:ln>
        </p:spPr>
        <p:txBody>
          <a:bodyPr wrap="square" lIns="0" tIns="0" rIns="0" bIns="0" anchor="t"/>
          <a:lstStyle/>
          <a:p>
            <a:pPr/>
            <a:r>
              <a:rPr lang="en-US" sz="1500" b="0">
                <a:solidFill>
                  <a:srgbClr val="A8A3A6"/>
                </a:solidFill>
                <a:latin typeface="Geist"/>
              </a:rPr>
              <a:t>XLM enters the flow</a:t>
            </a:r>
            <a:endParaRPr lang="en-US" sz="1500"/>
          </a:p>
        </p:txBody>
      </p:sp>
      <p:sp>
        <p:nvSpPr>
          <p:cNvPr id="53" name="Panel 53"/>
          <p:cNvSpPr/>
          <p:nvPr/>
        </p:nvSpPr>
        <p:spPr>
          <a:xfrm>
            <a:off x="4389120" y="4270248"/>
            <a:ext cx="3383280" cy="1033272"/>
          </a:xfrm>
          <a:prstGeom prst="rect">
            <a:avLst/>
          </a:prstGeom>
          <a:solidFill>
            <a:srgbClr val="1C1B1B"/>
          </a:solidFill>
          <a:ln w="9525">
            <a:solidFill>
              <a:srgbClr val="5C3F46"/>
            </a:solidFill>
          </a:ln>
        </p:spPr>
      </p:sp>
      <p:sp>
        <p:nvSpPr>
          <p:cNvPr id="54" name="Text 54"/>
          <p:cNvSpPr txBox="1"/>
          <p:nvPr/>
        </p:nvSpPr>
        <p:spPr>
          <a:xfrm>
            <a:off x="4599432" y="4434840"/>
            <a:ext cx="2926080" cy="365760"/>
          </a:xfrm>
          <a:prstGeom prst="rect">
            <a:avLst/>
          </a:prstGeom>
          <a:noFill/>
          <a:ln>
            <a:noFill/>
          </a:ln>
        </p:spPr>
        <p:txBody>
          <a:bodyPr wrap="square" lIns="0" tIns="0" rIns="0" bIns="0" anchor="t"/>
          <a:lstStyle/>
          <a:p>
            <a:pPr/>
            <a:r>
              <a:rPr lang="en-US" sz="2400" b="1">
                <a:solidFill>
                  <a:srgbClr val="FFB1C4"/>
                </a:solidFill>
                <a:latin typeface="Space Grotesk"/>
              </a:rPr>
              <a:t>Swap</a:t>
            </a:r>
            <a:endParaRPr lang="en-US" sz="2400"/>
          </a:p>
        </p:txBody>
      </p:sp>
      <p:sp>
        <p:nvSpPr>
          <p:cNvPr id="55" name="Text 55"/>
          <p:cNvSpPr txBox="1"/>
          <p:nvPr/>
        </p:nvSpPr>
        <p:spPr>
          <a:xfrm>
            <a:off x="4599432" y="4882896"/>
            <a:ext cx="2926080" cy="274320"/>
          </a:xfrm>
          <a:prstGeom prst="rect">
            <a:avLst/>
          </a:prstGeom>
          <a:noFill/>
          <a:ln>
            <a:noFill/>
          </a:ln>
        </p:spPr>
        <p:txBody>
          <a:bodyPr wrap="square" lIns="0" tIns="0" rIns="0" bIns="0" anchor="t"/>
          <a:lstStyle/>
          <a:p>
            <a:pPr/>
            <a:r>
              <a:rPr lang="en-US" sz="1500" b="0">
                <a:solidFill>
                  <a:srgbClr val="A8A3A6"/>
                </a:solidFill>
                <a:latin typeface="Geist"/>
              </a:rPr>
              <a:t>Soroswap converts it</a:t>
            </a:r>
            <a:endParaRPr lang="en-US" sz="1500"/>
          </a:p>
        </p:txBody>
      </p:sp>
      <p:sp>
        <p:nvSpPr>
          <p:cNvPr id="56" name="Panel 56"/>
          <p:cNvSpPr/>
          <p:nvPr/>
        </p:nvSpPr>
        <p:spPr>
          <a:xfrm>
            <a:off x="8183880" y="4270248"/>
            <a:ext cx="3383280" cy="1033272"/>
          </a:xfrm>
          <a:prstGeom prst="rect">
            <a:avLst/>
          </a:prstGeom>
          <a:solidFill>
            <a:srgbClr val="1C1B1B"/>
          </a:solidFill>
          <a:ln w="9525">
            <a:solidFill>
              <a:srgbClr val="5C3F46"/>
            </a:solidFill>
          </a:ln>
        </p:spPr>
      </p:sp>
      <p:sp>
        <p:nvSpPr>
          <p:cNvPr id="57" name="Text 57"/>
          <p:cNvSpPr txBox="1"/>
          <p:nvPr/>
        </p:nvSpPr>
        <p:spPr>
          <a:xfrm>
            <a:off x="8394192" y="4434840"/>
            <a:ext cx="2926080" cy="365760"/>
          </a:xfrm>
          <a:prstGeom prst="rect">
            <a:avLst/>
          </a:prstGeom>
          <a:noFill/>
          <a:ln>
            <a:noFill/>
          </a:ln>
        </p:spPr>
        <p:txBody>
          <a:bodyPr wrap="square" lIns="0" tIns="0" rIns="0" bIns="0" anchor="t"/>
          <a:lstStyle/>
          <a:p>
            <a:pPr/>
            <a:r>
              <a:rPr lang="en-US" sz="2400" b="1">
                <a:solidFill>
                  <a:srgbClr val="FFB1C4"/>
                </a:solidFill>
                <a:latin typeface="Space Grotesk"/>
              </a:rPr>
              <a:t>Pay</a:t>
            </a:r>
            <a:endParaRPr lang="en-US" sz="2400"/>
          </a:p>
        </p:txBody>
      </p:sp>
      <p:sp>
        <p:nvSpPr>
          <p:cNvPr id="58" name="Text 58"/>
          <p:cNvSpPr txBox="1"/>
          <p:nvPr/>
        </p:nvSpPr>
        <p:spPr>
          <a:xfrm>
            <a:off x="8394192" y="4882896"/>
            <a:ext cx="2926080" cy="274320"/>
          </a:xfrm>
          <a:prstGeom prst="rect">
            <a:avLst/>
          </a:prstGeom>
          <a:noFill/>
          <a:ln>
            <a:noFill/>
          </a:ln>
        </p:spPr>
        <p:txBody>
          <a:bodyPr wrap="square" lIns="0" tIns="0" rIns="0" bIns="0" anchor="t"/>
          <a:lstStyle/>
          <a:p>
            <a:pPr/>
            <a:r>
              <a:rPr lang="en-US" sz="1500" b="0">
                <a:solidFill>
                  <a:srgbClr val="A8A3A6"/>
                </a:solidFill>
                <a:latin typeface="Geist"/>
              </a:rPr>
              <a:t>USDC reaches a recipient</a:t>
            </a:r>
            <a:endParaRPr lang="en-US" sz="1500"/>
          </a:p>
        </p:txBody>
      </p:sp>
      <p:sp>
        <p:nvSpPr>
          <p:cNvPr id="59" name="Text 59"/>
          <p:cNvSpPr txBox="1"/>
          <p:nvPr/>
        </p:nvSpPr>
        <p:spPr>
          <a:xfrm>
            <a:off x="594360" y="5669280"/>
            <a:ext cx="10058400" cy="274320"/>
          </a:xfrm>
          <a:prstGeom prst="rect">
            <a:avLst/>
          </a:prstGeom>
          <a:noFill/>
          <a:ln>
            <a:noFill/>
          </a:ln>
        </p:spPr>
        <p:txBody>
          <a:bodyPr wrap="square" lIns="0" tIns="0" rIns="0" bIns="0" anchor="t"/>
          <a:lstStyle/>
          <a:p>
            <a:pPr/>
            <a:r>
              <a:rPr lang="en-US" sz="1600" b="0">
                <a:solidFill>
                  <a:srgbClr val="A8A3A6"/>
                </a:solidFill>
                <a:latin typeface="Geist"/>
              </a:rPr>
              <a:t>Mychal Andres B. Pejana  /  paiflow.xyz</a:t>
            </a:r>
            <a:endParaRPr lang="en-US" sz="16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E0E0E"/>
        </a:solidFill>
        <a:effectLst/>
      </p:bgPr>
    </p:bg>
    <p:spTree>
      <p:nvGrpSpPr>
        <p:cNvPr id="1" name=""/>
        <p:cNvGrpSpPr/>
        <p:nvPr/>
      </p:nvGrpSpPr>
      <p:grpSpPr>
        <a:xfrm>
          <a:off x="0" y="0"/>
          <a:ext cx="0" cy="0"/>
          <a:chOff x="0" y="0"/>
          <a:chExt cx="0" cy="0"/>
        </a:xfrm>
      </p:grpSpPr>
      <p:sp>
        <p:nvSpPr>
          <p:cNvPr id="2" name="Panel 2"/>
          <p:cNvSpPr/>
          <p:nvPr/>
        </p:nvSpPr>
        <p:spPr>
          <a:xfrm>
            <a:off x="457200" y="0"/>
            <a:ext cx="5486" cy="6858000"/>
          </a:xfrm>
          <a:prstGeom prst="rect">
            <a:avLst/>
          </a:prstGeom>
          <a:solidFill>
            <a:srgbClr val="131B22"/>
          </a:solidFill>
          <a:ln w="9525">
            <a:solidFill>
              <a:srgbClr val="131B22"/>
            </a:solidFill>
          </a:ln>
        </p:spPr>
      </p:sp>
      <p:sp>
        <p:nvSpPr>
          <p:cNvPr id="3" name="Panel 3"/>
          <p:cNvSpPr/>
          <p:nvPr/>
        </p:nvSpPr>
        <p:spPr>
          <a:xfrm>
            <a:off x="914400" y="0"/>
            <a:ext cx="5486" cy="6858000"/>
          </a:xfrm>
          <a:prstGeom prst="rect">
            <a:avLst/>
          </a:prstGeom>
          <a:solidFill>
            <a:srgbClr val="131B22"/>
          </a:solidFill>
          <a:ln w="9525">
            <a:solidFill>
              <a:srgbClr val="131B22"/>
            </a:solidFill>
          </a:ln>
        </p:spPr>
      </p:sp>
      <p:sp>
        <p:nvSpPr>
          <p:cNvPr id="4" name="Panel 4"/>
          <p:cNvSpPr/>
          <p:nvPr/>
        </p:nvSpPr>
        <p:spPr>
          <a:xfrm>
            <a:off x="1371600" y="0"/>
            <a:ext cx="5486" cy="6858000"/>
          </a:xfrm>
          <a:prstGeom prst="rect">
            <a:avLst/>
          </a:prstGeom>
          <a:solidFill>
            <a:srgbClr val="131B22"/>
          </a:solidFill>
          <a:ln w="9525">
            <a:solidFill>
              <a:srgbClr val="131B22"/>
            </a:solidFill>
          </a:ln>
        </p:spPr>
      </p:sp>
      <p:sp>
        <p:nvSpPr>
          <p:cNvPr id="5" name="Panel 5"/>
          <p:cNvSpPr/>
          <p:nvPr/>
        </p:nvSpPr>
        <p:spPr>
          <a:xfrm>
            <a:off x="1828800" y="0"/>
            <a:ext cx="5486" cy="6858000"/>
          </a:xfrm>
          <a:prstGeom prst="rect">
            <a:avLst/>
          </a:prstGeom>
          <a:solidFill>
            <a:srgbClr val="131B22"/>
          </a:solidFill>
          <a:ln w="9525">
            <a:solidFill>
              <a:srgbClr val="131B22"/>
            </a:solidFill>
          </a:ln>
        </p:spPr>
      </p:sp>
      <p:sp>
        <p:nvSpPr>
          <p:cNvPr id="6" name="Panel 6"/>
          <p:cNvSpPr/>
          <p:nvPr/>
        </p:nvSpPr>
        <p:spPr>
          <a:xfrm>
            <a:off x="2286000" y="0"/>
            <a:ext cx="5486" cy="6858000"/>
          </a:xfrm>
          <a:prstGeom prst="rect">
            <a:avLst/>
          </a:prstGeom>
          <a:solidFill>
            <a:srgbClr val="131B22"/>
          </a:solidFill>
          <a:ln w="9525">
            <a:solidFill>
              <a:srgbClr val="131B22"/>
            </a:solidFill>
          </a:ln>
        </p:spPr>
      </p:sp>
      <p:sp>
        <p:nvSpPr>
          <p:cNvPr id="7" name="Panel 7"/>
          <p:cNvSpPr/>
          <p:nvPr/>
        </p:nvSpPr>
        <p:spPr>
          <a:xfrm>
            <a:off x="2743200" y="0"/>
            <a:ext cx="5486" cy="6858000"/>
          </a:xfrm>
          <a:prstGeom prst="rect">
            <a:avLst/>
          </a:prstGeom>
          <a:solidFill>
            <a:srgbClr val="131B22"/>
          </a:solidFill>
          <a:ln w="9525">
            <a:solidFill>
              <a:srgbClr val="131B22"/>
            </a:solidFill>
          </a:ln>
        </p:spPr>
      </p:sp>
      <p:sp>
        <p:nvSpPr>
          <p:cNvPr id="8" name="Panel 8"/>
          <p:cNvSpPr/>
          <p:nvPr/>
        </p:nvSpPr>
        <p:spPr>
          <a:xfrm>
            <a:off x="3200400" y="0"/>
            <a:ext cx="5486" cy="6858000"/>
          </a:xfrm>
          <a:prstGeom prst="rect">
            <a:avLst/>
          </a:prstGeom>
          <a:solidFill>
            <a:srgbClr val="131B22"/>
          </a:solidFill>
          <a:ln w="9525">
            <a:solidFill>
              <a:srgbClr val="131B22"/>
            </a:solidFill>
          </a:ln>
        </p:spPr>
      </p:sp>
      <p:sp>
        <p:nvSpPr>
          <p:cNvPr id="9" name="Panel 9"/>
          <p:cNvSpPr/>
          <p:nvPr/>
        </p:nvSpPr>
        <p:spPr>
          <a:xfrm>
            <a:off x="3657600" y="0"/>
            <a:ext cx="5486" cy="6858000"/>
          </a:xfrm>
          <a:prstGeom prst="rect">
            <a:avLst/>
          </a:prstGeom>
          <a:solidFill>
            <a:srgbClr val="131B22"/>
          </a:solidFill>
          <a:ln w="9525">
            <a:solidFill>
              <a:srgbClr val="131B22"/>
            </a:solidFill>
          </a:ln>
        </p:spPr>
      </p:sp>
      <p:sp>
        <p:nvSpPr>
          <p:cNvPr id="10" name="Panel 10"/>
          <p:cNvSpPr/>
          <p:nvPr/>
        </p:nvSpPr>
        <p:spPr>
          <a:xfrm>
            <a:off x="4114800" y="0"/>
            <a:ext cx="5486" cy="6858000"/>
          </a:xfrm>
          <a:prstGeom prst="rect">
            <a:avLst/>
          </a:prstGeom>
          <a:solidFill>
            <a:srgbClr val="131B22"/>
          </a:solidFill>
          <a:ln w="9525">
            <a:solidFill>
              <a:srgbClr val="131B22"/>
            </a:solidFill>
          </a:ln>
        </p:spPr>
      </p:sp>
      <p:sp>
        <p:nvSpPr>
          <p:cNvPr id="11" name="Panel 11"/>
          <p:cNvSpPr/>
          <p:nvPr/>
        </p:nvSpPr>
        <p:spPr>
          <a:xfrm>
            <a:off x="4572000" y="0"/>
            <a:ext cx="5486" cy="6858000"/>
          </a:xfrm>
          <a:prstGeom prst="rect">
            <a:avLst/>
          </a:prstGeom>
          <a:solidFill>
            <a:srgbClr val="131B22"/>
          </a:solidFill>
          <a:ln w="9525">
            <a:solidFill>
              <a:srgbClr val="131B22"/>
            </a:solidFill>
          </a:ln>
        </p:spPr>
      </p:sp>
      <p:sp>
        <p:nvSpPr>
          <p:cNvPr id="12" name="Panel 12"/>
          <p:cNvSpPr/>
          <p:nvPr/>
        </p:nvSpPr>
        <p:spPr>
          <a:xfrm>
            <a:off x="5029200" y="0"/>
            <a:ext cx="5486" cy="6858000"/>
          </a:xfrm>
          <a:prstGeom prst="rect">
            <a:avLst/>
          </a:prstGeom>
          <a:solidFill>
            <a:srgbClr val="131B22"/>
          </a:solidFill>
          <a:ln w="9525">
            <a:solidFill>
              <a:srgbClr val="131B22"/>
            </a:solidFill>
          </a:ln>
        </p:spPr>
      </p:sp>
      <p:sp>
        <p:nvSpPr>
          <p:cNvPr id="13" name="Panel 13"/>
          <p:cNvSpPr/>
          <p:nvPr/>
        </p:nvSpPr>
        <p:spPr>
          <a:xfrm>
            <a:off x="5486400" y="0"/>
            <a:ext cx="5486" cy="6858000"/>
          </a:xfrm>
          <a:prstGeom prst="rect">
            <a:avLst/>
          </a:prstGeom>
          <a:solidFill>
            <a:srgbClr val="131B22"/>
          </a:solidFill>
          <a:ln w="9525">
            <a:solidFill>
              <a:srgbClr val="131B22"/>
            </a:solidFill>
          </a:ln>
        </p:spPr>
      </p:sp>
      <p:sp>
        <p:nvSpPr>
          <p:cNvPr id="14" name="Panel 14"/>
          <p:cNvSpPr/>
          <p:nvPr/>
        </p:nvSpPr>
        <p:spPr>
          <a:xfrm>
            <a:off x="5943600" y="0"/>
            <a:ext cx="5486" cy="6858000"/>
          </a:xfrm>
          <a:prstGeom prst="rect">
            <a:avLst/>
          </a:prstGeom>
          <a:solidFill>
            <a:srgbClr val="131B22"/>
          </a:solidFill>
          <a:ln w="9525">
            <a:solidFill>
              <a:srgbClr val="131B22"/>
            </a:solidFill>
          </a:ln>
        </p:spPr>
      </p:sp>
      <p:sp>
        <p:nvSpPr>
          <p:cNvPr id="15" name="Panel 15"/>
          <p:cNvSpPr/>
          <p:nvPr/>
        </p:nvSpPr>
        <p:spPr>
          <a:xfrm>
            <a:off x="6400800" y="0"/>
            <a:ext cx="5486" cy="6858000"/>
          </a:xfrm>
          <a:prstGeom prst="rect">
            <a:avLst/>
          </a:prstGeom>
          <a:solidFill>
            <a:srgbClr val="131B22"/>
          </a:solidFill>
          <a:ln w="9525">
            <a:solidFill>
              <a:srgbClr val="131B22"/>
            </a:solidFill>
          </a:ln>
        </p:spPr>
      </p:sp>
      <p:sp>
        <p:nvSpPr>
          <p:cNvPr id="16" name="Panel 16"/>
          <p:cNvSpPr/>
          <p:nvPr/>
        </p:nvSpPr>
        <p:spPr>
          <a:xfrm>
            <a:off x="6858000" y="0"/>
            <a:ext cx="5486" cy="6858000"/>
          </a:xfrm>
          <a:prstGeom prst="rect">
            <a:avLst/>
          </a:prstGeom>
          <a:solidFill>
            <a:srgbClr val="131B22"/>
          </a:solidFill>
          <a:ln w="9525">
            <a:solidFill>
              <a:srgbClr val="131B22"/>
            </a:solidFill>
          </a:ln>
        </p:spPr>
      </p:sp>
      <p:sp>
        <p:nvSpPr>
          <p:cNvPr id="17" name="Panel 17"/>
          <p:cNvSpPr/>
          <p:nvPr/>
        </p:nvSpPr>
        <p:spPr>
          <a:xfrm>
            <a:off x="7315200" y="0"/>
            <a:ext cx="5486" cy="6858000"/>
          </a:xfrm>
          <a:prstGeom prst="rect">
            <a:avLst/>
          </a:prstGeom>
          <a:solidFill>
            <a:srgbClr val="131B22"/>
          </a:solidFill>
          <a:ln w="9525">
            <a:solidFill>
              <a:srgbClr val="131B22"/>
            </a:solidFill>
          </a:ln>
        </p:spPr>
      </p:sp>
      <p:sp>
        <p:nvSpPr>
          <p:cNvPr id="18" name="Panel 18"/>
          <p:cNvSpPr/>
          <p:nvPr/>
        </p:nvSpPr>
        <p:spPr>
          <a:xfrm>
            <a:off x="7772400" y="0"/>
            <a:ext cx="5486" cy="6858000"/>
          </a:xfrm>
          <a:prstGeom prst="rect">
            <a:avLst/>
          </a:prstGeom>
          <a:solidFill>
            <a:srgbClr val="131B22"/>
          </a:solidFill>
          <a:ln w="9525">
            <a:solidFill>
              <a:srgbClr val="131B22"/>
            </a:solidFill>
          </a:ln>
        </p:spPr>
      </p:sp>
      <p:sp>
        <p:nvSpPr>
          <p:cNvPr id="19" name="Panel 19"/>
          <p:cNvSpPr/>
          <p:nvPr/>
        </p:nvSpPr>
        <p:spPr>
          <a:xfrm>
            <a:off x="8229600" y="0"/>
            <a:ext cx="5486" cy="6858000"/>
          </a:xfrm>
          <a:prstGeom prst="rect">
            <a:avLst/>
          </a:prstGeom>
          <a:solidFill>
            <a:srgbClr val="131B22"/>
          </a:solidFill>
          <a:ln w="9525">
            <a:solidFill>
              <a:srgbClr val="131B22"/>
            </a:solidFill>
          </a:ln>
        </p:spPr>
      </p:sp>
      <p:sp>
        <p:nvSpPr>
          <p:cNvPr id="20" name="Panel 20"/>
          <p:cNvSpPr/>
          <p:nvPr/>
        </p:nvSpPr>
        <p:spPr>
          <a:xfrm>
            <a:off x="8686800" y="0"/>
            <a:ext cx="5486" cy="6858000"/>
          </a:xfrm>
          <a:prstGeom prst="rect">
            <a:avLst/>
          </a:prstGeom>
          <a:solidFill>
            <a:srgbClr val="131B22"/>
          </a:solidFill>
          <a:ln w="9525">
            <a:solidFill>
              <a:srgbClr val="131B22"/>
            </a:solidFill>
          </a:ln>
        </p:spPr>
      </p:sp>
      <p:sp>
        <p:nvSpPr>
          <p:cNvPr id="21" name="Panel 21"/>
          <p:cNvSpPr/>
          <p:nvPr/>
        </p:nvSpPr>
        <p:spPr>
          <a:xfrm>
            <a:off x="9144000" y="0"/>
            <a:ext cx="5486" cy="6858000"/>
          </a:xfrm>
          <a:prstGeom prst="rect">
            <a:avLst/>
          </a:prstGeom>
          <a:solidFill>
            <a:srgbClr val="131B22"/>
          </a:solidFill>
          <a:ln w="9525">
            <a:solidFill>
              <a:srgbClr val="131B22"/>
            </a:solidFill>
          </a:ln>
        </p:spPr>
      </p:sp>
      <p:sp>
        <p:nvSpPr>
          <p:cNvPr id="22" name="Panel 22"/>
          <p:cNvSpPr/>
          <p:nvPr/>
        </p:nvSpPr>
        <p:spPr>
          <a:xfrm>
            <a:off x="9601200" y="0"/>
            <a:ext cx="5486" cy="6858000"/>
          </a:xfrm>
          <a:prstGeom prst="rect">
            <a:avLst/>
          </a:prstGeom>
          <a:solidFill>
            <a:srgbClr val="131B22"/>
          </a:solidFill>
          <a:ln w="9525">
            <a:solidFill>
              <a:srgbClr val="131B22"/>
            </a:solidFill>
          </a:ln>
        </p:spPr>
      </p:sp>
      <p:sp>
        <p:nvSpPr>
          <p:cNvPr id="23" name="Panel 23"/>
          <p:cNvSpPr/>
          <p:nvPr/>
        </p:nvSpPr>
        <p:spPr>
          <a:xfrm>
            <a:off x="10058400" y="0"/>
            <a:ext cx="5486" cy="6858000"/>
          </a:xfrm>
          <a:prstGeom prst="rect">
            <a:avLst/>
          </a:prstGeom>
          <a:solidFill>
            <a:srgbClr val="131B22"/>
          </a:solidFill>
          <a:ln w="9525">
            <a:solidFill>
              <a:srgbClr val="131B22"/>
            </a:solidFill>
          </a:ln>
        </p:spPr>
      </p:sp>
      <p:sp>
        <p:nvSpPr>
          <p:cNvPr id="24" name="Panel 24"/>
          <p:cNvSpPr/>
          <p:nvPr/>
        </p:nvSpPr>
        <p:spPr>
          <a:xfrm>
            <a:off x="10515600" y="0"/>
            <a:ext cx="5486" cy="6858000"/>
          </a:xfrm>
          <a:prstGeom prst="rect">
            <a:avLst/>
          </a:prstGeom>
          <a:solidFill>
            <a:srgbClr val="131B22"/>
          </a:solidFill>
          <a:ln w="9525">
            <a:solidFill>
              <a:srgbClr val="131B22"/>
            </a:solidFill>
          </a:ln>
        </p:spPr>
      </p:sp>
      <p:sp>
        <p:nvSpPr>
          <p:cNvPr id="25" name="Panel 25"/>
          <p:cNvSpPr/>
          <p:nvPr/>
        </p:nvSpPr>
        <p:spPr>
          <a:xfrm>
            <a:off x="10972800" y="0"/>
            <a:ext cx="5486" cy="6858000"/>
          </a:xfrm>
          <a:prstGeom prst="rect">
            <a:avLst/>
          </a:prstGeom>
          <a:solidFill>
            <a:srgbClr val="131B22"/>
          </a:solidFill>
          <a:ln w="9525">
            <a:solidFill>
              <a:srgbClr val="131B22"/>
            </a:solidFill>
          </a:ln>
        </p:spPr>
      </p:sp>
      <p:sp>
        <p:nvSpPr>
          <p:cNvPr id="26" name="Panel 26"/>
          <p:cNvSpPr/>
          <p:nvPr/>
        </p:nvSpPr>
        <p:spPr>
          <a:xfrm>
            <a:off x="11430000" y="0"/>
            <a:ext cx="5486" cy="6858000"/>
          </a:xfrm>
          <a:prstGeom prst="rect">
            <a:avLst/>
          </a:prstGeom>
          <a:solidFill>
            <a:srgbClr val="131B22"/>
          </a:solidFill>
          <a:ln w="9525">
            <a:solidFill>
              <a:srgbClr val="131B22"/>
            </a:solidFill>
          </a:ln>
        </p:spPr>
      </p:sp>
      <p:sp>
        <p:nvSpPr>
          <p:cNvPr id="27" name="Panel 27"/>
          <p:cNvSpPr/>
          <p:nvPr/>
        </p:nvSpPr>
        <p:spPr>
          <a:xfrm>
            <a:off x="11887200" y="0"/>
            <a:ext cx="5486" cy="6858000"/>
          </a:xfrm>
          <a:prstGeom prst="rect">
            <a:avLst/>
          </a:prstGeom>
          <a:solidFill>
            <a:srgbClr val="131B22"/>
          </a:solidFill>
          <a:ln w="9525">
            <a:solidFill>
              <a:srgbClr val="131B22"/>
            </a:solidFill>
          </a:ln>
        </p:spPr>
      </p:sp>
      <p:sp>
        <p:nvSpPr>
          <p:cNvPr id="28" name="Panel 28"/>
          <p:cNvSpPr/>
          <p:nvPr/>
        </p:nvSpPr>
        <p:spPr>
          <a:xfrm>
            <a:off x="0" y="457200"/>
            <a:ext cx="12192000" cy="5486"/>
          </a:xfrm>
          <a:prstGeom prst="rect">
            <a:avLst/>
          </a:prstGeom>
          <a:solidFill>
            <a:srgbClr val="131B22"/>
          </a:solidFill>
          <a:ln w="9525">
            <a:solidFill>
              <a:srgbClr val="131B22"/>
            </a:solidFill>
          </a:ln>
        </p:spPr>
      </p:sp>
      <p:sp>
        <p:nvSpPr>
          <p:cNvPr id="29" name="Panel 29"/>
          <p:cNvSpPr/>
          <p:nvPr/>
        </p:nvSpPr>
        <p:spPr>
          <a:xfrm>
            <a:off x="0" y="914400"/>
            <a:ext cx="12192000" cy="5486"/>
          </a:xfrm>
          <a:prstGeom prst="rect">
            <a:avLst/>
          </a:prstGeom>
          <a:solidFill>
            <a:srgbClr val="131B22"/>
          </a:solidFill>
          <a:ln w="9525">
            <a:solidFill>
              <a:srgbClr val="131B22"/>
            </a:solidFill>
          </a:ln>
        </p:spPr>
      </p:sp>
      <p:sp>
        <p:nvSpPr>
          <p:cNvPr id="30" name="Panel 30"/>
          <p:cNvSpPr/>
          <p:nvPr/>
        </p:nvSpPr>
        <p:spPr>
          <a:xfrm>
            <a:off x="0" y="1371600"/>
            <a:ext cx="12192000" cy="5486"/>
          </a:xfrm>
          <a:prstGeom prst="rect">
            <a:avLst/>
          </a:prstGeom>
          <a:solidFill>
            <a:srgbClr val="131B22"/>
          </a:solidFill>
          <a:ln w="9525">
            <a:solidFill>
              <a:srgbClr val="131B22"/>
            </a:solidFill>
          </a:ln>
        </p:spPr>
      </p:sp>
      <p:sp>
        <p:nvSpPr>
          <p:cNvPr id="31" name="Panel 31"/>
          <p:cNvSpPr/>
          <p:nvPr/>
        </p:nvSpPr>
        <p:spPr>
          <a:xfrm>
            <a:off x="0" y="1828800"/>
            <a:ext cx="12192000" cy="5486"/>
          </a:xfrm>
          <a:prstGeom prst="rect">
            <a:avLst/>
          </a:prstGeom>
          <a:solidFill>
            <a:srgbClr val="131B22"/>
          </a:solidFill>
          <a:ln w="9525">
            <a:solidFill>
              <a:srgbClr val="131B22"/>
            </a:solidFill>
          </a:ln>
        </p:spPr>
      </p:sp>
      <p:sp>
        <p:nvSpPr>
          <p:cNvPr id="32" name="Panel 32"/>
          <p:cNvSpPr/>
          <p:nvPr/>
        </p:nvSpPr>
        <p:spPr>
          <a:xfrm>
            <a:off x="0" y="2286000"/>
            <a:ext cx="12192000" cy="5486"/>
          </a:xfrm>
          <a:prstGeom prst="rect">
            <a:avLst/>
          </a:prstGeom>
          <a:solidFill>
            <a:srgbClr val="131B22"/>
          </a:solidFill>
          <a:ln w="9525">
            <a:solidFill>
              <a:srgbClr val="131B22"/>
            </a:solidFill>
          </a:ln>
        </p:spPr>
      </p:sp>
      <p:sp>
        <p:nvSpPr>
          <p:cNvPr id="33" name="Panel 33"/>
          <p:cNvSpPr/>
          <p:nvPr/>
        </p:nvSpPr>
        <p:spPr>
          <a:xfrm>
            <a:off x="0" y="2743200"/>
            <a:ext cx="12192000" cy="5486"/>
          </a:xfrm>
          <a:prstGeom prst="rect">
            <a:avLst/>
          </a:prstGeom>
          <a:solidFill>
            <a:srgbClr val="131B22"/>
          </a:solidFill>
          <a:ln w="9525">
            <a:solidFill>
              <a:srgbClr val="131B22"/>
            </a:solidFill>
          </a:ln>
        </p:spPr>
      </p:sp>
      <p:sp>
        <p:nvSpPr>
          <p:cNvPr id="34" name="Panel 34"/>
          <p:cNvSpPr/>
          <p:nvPr/>
        </p:nvSpPr>
        <p:spPr>
          <a:xfrm>
            <a:off x="0" y="3200400"/>
            <a:ext cx="12192000" cy="5486"/>
          </a:xfrm>
          <a:prstGeom prst="rect">
            <a:avLst/>
          </a:prstGeom>
          <a:solidFill>
            <a:srgbClr val="131B22"/>
          </a:solidFill>
          <a:ln w="9525">
            <a:solidFill>
              <a:srgbClr val="131B22"/>
            </a:solidFill>
          </a:ln>
        </p:spPr>
      </p:sp>
      <p:sp>
        <p:nvSpPr>
          <p:cNvPr id="35" name="Panel 35"/>
          <p:cNvSpPr/>
          <p:nvPr/>
        </p:nvSpPr>
        <p:spPr>
          <a:xfrm>
            <a:off x="0" y="3657600"/>
            <a:ext cx="12192000" cy="5486"/>
          </a:xfrm>
          <a:prstGeom prst="rect">
            <a:avLst/>
          </a:prstGeom>
          <a:solidFill>
            <a:srgbClr val="131B22"/>
          </a:solidFill>
          <a:ln w="9525">
            <a:solidFill>
              <a:srgbClr val="131B22"/>
            </a:solidFill>
          </a:ln>
        </p:spPr>
      </p:sp>
      <p:sp>
        <p:nvSpPr>
          <p:cNvPr id="36" name="Panel 36"/>
          <p:cNvSpPr/>
          <p:nvPr/>
        </p:nvSpPr>
        <p:spPr>
          <a:xfrm>
            <a:off x="0" y="4114800"/>
            <a:ext cx="12192000" cy="5486"/>
          </a:xfrm>
          <a:prstGeom prst="rect">
            <a:avLst/>
          </a:prstGeom>
          <a:solidFill>
            <a:srgbClr val="131B22"/>
          </a:solidFill>
          <a:ln w="9525">
            <a:solidFill>
              <a:srgbClr val="131B22"/>
            </a:solidFill>
          </a:ln>
        </p:spPr>
      </p:sp>
      <p:sp>
        <p:nvSpPr>
          <p:cNvPr id="37" name="Panel 37"/>
          <p:cNvSpPr/>
          <p:nvPr/>
        </p:nvSpPr>
        <p:spPr>
          <a:xfrm>
            <a:off x="0" y="4572000"/>
            <a:ext cx="12192000" cy="5486"/>
          </a:xfrm>
          <a:prstGeom prst="rect">
            <a:avLst/>
          </a:prstGeom>
          <a:solidFill>
            <a:srgbClr val="131B22"/>
          </a:solidFill>
          <a:ln w="9525">
            <a:solidFill>
              <a:srgbClr val="131B22"/>
            </a:solidFill>
          </a:ln>
        </p:spPr>
      </p:sp>
      <p:sp>
        <p:nvSpPr>
          <p:cNvPr id="38" name="Panel 38"/>
          <p:cNvSpPr/>
          <p:nvPr/>
        </p:nvSpPr>
        <p:spPr>
          <a:xfrm>
            <a:off x="0" y="5029200"/>
            <a:ext cx="12192000" cy="5486"/>
          </a:xfrm>
          <a:prstGeom prst="rect">
            <a:avLst/>
          </a:prstGeom>
          <a:solidFill>
            <a:srgbClr val="131B22"/>
          </a:solidFill>
          <a:ln w="9525">
            <a:solidFill>
              <a:srgbClr val="131B22"/>
            </a:solidFill>
          </a:ln>
        </p:spPr>
      </p:sp>
      <p:sp>
        <p:nvSpPr>
          <p:cNvPr id="39" name="Panel 39"/>
          <p:cNvSpPr/>
          <p:nvPr/>
        </p:nvSpPr>
        <p:spPr>
          <a:xfrm>
            <a:off x="0" y="5486400"/>
            <a:ext cx="12192000" cy="5486"/>
          </a:xfrm>
          <a:prstGeom prst="rect">
            <a:avLst/>
          </a:prstGeom>
          <a:solidFill>
            <a:srgbClr val="131B22"/>
          </a:solidFill>
          <a:ln w="9525">
            <a:solidFill>
              <a:srgbClr val="131B22"/>
            </a:solidFill>
          </a:ln>
        </p:spPr>
      </p:sp>
      <p:sp>
        <p:nvSpPr>
          <p:cNvPr id="40" name="Panel 40"/>
          <p:cNvSpPr/>
          <p:nvPr/>
        </p:nvSpPr>
        <p:spPr>
          <a:xfrm>
            <a:off x="0" y="5943600"/>
            <a:ext cx="12192000" cy="5486"/>
          </a:xfrm>
          <a:prstGeom prst="rect">
            <a:avLst/>
          </a:prstGeom>
          <a:solidFill>
            <a:srgbClr val="131B22"/>
          </a:solidFill>
          <a:ln w="9525">
            <a:solidFill>
              <a:srgbClr val="131B22"/>
            </a:solidFill>
          </a:ln>
        </p:spPr>
      </p:sp>
      <p:sp>
        <p:nvSpPr>
          <p:cNvPr id="41" name="Panel 41"/>
          <p:cNvSpPr/>
          <p:nvPr/>
        </p:nvSpPr>
        <p:spPr>
          <a:xfrm>
            <a:off x="0" y="6400800"/>
            <a:ext cx="12192000" cy="5486"/>
          </a:xfrm>
          <a:prstGeom prst="rect">
            <a:avLst/>
          </a:prstGeom>
          <a:solidFill>
            <a:srgbClr val="131B22"/>
          </a:solidFill>
          <a:ln w="9525">
            <a:solidFill>
              <a:srgbClr val="131B22"/>
            </a:solidFill>
          </a:ln>
        </p:spPr>
      </p:sp>
      <p:sp>
        <p:nvSpPr>
          <p:cNvPr id="42" name="Text 42"/>
          <p:cNvSpPr txBox="1"/>
          <p:nvPr/>
        </p:nvSpPr>
        <p:spPr>
          <a:xfrm>
            <a:off x="594360" y="329184"/>
            <a:ext cx="2743200" cy="320040"/>
          </a:xfrm>
          <a:prstGeom prst="rect">
            <a:avLst/>
          </a:prstGeom>
          <a:noFill/>
          <a:ln>
            <a:noFill/>
          </a:ln>
        </p:spPr>
        <p:txBody>
          <a:bodyPr wrap="square" lIns="0" tIns="0" rIns="0" bIns="0" anchor="t"/>
          <a:lstStyle/>
          <a:p>
            <a:pPr/>
            <a:r>
              <a:rPr lang="en-US" sz="2200" b="1">
                <a:solidFill>
                  <a:srgbClr val="FFB1C4"/>
                </a:solidFill>
                <a:latin typeface="Space Grotesk"/>
              </a:rPr>
              <a:t>Paiflow</a:t>
            </a:r>
            <a:endParaRPr lang="en-US" sz="2200"/>
          </a:p>
        </p:txBody>
      </p:sp>
      <p:sp>
        <p:nvSpPr>
          <p:cNvPr id="43" name="Text 43"/>
          <p:cNvSpPr txBox="1"/>
          <p:nvPr/>
        </p:nvSpPr>
        <p:spPr>
          <a:xfrm>
            <a:off x="7498080" y="393192"/>
            <a:ext cx="4114800" cy="228600"/>
          </a:xfrm>
          <a:prstGeom prst="rect">
            <a:avLst/>
          </a:prstGeom>
          <a:noFill/>
          <a:ln>
            <a:noFill/>
          </a:ln>
        </p:spPr>
        <p:txBody>
          <a:bodyPr wrap="square" lIns="0" tIns="0" rIns="0" bIns="0" anchor="t"/>
          <a:lstStyle/>
          <a:p>
            <a:pPr/>
            <a:r>
              <a:rPr lang="en-US" sz="1100" b="0">
                <a:solidFill>
                  <a:srgbClr val="98CBFF"/>
                </a:solidFill>
                <a:latin typeface="JetBrains Mono"/>
              </a:rPr>
              <a:t>SHIPPED DURING INSTAAWARDS</a:t>
            </a:r>
            <a:endParaRPr lang="en-US" sz="1100"/>
          </a:p>
        </p:txBody>
      </p:sp>
      <p:sp>
        <p:nvSpPr>
          <p:cNvPr id="44" name="Panel 44"/>
          <p:cNvSpPr/>
          <p:nvPr/>
        </p:nvSpPr>
        <p:spPr>
          <a:xfrm>
            <a:off x="594360" y="6345936"/>
            <a:ext cx="10972800" cy="10973"/>
          </a:xfrm>
          <a:prstGeom prst="rect">
            <a:avLst/>
          </a:prstGeom>
          <a:solidFill>
            <a:srgbClr val="5C3F46"/>
          </a:solidFill>
          <a:ln w="9525">
            <a:solidFill>
              <a:srgbClr val="5C3F46"/>
            </a:solidFill>
          </a:ln>
        </p:spPr>
      </p:sp>
      <p:sp>
        <p:nvSpPr>
          <p:cNvPr id="45" name="Text 45"/>
          <p:cNvSpPr txBox="1"/>
          <p:nvPr/>
        </p:nvSpPr>
        <p:spPr>
          <a:xfrm>
            <a:off x="594360" y="6473952"/>
            <a:ext cx="9144000" cy="182880"/>
          </a:xfrm>
          <a:prstGeom prst="rect">
            <a:avLst/>
          </a:prstGeom>
          <a:noFill/>
          <a:ln>
            <a:noFill/>
          </a:ln>
        </p:spPr>
        <p:txBody>
          <a:bodyPr wrap="square" lIns="0" tIns="0" rIns="0" bIns="0" anchor="t"/>
          <a:lstStyle/>
          <a:p>
            <a:pPr/>
            <a:r>
              <a:rPr lang="en-US" sz="1000" b="0">
                <a:solidFill>
                  <a:srgbClr val="A8A3A6"/>
                </a:solidFill>
                <a:latin typeface="JetBrains Mono"/>
              </a:rPr>
              <a:t>InstaAwards Builder Showcase  /  08 OCT 2026  /  Stellar testnet</a:t>
            </a:r>
            <a:endParaRPr lang="en-US" sz="1000"/>
          </a:p>
        </p:txBody>
      </p:sp>
      <p:sp>
        <p:nvSpPr>
          <p:cNvPr id="46" name="Text 46"/>
          <p:cNvSpPr txBox="1"/>
          <p:nvPr/>
        </p:nvSpPr>
        <p:spPr>
          <a:xfrm>
            <a:off x="10972800" y="6455664"/>
            <a:ext cx="548640" cy="228600"/>
          </a:xfrm>
          <a:prstGeom prst="rect">
            <a:avLst/>
          </a:prstGeom>
          <a:noFill/>
          <a:ln>
            <a:noFill/>
          </a:ln>
        </p:spPr>
        <p:txBody>
          <a:bodyPr wrap="square" lIns="0" tIns="0" rIns="0" bIns="0" anchor="t"/>
          <a:lstStyle/>
          <a:p>
            <a:pPr/>
            <a:r>
              <a:rPr lang="en-US" sz="1100" b="0">
                <a:solidFill>
                  <a:srgbClr val="FFB1C4"/>
                </a:solidFill>
                <a:latin typeface="JetBrains Mono"/>
              </a:rPr>
              <a:t>02</a:t>
            </a:r>
            <a:endParaRPr lang="en-US" sz="1100"/>
          </a:p>
        </p:txBody>
      </p:sp>
      <p:sp>
        <p:nvSpPr>
          <p:cNvPr id="47" name="Text 47"/>
          <p:cNvSpPr txBox="1"/>
          <p:nvPr/>
        </p:nvSpPr>
        <p:spPr>
          <a:xfrm>
            <a:off x="594360" y="932688"/>
            <a:ext cx="10972800" cy="640080"/>
          </a:xfrm>
          <a:prstGeom prst="rect">
            <a:avLst/>
          </a:prstGeom>
          <a:noFill/>
          <a:ln>
            <a:noFill/>
          </a:ln>
        </p:spPr>
        <p:txBody>
          <a:bodyPr wrap="square" lIns="0" tIns="0" rIns="0" bIns="0" anchor="t"/>
          <a:lstStyle/>
          <a:p>
            <a:pPr/>
            <a:r>
              <a:rPr lang="en-US" sz="3400" b="1">
                <a:solidFill>
                  <a:srgbClr val="E5E2E1"/>
                </a:solidFill>
                <a:latin typeface="Space Grotesk"/>
              </a:rPr>
              <a:t>One month. A stronger payment path.</a:t>
            </a:r>
            <a:endParaRPr lang="en-US" sz="3400"/>
          </a:p>
        </p:txBody>
      </p:sp>
      <p:sp>
        <p:nvSpPr>
          <p:cNvPr id="48" name="Panel 48"/>
          <p:cNvSpPr/>
          <p:nvPr/>
        </p:nvSpPr>
        <p:spPr>
          <a:xfrm>
            <a:off x="594360" y="1883664"/>
            <a:ext cx="5349240" cy="1673352"/>
          </a:xfrm>
          <a:prstGeom prst="rect">
            <a:avLst/>
          </a:prstGeom>
          <a:solidFill>
            <a:srgbClr val="1C1B1B"/>
          </a:solidFill>
          <a:ln w="9525">
            <a:solidFill>
              <a:srgbClr val="5C3F46"/>
            </a:solidFill>
          </a:ln>
        </p:spPr>
      </p:sp>
      <p:sp>
        <p:nvSpPr>
          <p:cNvPr id="49" name="Text 49"/>
          <p:cNvSpPr txBox="1"/>
          <p:nvPr/>
        </p:nvSpPr>
        <p:spPr>
          <a:xfrm>
            <a:off x="804672" y="2048256"/>
            <a:ext cx="640080" cy="365760"/>
          </a:xfrm>
          <a:prstGeom prst="rect">
            <a:avLst/>
          </a:prstGeom>
          <a:noFill/>
          <a:ln>
            <a:noFill/>
          </a:ln>
        </p:spPr>
        <p:txBody>
          <a:bodyPr wrap="square" lIns="0" tIns="0" rIns="0" bIns="0" anchor="t"/>
          <a:lstStyle/>
          <a:p>
            <a:pPr/>
            <a:r>
              <a:rPr lang="en-US" sz="2100" b="1">
                <a:solidFill>
                  <a:srgbClr val="FF4A8D"/>
                </a:solidFill>
                <a:latin typeface="JetBrains Mono"/>
              </a:rPr>
              <a:t>01</a:t>
            </a:r>
            <a:endParaRPr lang="en-US" sz="2100"/>
          </a:p>
        </p:txBody>
      </p:sp>
      <p:sp>
        <p:nvSpPr>
          <p:cNvPr id="50" name="Text 50"/>
          <p:cNvSpPr txBox="1"/>
          <p:nvPr/>
        </p:nvSpPr>
        <p:spPr>
          <a:xfrm>
            <a:off x="1508760" y="2048256"/>
            <a:ext cx="4160520" cy="438912"/>
          </a:xfrm>
          <a:prstGeom prst="rect">
            <a:avLst/>
          </a:prstGeom>
          <a:noFill/>
          <a:ln>
            <a:noFill/>
          </a:ln>
        </p:spPr>
        <p:txBody>
          <a:bodyPr wrap="square" lIns="0" tIns="0" rIns="0" bIns="0" anchor="t"/>
          <a:lstStyle/>
          <a:p>
            <a:pPr/>
            <a:r>
              <a:rPr lang="en-US" sz="2500" b="1">
                <a:solidFill>
                  <a:srgbClr val="FFB1C4"/>
                </a:solidFill>
                <a:latin typeface="Space Grotesk"/>
              </a:rPr>
              <a:t>Real token swaps</a:t>
            </a:r>
            <a:endParaRPr lang="en-US" sz="2500"/>
          </a:p>
        </p:txBody>
      </p:sp>
      <p:sp>
        <p:nvSpPr>
          <p:cNvPr id="51" name="Text 51"/>
          <p:cNvSpPr txBox="1"/>
          <p:nvPr/>
        </p:nvSpPr>
        <p:spPr>
          <a:xfrm>
            <a:off x="1508760" y="2633472"/>
            <a:ext cx="4160520" cy="731520"/>
          </a:xfrm>
          <a:prstGeom prst="rect">
            <a:avLst/>
          </a:prstGeom>
          <a:noFill/>
          <a:ln>
            <a:noFill/>
          </a:ln>
        </p:spPr>
        <p:txBody>
          <a:bodyPr wrap="square" lIns="0" tIns="0" rIns="0" bIns="0" anchor="t"/>
          <a:lstStyle/>
          <a:p>
            <a:pPr/>
            <a:r>
              <a:rPr lang="en-US" sz="1900" b="0">
                <a:solidFill>
                  <a:srgbClr val="E5E2E1"/>
                </a:solidFill>
                <a:latin typeface="Geist"/>
              </a:rPr>
              <a:t>Soroswap router integration</a:t>
            </a:r>
            <a:endParaRPr lang="en-US" sz="1900"/>
          </a:p>
          <a:p>
            <a:pPr/>
            <a:r>
              <a:rPr lang="en-US" sz="1900" b="0">
                <a:solidFill>
                  <a:srgbClr val="E5E2E1"/>
                </a:solidFill>
                <a:latin typeface="Geist"/>
              </a:rPr>
              <a:t>Live quotes and slippage protection</a:t>
            </a:r>
            <a:endParaRPr lang="en-US" sz="1900"/>
          </a:p>
        </p:txBody>
      </p:sp>
      <p:sp>
        <p:nvSpPr>
          <p:cNvPr id="52" name="Panel 52"/>
          <p:cNvSpPr/>
          <p:nvPr/>
        </p:nvSpPr>
        <p:spPr>
          <a:xfrm>
            <a:off x="6217920" y="1883664"/>
            <a:ext cx="5349240" cy="1673352"/>
          </a:xfrm>
          <a:prstGeom prst="rect">
            <a:avLst/>
          </a:prstGeom>
          <a:solidFill>
            <a:srgbClr val="1C1B1B"/>
          </a:solidFill>
          <a:ln w="9525">
            <a:solidFill>
              <a:srgbClr val="5C3F46"/>
            </a:solidFill>
          </a:ln>
        </p:spPr>
      </p:sp>
      <p:sp>
        <p:nvSpPr>
          <p:cNvPr id="53" name="Text 53"/>
          <p:cNvSpPr txBox="1"/>
          <p:nvPr/>
        </p:nvSpPr>
        <p:spPr>
          <a:xfrm>
            <a:off x="6428232" y="2048256"/>
            <a:ext cx="640080" cy="365760"/>
          </a:xfrm>
          <a:prstGeom prst="rect">
            <a:avLst/>
          </a:prstGeom>
          <a:noFill/>
          <a:ln>
            <a:noFill/>
          </a:ln>
        </p:spPr>
        <p:txBody>
          <a:bodyPr wrap="square" lIns="0" tIns="0" rIns="0" bIns="0" anchor="t"/>
          <a:lstStyle/>
          <a:p>
            <a:pPr/>
            <a:r>
              <a:rPr lang="en-US" sz="2100" b="1">
                <a:solidFill>
                  <a:srgbClr val="FF4A8D"/>
                </a:solidFill>
                <a:latin typeface="JetBrains Mono"/>
              </a:rPr>
              <a:t>02</a:t>
            </a:r>
            <a:endParaRPr lang="en-US" sz="2100"/>
          </a:p>
        </p:txBody>
      </p:sp>
      <p:sp>
        <p:nvSpPr>
          <p:cNvPr id="54" name="Text 54"/>
          <p:cNvSpPr txBox="1"/>
          <p:nvPr/>
        </p:nvSpPr>
        <p:spPr>
          <a:xfrm>
            <a:off x="7132320" y="2048256"/>
            <a:ext cx="4160520" cy="438912"/>
          </a:xfrm>
          <a:prstGeom prst="rect">
            <a:avLst/>
          </a:prstGeom>
          <a:noFill/>
          <a:ln>
            <a:noFill/>
          </a:ln>
        </p:spPr>
        <p:txBody>
          <a:bodyPr wrap="square" lIns="0" tIns="0" rIns="0" bIns="0" anchor="t"/>
          <a:lstStyle/>
          <a:p>
            <a:pPr/>
            <a:r>
              <a:rPr lang="en-US" sz="2500" b="1">
                <a:solidFill>
                  <a:srgbClr val="FFB1C4"/>
                </a:solidFill>
                <a:latin typeface="Space Grotesk"/>
              </a:rPr>
              <a:t>Developer API</a:t>
            </a:r>
            <a:endParaRPr lang="en-US" sz="2500"/>
          </a:p>
        </p:txBody>
      </p:sp>
      <p:sp>
        <p:nvSpPr>
          <p:cNvPr id="55" name="Text 55"/>
          <p:cNvSpPr txBox="1"/>
          <p:nvPr/>
        </p:nvSpPr>
        <p:spPr>
          <a:xfrm>
            <a:off x="7132320" y="2633472"/>
            <a:ext cx="4160520" cy="731520"/>
          </a:xfrm>
          <a:prstGeom prst="rect">
            <a:avLst/>
          </a:prstGeom>
          <a:noFill/>
          <a:ln>
            <a:noFill/>
          </a:ln>
        </p:spPr>
        <p:txBody>
          <a:bodyPr wrap="square" lIns="0" tIns="0" rIns="0" bIns="0" anchor="t"/>
          <a:lstStyle/>
          <a:p>
            <a:pPr/>
            <a:r>
              <a:rPr lang="en-US" sz="1900" b="0">
                <a:solidFill>
                  <a:srgbClr val="E5E2E1"/>
                </a:solidFill>
                <a:latin typeface="Geist"/>
              </a:rPr>
              <a:t>Execute the same deployed flow</a:t>
            </a:r>
            <a:endParaRPr lang="en-US" sz="1900"/>
          </a:p>
          <a:p>
            <a:pPr/>
            <a:r>
              <a:rPr lang="en-US" sz="1900" b="0">
                <a:solidFill>
                  <a:srgbClr val="E5E2E1"/>
                </a:solidFill>
                <a:latin typeface="Geist"/>
              </a:rPr>
              <a:t>Scoped access; caller signs</a:t>
            </a:r>
            <a:endParaRPr lang="en-US" sz="1900"/>
          </a:p>
        </p:txBody>
      </p:sp>
      <p:sp>
        <p:nvSpPr>
          <p:cNvPr id="56" name="Panel 56"/>
          <p:cNvSpPr/>
          <p:nvPr/>
        </p:nvSpPr>
        <p:spPr>
          <a:xfrm>
            <a:off x="594360" y="3831336"/>
            <a:ext cx="5349240" cy="1673352"/>
          </a:xfrm>
          <a:prstGeom prst="rect">
            <a:avLst/>
          </a:prstGeom>
          <a:solidFill>
            <a:srgbClr val="1C1B1B"/>
          </a:solidFill>
          <a:ln w="9525">
            <a:solidFill>
              <a:srgbClr val="5C3F46"/>
            </a:solidFill>
          </a:ln>
        </p:spPr>
      </p:sp>
      <p:sp>
        <p:nvSpPr>
          <p:cNvPr id="57" name="Text 57"/>
          <p:cNvSpPr txBox="1"/>
          <p:nvPr/>
        </p:nvSpPr>
        <p:spPr>
          <a:xfrm>
            <a:off x="804672" y="3995928"/>
            <a:ext cx="640080" cy="365760"/>
          </a:xfrm>
          <a:prstGeom prst="rect">
            <a:avLst/>
          </a:prstGeom>
          <a:noFill/>
          <a:ln>
            <a:noFill/>
          </a:ln>
        </p:spPr>
        <p:txBody>
          <a:bodyPr wrap="square" lIns="0" tIns="0" rIns="0" bIns="0" anchor="t"/>
          <a:lstStyle/>
          <a:p>
            <a:pPr/>
            <a:r>
              <a:rPr lang="en-US" sz="2100" b="1">
                <a:solidFill>
                  <a:srgbClr val="FF4A8D"/>
                </a:solidFill>
                <a:latin typeface="JetBrains Mono"/>
              </a:rPr>
              <a:t>03</a:t>
            </a:r>
            <a:endParaRPr lang="en-US" sz="2100"/>
          </a:p>
        </p:txBody>
      </p:sp>
      <p:sp>
        <p:nvSpPr>
          <p:cNvPr id="58" name="Text 58"/>
          <p:cNvSpPr txBox="1"/>
          <p:nvPr/>
        </p:nvSpPr>
        <p:spPr>
          <a:xfrm>
            <a:off x="1508760" y="3995928"/>
            <a:ext cx="4160520" cy="438912"/>
          </a:xfrm>
          <a:prstGeom prst="rect">
            <a:avLst/>
          </a:prstGeom>
          <a:noFill/>
          <a:ln>
            <a:noFill/>
          </a:ln>
        </p:spPr>
        <p:txBody>
          <a:bodyPr wrap="square" lIns="0" tIns="0" rIns="0" bIns="0" anchor="t"/>
          <a:lstStyle/>
          <a:p>
            <a:pPr/>
            <a:r>
              <a:rPr lang="en-US" sz="2500" b="1">
                <a:solidFill>
                  <a:srgbClr val="FFB1C4"/>
                </a:solidFill>
                <a:latin typeface="Space Grotesk"/>
              </a:rPr>
              <a:t>Clearer builder</a:t>
            </a:r>
            <a:endParaRPr lang="en-US" sz="2500"/>
          </a:p>
        </p:txBody>
      </p:sp>
      <p:sp>
        <p:nvSpPr>
          <p:cNvPr id="59" name="Text 59"/>
          <p:cNvSpPr txBox="1"/>
          <p:nvPr/>
        </p:nvSpPr>
        <p:spPr>
          <a:xfrm>
            <a:off x="1508760" y="4581144"/>
            <a:ext cx="4160520" cy="731520"/>
          </a:xfrm>
          <a:prstGeom prst="rect">
            <a:avLst/>
          </a:prstGeom>
          <a:noFill/>
          <a:ln>
            <a:noFill/>
          </a:ln>
        </p:spPr>
        <p:txBody>
          <a:bodyPr wrap="square" lIns="0" tIns="0" rIns="0" bIns="0" anchor="t"/>
          <a:lstStyle/>
          <a:p>
            <a:pPr/>
            <a:r>
              <a:rPr lang="en-US" sz="1900" b="0">
                <a:solidFill>
                  <a:srgbClr val="E5E2E1"/>
                </a:solidFill>
                <a:latin typeface="Geist"/>
              </a:rPr>
              <a:t>Consistent inputs and field errors</a:t>
            </a:r>
            <a:endParaRPr lang="en-US" sz="1900"/>
          </a:p>
          <a:p>
            <a:pPr/>
            <a:r>
              <a:rPr lang="en-US" sz="1900" b="0">
                <a:solidFill>
                  <a:srgbClr val="E5E2E1"/>
                </a:solidFill>
                <a:latin typeface="Geist"/>
              </a:rPr>
              <a:t>Keyboard and mobile support</a:t>
            </a:r>
            <a:endParaRPr lang="en-US" sz="1900"/>
          </a:p>
        </p:txBody>
      </p:sp>
      <p:sp>
        <p:nvSpPr>
          <p:cNvPr id="60" name="Panel 60"/>
          <p:cNvSpPr/>
          <p:nvPr/>
        </p:nvSpPr>
        <p:spPr>
          <a:xfrm>
            <a:off x="6217920" y="3831336"/>
            <a:ext cx="5349240" cy="1673352"/>
          </a:xfrm>
          <a:prstGeom prst="rect">
            <a:avLst/>
          </a:prstGeom>
          <a:solidFill>
            <a:srgbClr val="1C1B1B"/>
          </a:solidFill>
          <a:ln w="9525">
            <a:solidFill>
              <a:srgbClr val="5C3F46"/>
            </a:solidFill>
          </a:ln>
        </p:spPr>
      </p:sp>
      <p:sp>
        <p:nvSpPr>
          <p:cNvPr id="61" name="Text 61"/>
          <p:cNvSpPr txBox="1"/>
          <p:nvPr/>
        </p:nvSpPr>
        <p:spPr>
          <a:xfrm>
            <a:off x="6428232" y="3995928"/>
            <a:ext cx="640080" cy="365760"/>
          </a:xfrm>
          <a:prstGeom prst="rect">
            <a:avLst/>
          </a:prstGeom>
          <a:noFill/>
          <a:ln>
            <a:noFill/>
          </a:ln>
        </p:spPr>
        <p:txBody>
          <a:bodyPr wrap="square" lIns="0" tIns="0" rIns="0" bIns="0" anchor="t"/>
          <a:lstStyle/>
          <a:p>
            <a:pPr/>
            <a:r>
              <a:rPr lang="en-US" sz="2100" b="1">
                <a:solidFill>
                  <a:srgbClr val="FF4A8D"/>
                </a:solidFill>
                <a:latin typeface="JetBrains Mono"/>
              </a:rPr>
              <a:t>04</a:t>
            </a:r>
            <a:endParaRPr lang="en-US" sz="2100"/>
          </a:p>
        </p:txBody>
      </p:sp>
      <p:sp>
        <p:nvSpPr>
          <p:cNvPr id="62" name="Text 62"/>
          <p:cNvSpPr txBox="1"/>
          <p:nvPr/>
        </p:nvSpPr>
        <p:spPr>
          <a:xfrm>
            <a:off x="7132320" y="3995928"/>
            <a:ext cx="4160520" cy="438912"/>
          </a:xfrm>
          <a:prstGeom prst="rect">
            <a:avLst/>
          </a:prstGeom>
          <a:noFill/>
          <a:ln>
            <a:noFill/>
          </a:ln>
        </p:spPr>
        <p:txBody>
          <a:bodyPr wrap="square" lIns="0" tIns="0" rIns="0" bIns="0" anchor="t"/>
          <a:lstStyle/>
          <a:p>
            <a:pPr/>
            <a:r>
              <a:rPr lang="en-US" sz="2500" b="1">
                <a:solidFill>
                  <a:srgbClr val="FFB1C4"/>
                </a:solidFill>
                <a:latin typeface="Space Grotesk"/>
              </a:rPr>
              <a:t>Verified end to end</a:t>
            </a:r>
            <a:endParaRPr lang="en-US" sz="2500"/>
          </a:p>
        </p:txBody>
      </p:sp>
      <p:sp>
        <p:nvSpPr>
          <p:cNvPr id="63" name="Text 63"/>
          <p:cNvSpPr txBox="1"/>
          <p:nvPr/>
        </p:nvSpPr>
        <p:spPr>
          <a:xfrm>
            <a:off x="7132320" y="4581144"/>
            <a:ext cx="4160520" cy="731520"/>
          </a:xfrm>
          <a:prstGeom prst="rect">
            <a:avLst/>
          </a:prstGeom>
          <a:noFill/>
          <a:ln>
            <a:noFill/>
          </a:ln>
        </p:spPr>
        <p:txBody>
          <a:bodyPr wrap="square" lIns="0" tIns="0" rIns="0" bIns="0" anchor="t"/>
          <a:lstStyle/>
          <a:p>
            <a:pPr/>
            <a:r>
              <a:rPr lang="en-US" sz="1900" b="0">
                <a:solidFill>
                  <a:srgbClr val="E5E2E1"/>
                </a:solidFill>
                <a:latin typeface="Geist"/>
              </a:rPr>
              <a:t>Wallet + API on the same flow</a:t>
            </a:r>
            <a:endParaRPr lang="en-US" sz="1900"/>
          </a:p>
          <a:p>
            <a:pPr/>
            <a:r>
              <a:rPr lang="en-US" sz="1900" b="0">
                <a:solidFill>
                  <a:srgbClr val="E5E2E1"/>
                </a:solidFill>
                <a:latin typeface="Geist"/>
              </a:rPr>
              <a:t>Guides and transaction receipts</a:t>
            </a:r>
            <a:endParaRPr lang="en-US" sz="1900"/>
          </a:p>
        </p:txBody>
      </p:sp>
      <p:sp>
        <p:nvSpPr>
          <p:cNvPr id="64" name="Text 64"/>
          <p:cNvSpPr txBox="1"/>
          <p:nvPr/>
        </p:nvSpPr>
        <p:spPr>
          <a:xfrm>
            <a:off x="594360" y="5916168"/>
            <a:ext cx="10972800" cy="256032"/>
          </a:xfrm>
          <a:prstGeom prst="rect">
            <a:avLst/>
          </a:prstGeom>
          <a:noFill/>
          <a:ln>
            <a:noFill/>
          </a:ln>
        </p:spPr>
        <p:txBody>
          <a:bodyPr wrap="square" lIns="0" tIns="0" rIns="0" bIns="0" anchor="t"/>
          <a:lstStyle/>
          <a:p>
            <a:pPr/>
            <a:r>
              <a:rPr lang="en-US" sz="1300" b="0">
                <a:solidFill>
                  <a:srgbClr val="A8A3A6"/>
                </a:solidFill>
                <a:latin typeface="JetBrains Mono"/>
              </a:rPr>
              <a:t>Sprint: 7 September–4 October 2026  /  All four deliverables complete</a:t>
            </a:r>
            <a:endParaRPr lang="en-US" sz="13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E0E0E"/>
        </a:solidFill>
        <a:effectLst/>
      </p:bgPr>
    </p:bg>
    <p:spTree>
      <p:nvGrpSpPr>
        <p:cNvPr id="1" name=""/>
        <p:cNvGrpSpPr/>
        <p:nvPr/>
      </p:nvGrpSpPr>
      <p:grpSpPr>
        <a:xfrm>
          <a:off x="0" y="0"/>
          <a:ext cx="0" cy="0"/>
          <a:chOff x="0" y="0"/>
          <a:chExt cx="0" cy="0"/>
        </a:xfrm>
      </p:grpSpPr>
      <p:sp>
        <p:nvSpPr>
          <p:cNvPr id="2" name="Panel 2"/>
          <p:cNvSpPr/>
          <p:nvPr/>
        </p:nvSpPr>
        <p:spPr>
          <a:xfrm>
            <a:off x="457200" y="0"/>
            <a:ext cx="5486" cy="6858000"/>
          </a:xfrm>
          <a:prstGeom prst="rect">
            <a:avLst/>
          </a:prstGeom>
          <a:solidFill>
            <a:srgbClr val="131B22"/>
          </a:solidFill>
          <a:ln w="9525">
            <a:solidFill>
              <a:srgbClr val="131B22"/>
            </a:solidFill>
          </a:ln>
        </p:spPr>
      </p:sp>
      <p:sp>
        <p:nvSpPr>
          <p:cNvPr id="3" name="Panel 3"/>
          <p:cNvSpPr/>
          <p:nvPr/>
        </p:nvSpPr>
        <p:spPr>
          <a:xfrm>
            <a:off x="914400" y="0"/>
            <a:ext cx="5486" cy="6858000"/>
          </a:xfrm>
          <a:prstGeom prst="rect">
            <a:avLst/>
          </a:prstGeom>
          <a:solidFill>
            <a:srgbClr val="131B22"/>
          </a:solidFill>
          <a:ln w="9525">
            <a:solidFill>
              <a:srgbClr val="131B22"/>
            </a:solidFill>
          </a:ln>
        </p:spPr>
      </p:sp>
      <p:sp>
        <p:nvSpPr>
          <p:cNvPr id="4" name="Panel 4"/>
          <p:cNvSpPr/>
          <p:nvPr/>
        </p:nvSpPr>
        <p:spPr>
          <a:xfrm>
            <a:off x="1371600" y="0"/>
            <a:ext cx="5486" cy="6858000"/>
          </a:xfrm>
          <a:prstGeom prst="rect">
            <a:avLst/>
          </a:prstGeom>
          <a:solidFill>
            <a:srgbClr val="131B22"/>
          </a:solidFill>
          <a:ln w="9525">
            <a:solidFill>
              <a:srgbClr val="131B22"/>
            </a:solidFill>
          </a:ln>
        </p:spPr>
      </p:sp>
      <p:sp>
        <p:nvSpPr>
          <p:cNvPr id="5" name="Panel 5"/>
          <p:cNvSpPr/>
          <p:nvPr/>
        </p:nvSpPr>
        <p:spPr>
          <a:xfrm>
            <a:off x="1828800" y="0"/>
            <a:ext cx="5486" cy="6858000"/>
          </a:xfrm>
          <a:prstGeom prst="rect">
            <a:avLst/>
          </a:prstGeom>
          <a:solidFill>
            <a:srgbClr val="131B22"/>
          </a:solidFill>
          <a:ln w="9525">
            <a:solidFill>
              <a:srgbClr val="131B22"/>
            </a:solidFill>
          </a:ln>
        </p:spPr>
      </p:sp>
      <p:sp>
        <p:nvSpPr>
          <p:cNvPr id="6" name="Panel 6"/>
          <p:cNvSpPr/>
          <p:nvPr/>
        </p:nvSpPr>
        <p:spPr>
          <a:xfrm>
            <a:off x="2286000" y="0"/>
            <a:ext cx="5486" cy="6858000"/>
          </a:xfrm>
          <a:prstGeom prst="rect">
            <a:avLst/>
          </a:prstGeom>
          <a:solidFill>
            <a:srgbClr val="131B22"/>
          </a:solidFill>
          <a:ln w="9525">
            <a:solidFill>
              <a:srgbClr val="131B22"/>
            </a:solidFill>
          </a:ln>
        </p:spPr>
      </p:sp>
      <p:sp>
        <p:nvSpPr>
          <p:cNvPr id="7" name="Panel 7"/>
          <p:cNvSpPr/>
          <p:nvPr/>
        </p:nvSpPr>
        <p:spPr>
          <a:xfrm>
            <a:off x="2743200" y="0"/>
            <a:ext cx="5486" cy="6858000"/>
          </a:xfrm>
          <a:prstGeom prst="rect">
            <a:avLst/>
          </a:prstGeom>
          <a:solidFill>
            <a:srgbClr val="131B22"/>
          </a:solidFill>
          <a:ln w="9525">
            <a:solidFill>
              <a:srgbClr val="131B22"/>
            </a:solidFill>
          </a:ln>
        </p:spPr>
      </p:sp>
      <p:sp>
        <p:nvSpPr>
          <p:cNvPr id="8" name="Panel 8"/>
          <p:cNvSpPr/>
          <p:nvPr/>
        </p:nvSpPr>
        <p:spPr>
          <a:xfrm>
            <a:off x="3200400" y="0"/>
            <a:ext cx="5486" cy="6858000"/>
          </a:xfrm>
          <a:prstGeom prst="rect">
            <a:avLst/>
          </a:prstGeom>
          <a:solidFill>
            <a:srgbClr val="131B22"/>
          </a:solidFill>
          <a:ln w="9525">
            <a:solidFill>
              <a:srgbClr val="131B22"/>
            </a:solidFill>
          </a:ln>
        </p:spPr>
      </p:sp>
      <p:sp>
        <p:nvSpPr>
          <p:cNvPr id="9" name="Panel 9"/>
          <p:cNvSpPr/>
          <p:nvPr/>
        </p:nvSpPr>
        <p:spPr>
          <a:xfrm>
            <a:off x="3657600" y="0"/>
            <a:ext cx="5486" cy="6858000"/>
          </a:xfrm>
          <a:prstGeom prst="rect">
            <a:avLst/>
          </a:prstGeom>
          <a:solidFill>
            <a:srgbClr val="131B22"/>
          </a:solidFill>
          <a:ln w="9525">
            <a:solidFill>
              <a:srgbClr val="131B22"/>
            </a:solidFill>
          </a:ln>
        </p:spPr>
      </p:sp>
      <p:sp>
        <p:nvSpPr>
          <p:cNvPr id="10" name="Panel 10"/>
          <p:cNvSpPr/>
          <p:nvPr/>
        </p:nvSpPr>
        <p:spPr>
          <a:xfrm>
            <a:off x="4114800" y="0"/>
            <a:ext cx="5486" cy="6858000"/>
          </a:xfrm>
          <a:prstGeom prst="rect">
            <a:avLst/>
          </a:prstGeom>
          <a:solidFill>
            <a:srgbClr val="131B22"/>
          </a:solidFill>
          <a:ln w="9525">
            <a:solidFill>
              <a:srgbClr val="131B22"/>
            </a:solidFill>
          </a:ln>
        </p:spPr>
      </p:sp>
      <p:sp>
        <p:nvSpPr>
          <p:cNvPr id="11" name="Panel 11"/>
          <p:cNvSpPr/>
          <p:nvPr/>
        </p:nvSpPr>
        <p:spPr>
          <a:xfrm>
            <a:off x="4572000" y="0"/>
            <a:ext cx="5486" cy="6858000"/>
          </a:xfrm>
          <a:prstGeom prst="rect">
            <a:avLst/>
          </a:prstGeom>
          <a:solidFill>
            <a:srgbClr val="131B22"/>
          </a:solidFill>
          <a:ln w="9525">
            <a:solidFill>
              <a:srgbClr val="131B22"/>
            </a:solidFill>
          </a:ln>
        </p:spPr>
      </p:sp>
      <p:sp>
        <p:nvSpPr>
          <p:cNvPr id="12" name="Panel 12"/>
          <p:cNvSpPr/>
          <p:nvPr/>
        </p:nvSpPr>
        <p:spPr>
          <a:xfrm>
            <a:off x="5029200" y="0"/>
            <a:ext cx="5486" cy="6858000"/>
          </a:xfrm>
          <a:prstGeom prst="rect">
            <a:avLst/>
          </a:prstGeom>
          <a:solidFill>
            <a:srgbClr val="131B22"/>
          </a:solidFill>
          <a:ln w="9525">
            <a:solidFill>
              <a:srgbClr val="131B22"/>
            </a:solidFill>
          </a:ln>
        </p:spPr>
      </p:sp>
      <p:sp>
        <p:nvSpPr>
          <p:cNvPr id="13" name="Panel 13"/>
          <p:cNvSpPr/>
          <p:nvPr/>
        </p:nvSpPr>
        <p:spPr>
          <a:xfrm>
            <a:off x="5486400" y="0"/>
            <a:ext cx="5486" cy="6858000"/>
          </a:xfrm>
          <a:prstGeom prst="rect">
            <a:avLst/>
          </a:prstGeom>
          <a:solidFill>
            <a:srgbClr val="131B22"/>
          </a:solidFill>
          <a:ln w="9525">
            <a:solidFill>
              <a:srgbClr val="131B22"/>
            </a:solidFill>
          </a:ln>
        </p:spPr>
      </p:sp>
      <p:sp>
        <p:nvSpPr>
          <p:cNvPr id="14" name="Panel 14"/>
          <p:cNvSpPr/>
          <p:nvPr/>
        </p:nvSpPr>
        <p:spPr>
          <a:xfrm>
            <a:off x="5943600" y="0"/>
            <a:ext cx="5486" cy="6858000"/>
          </a:xfrm>
          <a:prstGeom prst="rect">
            <a:avLst/>
          </a:prstGeom>
          <a:solidFill>
            <a:srgbClr val="131B22"/>
          </a:solidFill>
          <a:ln w="9525">
            <a:solidFill>
              <a:srgbClr val="131B22"/>
            </a:solidFill>
          </a:ln>
        </p:spPr>
      </p:sp>
      <p:sp>
        <p:nvSpPr>
          <p:cNvPr id="15" name="Panel 15"/>
          <p:cNvSpPr/>
          <p:nvPr/>
        </p:nvSpPr>
        <p:spPr>
          <a:xfrm>
            <a:off x="6400800" y="0"/>
            <a:ext cx="5486" cy="6858000"/>
          </a:xfrm>
          <a:prstGeom prst="rect">
            <a:avLst/>
          </a:prstGeom>
          <a:solidFill>
            <a:srgbClr val="131B22"/>
          </a:solidFill>
          <a:ln w="9525">
            <a:solidFill>
              <a:srgbClr val="131B22"/>
            </a:solidFill>
          </a:ln>
        </p:spPr>
      </p:sp>
      <p:sp>
        <p:nvSpPr>
          <p:cNvPr id="16" name="Panel 16"/>
          <p:cNvSpPr/>
          <p:nvPr/>
        </p:nvSpPr>
        <p:spPr>
          <a:xfrm>
            <a:off x="6858000" y="0"/>
            <a:ext cx="5486" cy="6858000"/>
          </a:xfrm>
          <a:prstGeom prst="rect">
            <a:avLst/>
          </a:prstGeom>
          <a:solidFill>
            <a:srgbClr val="131B22"/>
          </a:solidFill>
          <a:ln w="9525">
            <a:solidFill>
              <a:srgbClr val="131B22"/>
            </a:solidFill>
          </a:ln>
        </p:spPr>
      </p:sp>
      <p:sp>
        <p:nvSpPr>
          <p:cNvPr id="17" name="Panel 17"/>
          <p:cNvSpPr/>
          <p:nvPr/>
        </p:nvSpPr>
        <p:spPr>
          <a:xfrm>
            <a:off x="7315200" y="0"/>
            <a:ext cx="5486" cy="6858000"/>
          </a:xfrm>
          <a:prstGeom prst="rect">
            <a:avLst/>
          </a:prstGeom>
          <a:solidFill>
            <a:srgbClr val="131B22"/>
          </a:solidFill>
          <a:ln w="9525">
            <a:solidFill>
              <a:srgbClr val="131B22"/>
            </a:solidFill>
          </a:ln>
        </p:spPr>
      </p:sp>
      <p:sp>
        <p:nvSpPr>
          <p:cNvPr id="18" name="Panel 18"/>
          <p:cNvSpPr/>
          <p:nvPr/>
        </p:nvSpPr>
        <p:spPr>
          <a:xfrm>
            <a:off x="7772400" y="0"/>
            <a:ext cx="5486" cy="6858000"/>
          </a:xfrm>
          <a:prstGeom prst="rect">
            <a:avLst/>
          </a:prstGeom>
          <a:solidFill>
            <a:srgbClr val="131B22"/>
          </a:solidFill>
          <a:ln w="9525">
            <a:solidFill>
              <a:srgbClr val="131B22"/>
            </a:solidFill>
          </a:ln>
        </p:spPr>
      </p:sp>
      <p:sp>
        <p:nvSpPr>
          <p:cNvPr id="19" name="Panel 19"/>
          <p:cNvSpPr/>
          <p:nvPr/>
        </p:nvSpPr>
        <p:spPr>
          <a:xfrm>
            <a:off x="8229600" y="0"/>
            <a:ext cx="5486" cy="6858000"/>
          </a:xfrm>
          <a:prstGeom prst="rect">
            <a:avLst/>
          </a:prstGeom>
          <a:solidFill>
            <a:srgbClr val="131B22"/>
          </a:solidFill>
          <a:ln w="9525">
            <a:solidFill>
              <a:srgbClr val="131B22"/>
            </a:solidFill>
          </a:ln>
        </p:spPr>
      </p:sp>
      <p:sp>
        <p:nvSpPr>
          <p:cNvPr id="20" name="Panel 20"/>
          <p:cNvSpPr/>
          <p:nvPr/>
        </p:nvSpPr>
        <p:spPr>
          <a:xfrm>
            <a:off x="8686800" y="0"/>
            <a:ext cx="5486" cy="6858000"/>
          </a:xfrm>
          <a:prstGeom prst="rect">
            <a:avLst/>
          </a:prstGeom>
          <a:solidFill>
            <a:srgbClr val="131B22"/>
          </a:solidFill>
          <a:ln w="9525">
            <a:solidFill>
              <a:srgbClr val="131B22"/>
            </a:solidFill>
          </a:ln>
        </p:spPr>
      </p:sp>
      <p:sp>
        <p:nvSpPr>
          <p:cNvPr id="21" name="Panel 21"/>
          <p:cNvSpPr/>
          <p:nvPr/>
        </p:nvSpPr>
        <p:spPr>
          <a:xfrm>
            <a:off x="9144000" y="0"/>
            <a:ext cx="5486" cy="6858000"/>
          </a:xfrm>
          <a:prstGeom prst="rect">
            <a:avLst/>
          </a:prstGeom>
          <a:solidFill>
            <a:srgbClr val="131B22"/>
          </a:solidFill>
          <a:ln w="9525">
            <a:solidFill>
              <a:srgbClr val="131B22"/>
            </a:solidFill>
          </a:ln>
        </p:spPr>
      </p:sp>
      <p:sp>
        <p:nvSpPr>
          <p:cNvPr id="22" name="Panel 22"/>
          <p:cNvSpPr/>
          <p:nvPr/>
        </p:nvSpPr>
        <p:spPr>
          <a:xfrm>
            <a:off x="9601200" y="0"/>
            <a:ext cx="5486" cy="6858000"/>
          </a:xfrm>
          <a:prstGeom prst="rect">
            <a:avLst/>
          </a:prstGeom>
          <a:solidFill>
            <a:srgbClr val="131B22"/>
          </a:solidFill>
          <a:ln w="9525">
            <a:solidFill>
              <a:srgbClr val="131B22"/>
            </a:solidFill>
          </a:ln>
        </p:spPr>
      </p:sp>
      <p:sp>
        <p:nvSpPr>
          <p:cNvPr id="23" name="Panel 23"/>
          <p:cNvSpPr/>
          <p:nvPr/>
        </p:nvSpPr>
        <p:spPr>
          <a:xfrm>
            <a:off x="10058400" y="0"/>
            <a:ext cx="5486" cy="6858000"/>
          </a:xfrm>
          <a:prstGeom prst="rect">
            <a:avLst/>
          </a:prstGeom>
          <a:solidFill>
            <a:srgbClr val="131B22"/>
          </a:solidFill>
          <a:ln w="9525">
            <a:solidFill>
              <a:srgbClr val="131B22"/>
            </a:solidFill>
          </a:ln>
        </p:spPr>
      </p:sp>
      <p:sp>
        <p:nvSpPr>
          <p:cNvPr id="24" name="Panel 24"/>
          <p:cNvSpPr/>
          <p:nvPr/>
        </p:nvSpPr>
        <p:spPr>
          <a:xfrm>
            <a:off x="10515600" y="0"/>
            <a:ext cx="5486" cy="6858000"/>
          </a:xfrm>
          <a:prstGeom prst="rect">
            <a:avLst/>
          </a:prstGeom>
          <a:solidFill>
            <a:srgbClr val="131B22"/>
          </a:solidFill>
          <a:ln w="9525">
            <a:solidFill>
              <a:srgbClr val="131B22"/>
            </a:solidFill>
          </a:ln>
        </p:spPr>
      </p:sp>
      <p:sp>
        <p:nvSpPr>
          <p:cNvPr id="25" name="Panel 25"/>
          <p:cNvSpPr/>
          <p:nvPr/>
        </p:nvSpPr>
        <p:spPr>
          <a:xfrm>
            <a:off x="10972800" y="0"/>
            <a:ext cx="5486" cy="6858000"/>
          </a:xfrm>
          <a:prstGeom prst="rect">
            <a:avLst/>
          </a:prstGeom>
          <a:solidFill>
            <a:srgbClr val="131B22"/>
          </a:solidFill>
          <a:ln w="9525">
            <a:solidFill>
              <a:srgbClr val="131B22"/>
            </a:solidFill>
          </a:ln>
        </p:spPr>
      </p:sp>
      <p:sp>
        <p:nvSpPr>
          <p:cNvPr id="26" name="Panel 26"/>
          <p:cNvSpPr/>
          <p:nvPr/>
        </p:nvSpPr>
        <p:spPr>
          <a:xfrm>
            <a:off x="11430000" y="0"/>
            <a:ext cx="5486" cy="6858000"/>
          </a:xfrm>
          <a:prstGeom prst="rect">
            <a:avLst/>
          </a:prstGeom>
          <a:solidFill>
            <a:srgbClr val="131B22"/>
          </a:solidFill>
          <a:ln w="9525">
            <a:solidFill>
              <a:srgbClr val="131B22"/>
            </a:solidFill>
          </a:ln>
        </p:spPr>
      </p:sp>
      <p:sp>
        <p:nvSpPr>
          <p:cNvPr id="27" name="Panel 27"/>
          <p:cNvSpPr/>
          <p:nvPr/>
        </p:nvSpPr>
        <p:spPr>
          <a:xfrm>
            <a:off x="11887200" y="0"/>
            <a:ext cx="5486" cy="6858000"/>
          </a:xfrm>
          <a:prstGeom prst="rect">
            <a:avLst/>
          </a:prstGeom>
          <a:solidFill>
            <a:srgbClr val="131B22"/>
          </a:solidFill>
          <a:ln w="9525">
            <a:solidFill>
              <a:srgbClr val="131B22"/>
            </a:solidFill>
          </a:ln>
        </p:spPr>
      </p:sp>
      <p:sp>
        <p:nvSpPr>
          <p:cNvPr id="28" name="Panel 28"/>
          <p:cNvSpPr/>
          <p:nvPr/>
        </p:nvSpPr>
        <p:spPr>
          <a:xfrm>
            <a:off x="0" y="457200"/>
            <a:ext cx="12192000" cy="5486"/>
          </a:xfrm>
          <a:prstGeom prst="rect">
            <a:avLst/>
          </a:prstGeom>
          <a:solidFill>
            <a:srgbClr val="131B22"/>
          </a:solidFill>
          <a:ln w="9525">
            <a:solidFill>
              <a:srgbClr val="131B22"/>
            </a:solidFill>
          </a:ln>
        </p:spPr>
      </p:sp>
      <p:sp>
        <p:nvSpPr>
          <p:cNvPr id="29" name="Panel 29"/>
          <p:cNvSpPr/>
          <p:nvPr/>
        </p:nvSpPr>
        <p:spPr>
          <a:xfrm>
            <a:off x="0" y="914400"/>
            <a:ext cx="12192000" cy="5486"/>
          </a:xfrm>
          <a:prstGeom prst="rect">
            <a:avLst/>
          </a:prstGeom>
          <a:solidFill>
            <a:srgbClr val="131B22"/>
          </a:solidFill>
          <a:ln w="9525">
            <a:solidFill>
              <a:srgbClr val="131B22"/>
            </a:solidFill>
          </a:ln>
        </p:spPr>
      </p:sp>
      <p:sp>
        <p:nvSpPr>
          <p:cNvPr id="30" name="Panel 30"/>
          <p:cNvSpPr/>
          <p:nvPr/>
        </p:nvSpPr>
        <p:spPr>
          <a:xfrm>
            <a:off x="0" y="1371600"/>
            <a:ext cx="12192000" cy="5486"/>
          </a:xfrm>
          <a:prstGeom prst="rect">
            <a:avLst/>
          </a:prstGeom>
          <a:solidFill>
            <a:srgbClr val="131B22"/>
          </a:solidFill>
          <a:ln w="9525">
            <a:solidFill>
              <a:srgbClr val="131B22"/>
            </a:solidFill>
          </a:ln>
        </p:spPr>
      </p:sp>
      <p:sp>
        <p:nvSpPr>
          <p:cNvPr id="31" name="Panel 31"/>
          <p:cNvSpPr/>
          <p:nvPr/>
        </p:nvSpPr>
        <p:spPr>
          <a:xfrm>
            <a:off x="0" y="1828800"/>
            <a:ext cx="12192000" cy="5486"/>
          </a:xfrm>
          <a:prstGeom prst="rect">
            <a:avLst/>
          </a:prstGeom>
          <a:solidFill>
            <a:srgbClr val="131B22"/>
          </a:solidFill>
          <a:ln w="9525">
            <a:solidFill>
              <a:srgbClr val="131B22"/>
            </a:solidFill>
          </a:ln>
        </p:spPr>
      </p:sp>
      <p:sp>
        <p:nvSpPr>
          <p:cNvPr id="32" name="Panel 32"/>
          <p:cNvSpPr/>
          <p:nvPr/>
        </p:nvSpPr>
        <p:spPr>
          <a:xfrm>
            <a:off x="0" y="2286000"/>
            <a:ext cx="12192000" cy="5486"/>
          </a:xfrm>
          <a:prstGeom prst="rect">
            <a:avLst/>
          </a:prstGeom>
          <a:solidFill>
            <a:srgbClr val="131B22"/>
          </a:solidFill>
          <a:ln w="9525">
            <a:solidFill>
              <a:srgbClr val="131B22"/>
            </a:solidFill>
          </a:ln>
        </p:spPr>
      </p:sp>
      <p:sp>
        <p:nvSpPr>
          <p:cNvPr id="33" name="Panel 33"/>
          <p:cNvSpPr/>
          <p:nvPr/>
        </p:nvSpPr>
        <p:spPr>
          <a:xfrm>
            <a:off x="0" y="2743200"/>
            <a:ext cx="12192000" cy="5486"/>
          </a:xfrm>
          <a:prstGeom prst="rect">
            <a:avLst/>
          </a:prstGeom>
          <a:solidFill>
            <a:srgbClr val="131B22"/>
          </a:solidFill>
          <a:ln w="9525">
            <a:solidFill>
              <a:srgbClr val="131B22"/>
            </a:solidFill>
          </a:ln>
        </p:spPr>
      </p:sp>
      <p:sp>
        <p:nvSpPr>
          <p:cNvPr id="34" name="Panel 34"/>
          <p:cNvSpPr/>
          <p:nvPr/>
        </p:nvSpPr>
        <p:spPr>
          <a:xfrm>
            <a:off x="0" y="3200400"/>
            <a:ext cx="12192000" cy="5486"/>
          </a:xfrm>
          <a:prstGeom prst="rect">
            <a:avLst/>
          </a:prstGeom>
          <a:solidFill>
            <a:srgbClr val="131B22"/>
          </a:solidFill>
          <a:ln w="9525">
            <a:solidFill>
              <a:srgbClr val="131B22"/>
            </a:solidFill>
          </a:ln>
        </p:spPr>
      </p:sp>
      <p:sp>
        <p:nvSpPr>
          <p:cNvPr id="35" name="Panel 35"/>
          <p:cNvSpPr/>
          <p:nvPr/>
        </p:nvSpPr>
        <p:spPr>
          <a:xfrm>
            <a:off x="0" y="3657600"/>
            <a:ext cx="12192000" cy="5486"/>
          </a:xfrm>
          <a:prstGeom prst="rect">
            <a:avLst/>
          </a:prstGeom>
          <a:solidFill>
            <a:srgbClr val="131B22"/>
          </a:solidFill>
          <a:ln w="9525">
            <a:solidFill>
              <a:srgbClr val="131B22"/>
            </a:solidFill>
          </a:ln>
        </p:spPr>
      </p:sp>
      <p:sp>
        <p:nvSpPr>
          <p:cNvPr id="36" name="Panel 36"/>
          <p:cNvSpPr/>
          <p:nvPr/>
        </p:nvSpPr>
        <p:spPr>
          <a:xfrm>
            <a:off x="0" y="4114800"/>
            <a:ext cx="12192000" cy="5486"/>
          </a:xfrm>
          <a:prstGeom prst="rect">
            <a:avLst/>
          </a:prstGeom>
          <a:solidFill>
            <a:srgbClr val="131B22"/>
          </a:solidFill>
          <a:ln w="9525">
            <a:solidFill>
              <a:srgbClr val="131B22"/>
            </a:solidFill>
          </a:ln>
        </p:spPr>
      </p:sp>
      <p:sp>
        <p:nvSpPr>
          <p:cNvPr id="37" name="Panel 37"/>
          <p:cNvSpPr/>
          <p:nvPr/>
        </p:nvSpPr>
        <p:spPr>
          <a:xfrm>
            <a:off x="0" y="4572000"/>
            <a:ext cx="12192000" cy="5486"/>
          </a:xfrm>
          <a:prstGeom prst="rect">
            <a:avLst/>
          </a:prstGeom>
          <a:solidFill>
            <a:srgbClr val="131B22"/>
          </a:solidFill>
          <a:ln w="9525">
            <a:solidFill>
              <a:srgbClr val="131B22"/>
            </a:solidFill>
          </a:ln>
        </p:spPr>
      </p:sp>
      <p:sp>
        <p:nvSpPr>
          <p:cNvPr id="38" name="Panel 38"/>
          <p:cNvSpPr/>
          <p:nvPr/>
        </p:nvSpPr>
        <p:spPr>
          <a:xfrm>
            <a:off x="0" y="5029200"/>
            <a:ext cx="12192000" cy="5486"/>
          </a:xfrm>
          <a:prstGeom prst="rect">
            <a:avLst/>
          </a:prstGeom>
          <a:solidFill>
            <a:srgbClr val="131B22"/>
          </a:solidFill>
          <a:ln w="9525">
            <a:solidFill>
              <a:srgbClr val="131B22"/>
            </a:solidFill>
          </a:ln>
        </p:spPr>
      </p:sp>
      <p:sp>
        <p:nvSpPr>
          <p:cNvPr id="39" name="Panel 39"/>
          <p:cNvSpPr/>
          <p:nvPr/>
        </p:nvSpPr>
        <p:spPr>
          <a:xfrm>
            <a:off x="0" y="5486400"/>
            <a:ext cx="12192000" cy="5486"/>
          </a:xfrm>
          <a:prstGeom prst="rect">
            <a:avLst/>
          </a:prstGeom>
          <a:solidFill>
            <a:srgbClr val="131B22"/>
          </a:solidFill>
          <a:ln w="9525">
            <a:solidFill>
              <a:srgbClr val="131B22"/>
            </a:solidFill>
          </a:ln>
        </p:spPr>
      </p:sp>
      <p:sp>
        <p:nvSpPr>
          <p:cNvPr id="40" name="Panel 40"/>
          <p:cNvSpPr/>
          <p:nvPr/>
        </p:nvSpPr>
        <p:spPr>
          <a:xfrm>
            <a:off x="0" y="5943600"/>
            <a:ext cx="12192000" cy="5486"/>
          </a:xfrm>
          <a:prstGeom prst="rect">
            <a:avLst/>
          </a:prstGeom>
          <a:solidFill>
            <a:srgbClr val="131B22"/>
          </a:solidFill>
          <a:ln w="9525">
            <a:solidFill>
              <a:srgbClr val="131B22"/>
            </a:solidFill>
          </a:ln>
        </p:spPr>
      </p:sp>
      <p:sp>
        <p:nvSpPr>
          <p:cNvPr id="41" name="Panel 41"/>
          <p:cNvSpPr/>
          <p:nvPr/>
        </p:nvSpPr>
        <p:spPr>
          <a:xfrm>
            <a:off x="0" y="6400800"/>
            <a:ext cx="12192000" cy="5486"/>
          </a:xfrm>
          <a:prstGeom prst="rect">
            <a:avLst/>
          </a:prstGeom>
          <a:solidFill>
            <a:srgbClr val="131B22"/>
          </a:solidFill>
          <a:ln w="9525">
            <a:solidFill>
              <a:srgbClr val="131B22"/>
            </a:solidFill>
          </a:ln>
        </p:spPr>
      </p:sp>
      <p:sp>
        <p:nvSpPr>
          <p:cNvPr id="42" name="Text 42"/>
          <p:cNvSpPr txBox="1"/>
          <p:nvPr/>
        </p:nvSpPr>
        <p:spPr>
          <a:xfrm>
            <a:off x="594360" y="329184"/>
            <a:ext cx="2743200" cy="320040"/>
          </a:xfrm>
          <a:prstGeom prst="rect">
            <a:avLst/>
          </a:prstGeom>
          <a:noFill/>
          <a:ln>
            <a:noFill/>
          </a:ln>
        </p:spPr>
        <p:txBody>
          <a:bodyPr wrap="square" lIns="0" tIns="0" rIns="0" bIns="0" anchor="t"/>
          <a:lstStyle/>
          <a:p>
            <a:pPr/>
            <a:r>
              <a:rPr lang="en-US" sz="2200" b="1">
                <a:solidFill>
                  <a:srgbClr val="FFB1C4"/>
                </a:solidFill>
                <a:latin typeface="Space Grotesk"/>
              </a:rPr>
              <a:t>Paiflow</a:t>
            </a:r>
            <a:endParaRPr lang="en-US" sz="2200"/>
          </a:p>
        </p:txBody>
      </p:sp>
      <p:sp>
        <p:nvSpPr>
          <p:cNvPr id="43" name="Text 43"/>
          <p:cNvSpPr txBox="1"/>
          <p:nvPr/>
        </p:nvSpPr>
        <p:spPr>
          <a:xfrm>
            <a:off x="7498080" y="393192"/>
            <a:ext cx="4114800" cy="228600"/>
          </a:xfrm>
          <a:prstGeom prst="rect">
            <a:avLst/>
          </a:prstGeom>
          <a:noFill/>
          <a:ln>
            <a:noFill/>
          </a:ln>
        </p:spPr>
        <p:txBody>
          <a:bodyPr wrap="square" lIns="0" tIns="0" rIns="0" bIns="0" anchor="t"/>
          <a:lstStyle/>
          <a:p>
            <a:pPr/>
            <a:r>
              <a:rPr lang="en-US" sz="1100" b="0">
                <a:solidFill>
                  <a:srgbClr val="98CBFF"/>
                </a:solidFill>
                <a:latin typeface="JetBrains Mono"/>
              </a:rPr>
              <a:t>LIVE DEMO  /  STELLAR TESTNET</a:t>
            </a:r>
            <a:endParaRPr lang="en-US" sz="1100"/>
          </a:p>
        </p:txBody>
      </p:sp>
      <p:sp>
        <p:nvSpPr>
          <p:cNvPr id="44" name="Panel 44"/>
          <p:cNvSpPr/>
          <p:nvPr/>
        </p:nvSpPr>
        <p:spPr>
          <a:xfrm>
            <a:off x="594360" y="6345936"/>
            <a:ext cx="10972800" cy="10973"/>
          </a:xfrm>
          <a:prstGeom prst="rect">
            <a:avLst/>
          </a:prstGeom>
          <a:solidFill>
            <a:srgbClr val="5C3F46"/>
          </a:solidFill>
          <a:ln w="9525">
            <a:solidFill>
              <a:srgbClr val="5C3F46"/>
            </a:solidFill>
          </a:ln>
        </p:spPr>
      </p:sp>
      <p:sp>
        <p:nvSpPr>
          <p:cNvPr id="45" name="Text 45"/>
          <p:cNvSpPr txBox="1"/>
          <p:nvPr/>
        </p:nvSpPr>
        <p:spPr>
          <a:xfrm>
            <a:off x="594360" y="6473952"/>
            <a:ext cx="9144000" cy="182880"/>
          </a:xfrm>
          <a:prstGeom prst="rect">
            <a:avLst/>
          </a:prstGeom>
          <a:noFill/>
          <a:ln>
            <a:noFill/>
          </a:ln>
        </p:spPr>
        <p:txBody>
          <a:bodyPr wrap="square" lIns="0" tIns="0" rIns="0" bIns="0" anchor="t"/>
          <a:lstStyle/>
          <a:p>
            <a:pPr/>
            <a:r>
              <a:rPr lang="en-US" sz="1000" b="0">
                <a:solidFill>
                  <a:srgbClr val="A8A3A6"/>
                </a:solidFill>
                <a:latin typeface="JetBrains Mono"/>
              </a:rPr>
              <a:t>InstaAwards Builder Showcase  /  08 OCT 2026  /  Stellar testnet</a:t>
            </a:r>
            <a:endParaRPr lang="en-US" sz="1000"/>
          </a:p>
        </p:txBody>
      </p:sp>
      <p:sp>
        <p:nvSpPr>
          <p:cNvPr id="46" name="Text 46"/>
          <p:cNvSpPr txBox="1"/>
          <p:nvPr/>
        </p:nvSpPr>
        <p:spPr>
          <a:xfrm>
            <a:off x="10972800" y="6455664"/>
            <a:ext cx="548640" cy="228600"/>
          </a:xfrm>
          <a:prstGeom prst="rect">
            <a:avLst/>
          </a:prstGeom>
          <a:noFill/>
          <a:ln>
            <a:noFill/>
          </a:ln>
        </p:spPr>
        <p:txBody>
          <a:bodyPr wrap="square" lIns="0" tIns="0" rIns="0" bIns="0" anchor="t"/>
          <a:lstStyle/>
          <a:p>
            <a:pPr/>
            <a:r>
              <a:rPr lang="en-US" sz="1100" b="0">
                <a:solidFill>
                  <a:srgbClr val="FFB1C4"/>
                </a:solidFill>
                <a:latin typeface="JetBrains Mono"/>
              </a:rPr>
              <a:t>03</a:t>
            </a:r>
            <a:endParaRPr lang="en-US" sz="1100"/>
          </a:p>
        </p:txBody>
      </p:sp>
      <p:sp>
        <p:nvSpPr>
          <p:cNvPr id="47" name="Text 47"/>
          <p:cNvSpPr txBox="1"/>
          <p:nvPr/>
        </p:nvSpPr>
        <p:spPr>
          <a:xfrm>
            <a:off x="594360" y="941832"/>
            <a:ext cx="10972800" cy="640080"/>
          </a:xfrm>
          <a:prstGeom prst="rect">
            <a:avLst/>
          </a:prstGeom>
          <a:noFill/>
          <a:ln>
            <a:noFill/>
          </a:ln>
        </p:spPr>
        <p:txBody>
          <a:bodyPr wrap="square" lIns="0" tIns="0" rIns="0" bIns="0" anchor="t"/>
          <a:lstStyle/>
          <a:p>
            <a:pPr/>
            <a:r>
              <a:rPr lang="en-US" sz="3600" b="1">
                <a:solidFill>
                  <a:srgbClr val="E5E2E1"/>
                </a:solidFill>
                <a:latin typeface="Space Grotesk"/>
              </a:rPr>
              <a:t>Receive XLM. Swap. Pay USDC.</a:t>
            </a:r>
            <a:endParaRPr lang="en-US" sz="3600"/>
          </a:p>
        </p:txBody>
      </p:sp>
      <p:sp>
        <p:nvSpPr>
          <p:cNvPr id="48" name="Text 48"/>
          <p:cNvSpPr txBox="1"/>
          <p:nvPr/>
        </p:nvSpPr>
        <p:spPr>
          <a:xfrm>
            <a:off x="594360" y="1801368"/>
            <a:ext cx="10972800" cy="457200"/>
          </a:xfrm>
          <a:prstGeom prst="rect">
            <a:avLst/>
          </a:prstGeom>
          <a:noFill/>
          <a:ln>
            <a:noFill/>
          </a:ln>
        </p:spPr>
        <p:txBody>
          <a:bodyPr wrap="square" lIns="0" tIns="0" rIns="0" bIns="0" anchor="t"/>
          <a:lstStyle/>
          <a:p>
            <a:pPr/>
            <a:r>
              <a:rPr lang="en-US" sz="2400" b="0">
                <a:solidFill>
                  <a:srgbClr val="FFB1C4"/>
                </a:solidFill>
                <a:latin typeface="Geist"/>
              </a:rPr>
              <a:t>One deployed flow. One wallet-signed execution.</a:t>
            </a:r>
            <a:endParaRPr lang="en-US" sz="2400"/>
          </a:p>
        </p:txBody>
      </p:sp>
      <p:sp>
        <p:nvSpPr>
          <p:cNvPr id="49" name="Panel 49"/>
          <p:cNvSpPr/>
          <p:nvPr/>
        </p:nvSpPr>
        <p:spPr>
          <a:xfrm>
            <a:off x="594360" y="2788920"/>
            <a:ext cx="3383280" cy="1554480"/>
          </a:xfrm>
          <a:prstGeom prst="rect">
            <a:avLst/>
          </a:prstGeom>
          <a:solidFill>
            <a:srgbClr val="1C1B1B"/>
          </a:solidFill>
          <a:ln w="9525">
            <a:solidFill>
              <a:srgbClr val="5C3F46"/>
            </a:solidFill>
          </a:ln>
        </p:spPr>
      </p:sp>
      <p:sp>
        <p:nvSpPr>
          <p:cNvPr id="50" name="Text 50"/>
          <p:cNvSpPr txBox="1"/>
          <p:nvPr/>
        </p:nvSpPr>
        <p:spPr>
          <a:xfrm>
            <a:off x="822960" y="2999232"/>
            <a:ext cx="2926080" cy="411480"/>
          </a:xfrm>
          <a:prstGeom prst="rect">
            <a:avLst/>
          </a:prstGeom>
          <a:noFill/>
          <a:ln>
            <a:noFill/>
          </a:ln>
        </p:spPr>
        <p:txBody>
          <a:bodyPr wrap="square" lIns="0" tIns="0" rIns="0" bIns="0" anchor="t"/>
          <a:lstStyle/>
          <a:p>
            <a:pPr/>
            <a:r>
              <a:rPr lang="en-US" sz="2800" b="1">
                <a:solidFill>
                  <a:srgbClr val="98CBFF"/>
                </a:solidFill>
                <a:latin typeface="Space Grotesk"/>
              </a:rPr>
              <a:t>Receive</a:t>
            </a:r>
            <a:endParaRPr lang="en-US" sz="2800"/>
          </a:p>
        </p:txBody>
      </p:sp>
      <p:sp>
        <p:nvSpPr>
          <p:cNvPr id="51" name="Text 51"/>
          <p:cNvSpPr txBox="1"/>
          <p:nvPr/>
        </p:nvSpPr>
        <p:spPr>
          <a:xfrm>
            <a:off x="822960" y="3685032"/>
            <a:ext cx="2926080" cy="365760"/>
          </a:xfrm>
          <a:prstGeom prst="rect">
            <a:avLst/>
          </a:prstGeom>
          <a:noFill/>
          <a:ln>
            <a:noFill/>
          </a:ln>
        </p:spPr>
        <p:txBody>
          <a:bodyPr wrap="square" lIns="0" tIns="0" rIns="0" bIns="0" anchor="t"/>
          <a:lstStyle/>
          <a:p>
            <a:pPr/>
            <a:r>
              <a:rPr lang="en-US" sz="2000" b="0">
                <a:solidFill>
                  <a:srgbClr val="E5E2E1"/>
                </a:solidFill>
                <a:latin typeface="JetBrains Mono"/>
              </a:rPr>
              <a:t>10 XLM</a:t>
            </a:r>
            <a:endParaRPr lang="en-US" sz="2000"/>
          </a:p>
        </p:txBody>
      </p:sp>
      <p:sp>
        <p:nvSpPr>
          <p:cNvPr id="52" name="Text 52"/>
          <p:cNvSpPr txBox="1"/>
          <p:nvPr/>
        </p:nvSpPr>
        <p:spPr>
          <a:xfrm>
            <a:off x="4087368" y="3319272"/>
            <a:ext cx="320040" cy="411480"/>
          </a:xfrm>
          <a:prstGeom prst="rect">
            <a:avLst/>
          </a:prstGeom>
          <a:noFill/>
          <a:ln>
            <a:noFill/>
          </a:ln>
        </p:spPr>
        <p:txBody>
          <a:bodyPr wrap="square" lIns="0" tIns="0" rIns="0" bIns="0" anchor="t"/>
          <a:lstStyle/>
          <a:p>
            <a:pPr/>
            <a:r>
              <a:rPr lang="en-US" sz="2300" b="0">
                <a:solidFill>
                  <a:srgbClr val="FFB1C4"/>
                </a:solidFill>
                <a:latin typeface="Geist"/>
              </a:rPr>
              <a:t>→</a:t>
            </a:r>
            <a:endParaRPr lang="en-US" sz="2300"/>
          </a:p>
        </p:txBody>
      </p:sp>
      <p:sp>
        <p:nvSpPr>
          <p:cNvPr id="53" name="Panel 53"/>
          <p:cNvSpPr/>
          <p:nvPr/>
        </p:nvSpPr>
        <p:spPr>
          <a:xfrm>
            <a:off x="4389120" y="2788920"/>
            <a:ext cx="3383280" cy="1554480"/>
          </a:xfrm>
          <a:prstGeom prst="rect">
            <a:avLst/>
          </a:prstGeom>
          <a:solidFill>
            <a:srgbClr val="1C1B1B"/>
          </a:solidFill>
          <a:ln w="9525">
            <a:solidFill>
              <a:srgbClr val="5C3F46"/>
            </a:solidFill>
          </a:ln>
        </p:spPr>
      </p:sp>
      <p:sp>
        <p:nvSpPr>
          <p:cNvPr id="54" name="Text 54"/>
          <p:cNvSpPr txBox="1"/>
          <p:nvPr/>
        </p:nvSpPr>
        <p:spPr>
          <a:xfrm>
            <a:off x="4617720" y="2999232"/>
            <a:ext cx="2926080" cy="411480"/>
          </a:xfrm>
          <a:prstGeom prst="rect">
            <a:avLst/>
          </a:prstGeom>
          <a:noFill/>
          <a:ln>
            <a:noFill/>
          </a:ln>
        </p:spPr>
        <p:txBody>
          <a:bodyPr wrap="square" lIns="0" tIns="0" rIns="0" bIns="0" anchor="t"/>
          <a:lstStyle/>
          <a:p>
            <a:pPr/>
            <a:r>
              <a:rPr lang="en-US" sz="2800" b="1">
                <a:solidFill>
                  <a:srgbClr val="FFB1C4"/>
                </a:solidFill>
                <a:latin typeface="Space Grotesk"/>
              </a:rPr>
              <a:t>Swap</a:t>
            </a:r>
            <a:endParaRPr lang="en-US" sz="2800"/>
          </a:p>
        </p:txBody>
      </p:sp>
      <p:sp>
        <p:nvSpPr>
          <p:cNvPr id="55" name="Text 55"/>
          <p:cNvSpPr txBox="1"/>
          <p:nvPr/>
        </p:nvSpPr>
        <p:spPr>
          <a:xfrm>
            <a:off x="4617720" y="3685032"/>
            <a:ext cx="2926080" cy="365760"/>
          </a:xfrm>
          <a:prstGeom prst="rect">
            <a:avLst/>
          </a:prstGeom>
          <a:noFill/>
          <a:ln>
            <a:noFill/>
          </a:ln>
        </p:spPr>
        <p:txBody>
          <a:bodyPr wrap="square" lIns="0" tIns="0" rIns="0" bIns="0" anchor="t"/>
          <a:lstStyle/>
          <a:p>
            <a:pPr/>
            <a:r>
              <a:rPr lang="en-US" sz="2000" b="0">
                <a:solidFill>
                  <a:srgbClr val="E5E2E1"/>
                </a:solidFill>
                <a:latin typeface="JetBrains Mono"/>
              </a:rPr>
              <a:t>XLM → USDC</a:t>
            </a:r>
            <a:endParaRPr lang="en-US" sz="2000"/>
          </a:p>
        </p:txBody>
      </p:sp>
      <p:sp>
        <p:nvSpPr>
          <p:cNvPr id="56" name="Text 56"/>
          <p:cNvSpPr txBox="1"/>
          <p:nvPr/>
        </p:nvSpPr>
        <p:spPr>
          <a:xfrm>
            <a:off x="7882128" y="3319272"/>
            <a:ext cx="320040" cy="411480"/>
          </a:xfrm>
          <a:prstGeom prst="rect">
            <a:avLst/>
          </a:prstGeom>
          <a:noFill/>
          <a:ln>
            <a:noFill/>
          </a:ln>
        </p:spPr>
        <p:txBody>
          <a:bodyPr wrap="square" lIns="0" tIns="0" rIns="0" bIns="0" anchor="t"/>
          <a:lstStyle/>
          <a:p>
            <a:pPr/>
            <a:r>
              <a:rPr lang="en-US" sz="2300" b="0">
                <a:solidFill>
                  <a:srgbClr val="FFB1C4"/>
                </a:solidFill>
                <a:latin typeface="Geist"/>
              </a:rPr>
              <a:t>→</a:t>
            </a:r>
            <a:endParaRPr lang="en-US" sz="2300"/>
          </a:p>
        </p:txBody>
      </p:sp>
      <p:sp>
        <p:nvSpPr>
          <p:cNvPr id="57" name="Panel 57"/>
          <p:cNvSpPr/>
          <p:nvPr/>
        </p:nvSpPr>
        <p:spPr>
          <a:xfrm>
            <a:off x="8183880" y="2788920"/>
            <a:ext cx="3383280" cy="1554480"/>
          </a:xfrm>
          <a:prstGeom prst="rect">
            <a:avLst/>
          </a:prstGeom>
          <a:solidFill>
            <a:srgbClr val="1C1B1B"/>
          </a:solidFill>
          <a:ln w="9525">
            <a:solidFill>
              <a:srgbClr val="5C3F46"/>
            </a:solidFill>
          </a:ln>
        </p:spPr>
      </p:sp>
      <p:sp>
        <p:nvSpPr>
          <p:cNvPr id="58" name="Text 58"/>
          <p:cNvSpPr txBox="1"/>
          <p:nvPr/>
        </p:nvSpPr>
        <p:spPr>
          <a:xfrm>
            <a:off x="8412480" y="2999232"/>
            <a:ext cx="2926080" cy="411480"/>
          </a:xfrm>
          <a:prstGeom prst="rect">
            <a:avLst/>
          </a:prstGeom>
          <a:noFill/>
          <a:ln>
            <a:noFill/>
          </a:ln>
        </p:spPr>
        <p:txBody>
          <a:bodyPr wrap="square" lIns="0" tIns="0" rIns="0" bIns="0" anchor="t"/>
          <a:lstStyle/>
          <a:p>
            <a:pPr/>
            <a:r>
              <a:rPr lang="en-US" sz="2800" b="1">
                <a:solidFill>
                  <a:srgbClr val="FFB1C4"/>
                </a:solidFill>
                <a:latin typeface="Space Grotesk"/>
              </a:rPr>
              <a:t>Pay</a:t>
            </a:r>
            <a:endParaRPr lang="en-US" sz="2800"/>
          </a:p>
        </p:txBody>
      </p:sp>
      <p:sp>
        <p:nvSpPr>
          <p:cNvPr id="59" name="Text 59"/>
          <p:cNvSpPr txBox="1"/>
          <p:nvPr/>
        </p:nvSpPr>
        <p:spPr>
          <a:xfrm>
            <a:off x="8412480" y="3685032"/>
            <a:ext cx="2926080" cy="365760"/>
          </a:xfrm>
          <a:prstGeom prst="rect">
            <a:avLst/>
          </a:prstGeom>
          <a:noFill/>
          <a:ln>
            <a:noFill/>
          </a:ln>
        </p:spPr>
        <p:txBody>
          <a:bodyPr wrap="square" lIns="0" tIns="0" rIns="0" bIns="0" anchor="t"/>
          <a:lstStyle/>
          <a:p>
            <a:pPr/>
            <a:r>
              <a:rPr lang="en-US" sz="2000" b="0">
                <a:solidFill>
                  <a:srgbClr val="E5E2E1"/>
                </a:solidFill>
                <a:latin typeface="JetBrains Mono"/>
              </a:rPr>
              <a:t>Recipient wallet</a:t>
            </a:r>
            <a:endParaRPr lang="en-US" sz="2000"/>
          </a:p>
        </p:txBody>
      </p:sp>
      <p:sp>
        <p:nvSpPr>
          <p:cNvPr id="60" name="Text 60"/>
          <p:cNvSpPr txBox="1"/>
          <p:nvPr/>
        </p:nvSpPr>
        <p:spPr>
          <a:xfrm>
            <a:off x="594360" y="4864608"/>
            <a:ext cx="10972800" cy="457200"/>
          </a:xfrm>
          <a:prstGeom prst="rect">
            <a:avLst/>
          </a:prstGeom>
          <a:noFill/>
          <a:ln>
            <a:noFill/>
          </a:ln>
        </p:spPr>
        <p:txBody>
          <a:bodyPr wrap="square" lIns="0" tIns="0" rIns="0" bIns="0" anchor="t"/>
          <a:lstStyle/>
          <a:p>
            <a:pPr/>
            <a:r>
              <a:rPr lang="en-US" sz="1900" b="0">
                <a:solidFill>
                  <a:srgbClr val="E5E2E1"/>
                </a:solidFill>
                <a:latin typeface="Geist"/>
              </a:rPr>
              <a:t>Live quote  →  Wallet signature  →  Payout events  →  Explorer receipt</a:t>
            </a:r>
            <a:endParaRPr lang="en-US" sz="1900"/>
          </a:p>
        </p:txBody>
      </p:sp>
      <p:sp>
        <p:nvSpPr>
          <p:cNvPr id="61" name="Text 61"/>
          <p:cNvSpPr txBox="1"/>
          <p:nvPr/>
        </p:nvSpPr>
        <p:spPr>
          <a:xfrm>
            <a:off x="594360" y="5623560"/>
            <a:ext cx="10972800" cy="320040"/>
          </a:xfrm>
          <a:prstGeom prst="rect">
            <a:avLst/>
          </a:prstGeom>
          <a:noFill/>
          <a:ln>
            <a:noFill/>
          </a:ln>
        </p:spPr>
        <p:txBody>
          <a:bodyPr wrap="square" lIns="0" tIns="0" rIns="0" bIns="0" anchor="t"/>
          <a:lstStyle/>
          <a:p>
            <a:pPr/>
            <a:r>
              <a:rPr lang="en-US" sz="1900" b="0">
                <a:solidFill>
                  <a:srgbClr val="A8A3A6"/>
                </a:solidFill>
                <a:latin typeface="Geist"/>
              </a:rPr>
              <a:t>Your wallet signs. Contracts execute the swap and payment together.</a:t>
            </a:r>
            <a:endParaRPr lang="en-US" sz="19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E0E0E"/>
        </a:solidFill>
        <a:effectLst/>
      </p:bgPr>
    </p:bg>
    <p:spTree>
      <p:nvGrpSpPr>
        <p:cNvPr id="1" name=""/>
        <p:cNvGrpSpPr/>
        <p:nvPr/>
      </p:nvGrpSpPr>
      <p:grpSpPr>
        <a:xfrm>
          <a:off x="0" y="0"/>
          <a:ext cx="0" cy="0"/>
          <a:chOff x="0" y="0"/>
          <a:chExt cx="0" cy="0"/>
        </a:xfrm>
      </p:grpSpPr>
      <p:sp>
        <p:nvSpPr>
          <p:cNvPr id="2" name="Panel 2"/>
          <p:cNvSpPr/>
          <p:nvPr/>
        </p:nvSpPr>
        <p:spPr>
          <a:xfrm>
            <a:off x="457200" y="0"/>
            <a:ext cx="5486" cy="6858000"/>
          </a:xfrm>
          <a:prstGeom prst="rect">
            <a:avLst/>
          </a:prstGeom>
          <a:solidFill>
            <a:srgbClr val="131B22"/>
          </a:solidFill>
          <a:ln w="9525">
            <a:solidFill>
              <a:srgbClr val="131B22"/>
            </a:solidFill>
          </a:ln>
        </p:spPr>
      </p:sp>
      <p:sp>
        <p:nvSpPr>
          <p:cNvPr id="3" name="Panel 3"/>
          <p:cNvSpPr/>
          <p:nvPr/>
        </p:nvSpPr>
        <p:spPr>
          <a:xfrm>
            <a:off x="914400" y="0"/>
            <a:ext cx="5486" cy="6858000"/>
          </a:xfrm>
          <a:prstGeom prst="rect">
            <a:avLst/>
          </a:prstGeom>
          <a:solidFill>
            <a:srgbClr val="131B22"/>
          </a:solidFill>
          <a:ln w="9525">
            <a:solidFill>
              <a:srgbClr val="131B22"/>
            </a:solidFill>
          </a:ln>
        </p:spPr>
      </p:sp>
      <p:sp>
        <p:nvSpPr>
          <p:cNvPr id="4" name="Panel 4"/>
          <p:cNvSpPr/>
          <p:nvPr/>
        </p:nvSpPr>
        <p:spPr>
          <a:xfrm>
            <a:off x="1371600" y="0"/>
            <a:ext cx="5486" cy="6858000"/>
          </a:xfrm>
          <a:prstGeom prst="rect">
            <a:avLst/>
          </a:prstGeom>
          <a:solidFill>
            <a:srgbClr val="131B22"/>
          </a:solidFill>
          <a:ln w="9525">
            <a:solidFill>
              <a:srgbClr val="131B22"/>
            </a:solidFill>
          </a:ln>
        </p:spPr>
      </p:sp>
      <p:sp>
        <p:nvSpPr>
          <p:cNvPr id="5" name="Panel 5"/>
          <p:cNvSpPr/>
          <p:nvPr/>
        </p:nvSpPr>
        <p:spPr>
          <a:xfrm>
            <a:off x="1828800" y="0"/>
            <a:ext cx="5486" cy="6858000"/>
          </a:xfrm>
          <a:prstGeom prst="rect">
            <a:avLst/>
          </a:prstGeom>
          <a:solidFill>
            <a:srgbClr val="131B22"/>
          </a:solidFill>
          <a:ln w="9525">
            <a:solidFill>
              <a:srgbClr val="131B22"/>
            </a:solidFill>
          </a:ln>
        </p:spPr>
      </p:sp>
      <p:sp>
        <p:nvSpPr>
          <p:cNvPr id="6" name="Panel 6"/>
          <p:cNvSpPr/>
          <p:nvPr/>
        </p:nvSpPr>
        <p:spPr>
          <a:xfrm>
            <a:off x="2286000" y="0"/>
            <a:ext cx="5486" cy="6858000"/>
          </a:xfrm>
          <a:prstGeom prst="rect">
            <a:avLst/>
          </a:prstGeom>
          <a:solidFill>
            <a:srgbClr val="131B22"/>
          </a:solidFill>
          <a:ln w="9525">
            <a:solidFill>
              <a:srgbClr val="131B22"/>
            </a:solidFill>
          </a:ln>
        </p:spPr>
      </p:sp>
      <p:sp>
        <p:nvSpPr>
          <p:cNvPr id="7" name="Panel 7"/>
          <p:cNvSpPr/>
          <p:nvPr/>
        </p:nvSpPr>
        <p:spPr>
          <a:xfrm>
            <a:off x="2743200" y="0"/>
            <a:ext cx="5486" cy="6858000"/>
          </a:xfrm>
          <a:prstGeom prst="rect">
            <a:avLst/>
          </a:prstGeom>
          <a:solidFill>
            <a:srgbClr val="131B22"/>
          </a:solidFill>
          <a:ln w="9525">
            <a:solidFill>
              <a:srgbClr val="131B22"/>
            </a:solidFill>
          </a:ln>
        </p:spPr>
      </p:sp>
      <p:sp>
        <p:nvSpPr>
          <p:cNvPr id="8" name="Panel 8"/>
          <p:cNvSpPr/>
          <p:nvPr/>
        </p:nvSpPr>
        <p:spPr>
          <a:xfrm>
            <a:off x="3200400" y="0"/>
            <a:ext cx="5486" cy="6858000"/>
          </a:xfrm>
          <a:prstGeom prst="rect">
            <a:avLst/>
          </a:prstGeom>
          <a:solidFill>
            <a:srgbClr val="131B22"/>
          </a:solidFill>
          <a:ln w="9525">
            <a:solidFill>
              <a:srgbClr val="131B22"/>
            </a:solidFill>
          </a:ln>
        </p:spPr>
      </p:sp>
      <p:sp>
        <p:nvSpPr>
          <p:cNvPr id="9" name="Panel 9"/>
          <p:cNvSpPr/>
          <p:nvPr/>
        </p:nvSpPr>
        <p:spPr>
          <a:xfrm>
            <a:off x="3657600" y="0"/>
            <a:ext cx="5486" cy="6858000"/>
          </a:xfrm>
          <a:prstGeom prst="rect">
            <a:avLst/>
          </a:prstGeom>
          <a:solidFill>
            <a:srgbClr val="131B22"/>
          </a:solidFill>
          <a:ln w="9525">
            <a:solidFill>
              <a:srgbClr val="131B22"/>
            </a:solidFill>
          </a:ln>
        </p:spPr>
      </p:sp>
      <p:sp>
        <p:nvSpPr>
          <p:cNvPr id="10" name="Panel 10"/>
          <p:cNvSpPr/>
          <p:nvPr/>
        </p:nvSpPr>
        <p:spPr>
          <a:xfrm>
            <a:off x="4114800" y="0"/>
            <a:ext cx="5486" cy="6858000"/>
          </a:xfrm>
          <a:prstGeom prst="rect">
            <a:avLst/>
          </a:prstGeom>
          <a:solidFill>
            <a:srgbClr val="131B22"/>
          </a:solidFill>
          <a:ln w="9525">
            <a:solidFill>
              <a:srgbClr val="131B22"/>
            </a:solidFill>
          </a:ln>
        </p:spPr>
      </p:sp>
      <p:sp>
        <p:nvSpPr>
          <p:cNvPr id="11" name="Panel 11"/>
          <p:cNvSpPr/>
          <p:nvPr/>
        </p:nvSpPr>
        <p:spPr>
          <a:xfrm>
            <a:off x="4572000" y="0"/>
            <a:ext cx="5486" cy="6858000"/>
          </a:xfrm>
          <a:prstGeom prst="rect">
            <a:avLst/>
          </a:prstGeom>
          <a:solidFill>
            <a:srgbClr val="131B22"/>
          </a:solidFill>
          <a:ln w="9525">
            <a:solidFill>
              <a:srgbClr val="131B22"/>
            </a:solidFill>
          </a:ln>
        </p:spPr>
      </p:sp>
      <p:sp>
        <p:nvSpPr>
          <p:cNvPr id="12" name="Panel 12"/>
          <p:cNvSpPr/>
          <p:nvPr/>
        </p:nvSpPr>
        <p:spPr>
          <a:xfrm>
            <a:off x="5029200" y="0"/>
            <a:ext cx="5486" cy="6858000"/>
          </a:xfrm>
          <a:prstGeom prst="rect">
            <a:avLst/>
          </a:prstGeom>
          <a:solidFill>
            <a:srgbClr val="131B22"/>
          </a:solidFill>
          <a:ln w="9525">
            <a:solidFill>
              <a:srgbClr val="131B22"/>
            </a:solidFill>
          </a:ln>
        </p:spPr>
      </p:sp>
      <p:sp>
        <p:nvSpPr>
          <p:cNvPr id="13" name="Panel 13"/>
          <p:cNvSpPr/>
          <p:nvPr/>
        </p:nvSpPr>
        <p:spPr>
          <a:xfrm>
            <a:off x="5486400" y="0"/>
            <a:ext cx="5486" cy="6858000"/>
          </a:xfrm>
          <a:prstGeom prst="rect">
            <a:avLst/>
          </a:prstGeom>
          <a:solidFill>
            <a:srgbClr val="131B22"/>
          </a:solidFill>
          <a:ln w="9525">
            <a:solidFill>
              <a:srgbClr val="131B22"/>
            </a:solidFill>
          </a:ln>
        </p:spPr>
      </p:sp>
      <p:sp>
        <p:nvSpPr>
          <p:cNvPr id="14" name="Panel 14"/>
          <p:cNvSpPr/>
          <p:nvPr/>
        </p:nvSpPr>
        <p:spPr>
          <a:xfrm>
            <a:off x="5943600" y="0"/>
            <a:ext cx="5486" cy="6858000"/>
          </a:xfrm>
          <a:prstGeom prst="rect">
            <a:avLst/>
          </a:prstGeom>
          <a:solidFill>
            <a:srgbClr val="131B22"/>
          </a:solidFill>
          <a:ln w="9525">
            <a:solidFill>
              <a:srgbClr val="131B22"/>
            </a:solidFill>
          </a:ln>
        </p:spPr>
      </p:sp>
      <p:sp>
        <p:nvSpPr>
          <p:cNvPr id="15" name="Panel 15"/>
          <p:cNvSpPr/>
          <p:nvPr/>
        </p:nvSpPr>
        <p:spPr>
          <a:xfrm>
            <a:off x="6400800" y="0"/>
            <a:ext cx="5486" cy="6858000"/>
          </a:xfrm>
          <a:prstGeom prst="rect">
            <a:avLst/>
          </a:prstGeom>
          <a:solidFill>
            <a:srgbClr val="131B22"/>
          </a:solidFill>
          <a:ln w="9525">
            <a:solidFill>
              <a:srgbClr val="131B22"/>
            </a:solidFill>
          </a:ln>
        </p:spPr>
      </p:sp>
      <p:sp>
        <p:nvSpPr>
          <p:cNvPr id="16" name="Panel 16"/>
          <p:cNvSpPr/>
          <p:nvPr/>
        </p:nvSpPr>
        <p:spPr>
          <a:xfrm>
            <a:off x="6858000" y="0"/>
            <a:ext cx="5486" cy="6858000"/>
          </a:xfrm>
          <a:prstGeom prst="rect">
            <a:avLst/>
          </a:prstGeom>
          <a:solidFill>
            <a:srgbClr val="131B22"/>
          </a:solidFill>
          <a:ln w="9525">
            <a:solidFill>
              <a:srgbClr val="131B22"/>
            </a:solidFill>
          </a:ln>
        </p:spPr>
      </p:sp>
      <p:sp>
        <p:nvSpPr>
          <p:cNvPr id="17" name="Panel 17"/>
          <p:cNvSpPr/>
          <p:nvPr/>
        </p:nvSpPr>
        <p:spPr>
          <a:xfrm>
            <a:off x="7315200" y="0"/>
            <a:ext cx="5486" cy="6858000"/>
          </a:xfrm>
          <a:prstGeom prst="rect">
            <a:avLst/>
          </a:prstGeom>
          <a:solidFill>
            <a:srgbClr val="131B22"/>
          </a:solidFill>
          <a:ln w="9525">
            <a:solidFill>
              <a:srgbClr val="131B22"/>
            </a:solidFill>
          </a:ln>
        </p:spPr>
      </p:sp>
      <p:sp>
        <p:nvSpPr>
          <p:cNvPr id="18" name="Panel 18"/>
          <p:cNvSpPr/>
          <p:nvPr/>
        </p:nvSpPr>
        <p:spPr>
          <a:xfrm>
            <a:off x="7772400" y="0"/>
            <a:ext cx="5486" cy="6858000"/>
          </a:xfrm>
          <a:prstGeom prst="rect">
            <a:avLst/>
          </a:prstGeom>
          <a:solidFill>
            <a:srgbClr val="131B22"/>
          </a:solidFill>
          <a:ln w="9525">
            <a:solidFill>
              <a:srgbClr val="131B22"/>
            </a:solidFill>
          </a:ln>
        </p:spPr>
      </p:sp>
      <p:sp>
        <p:nvSpPr>
          <p:cNvPr id="19" name="Panel 19"/>
          <p:cNvSpPr/>
          <p:nvPr/>
        </p:nvSpPr>
        <p:spPr>
          <a:xfrm>
            <a:off x="8229600" y="0"/>
            <a:ext cx="5486" cy="6858000"/>
          </a:xfrm>
          <a:prstGeom prst="rect">
            <a:avLst/>
          </a:prstGeom>
          <a:solidFill>
            <a:srgbClr val="131B22"/>
          </a:solidFill>
          <a:ln w="9525">
            <a:solidFill>
              <a:srgbClr val="131B22"/>
            </a:solidFill>
          </a:ln>
        </p:spPr>
      </p:sp>
      <p:sp>
        <p:nvSpPr>
          <p:cNvPr id="20" name="Panel 20"/>
          <p:cNvSpPr/>
          <p:nvPr/>
        </p:nvSpPr>
        <p:spPr>
          <a:xfrm>
            <a:off x="8686800" y="0"/>
            <a:ext cx="5486" cy="6858000"/>
          </a:xfrm>
          <a:prstGeom prst="rect">
            <a:avLst/>
          </a:prstGeom>
          <a:solidFill>
            <a:srgbClr val="131B22"/>
          </a:solidFill>
          <a:ln w="9525">
            <a:solidFill>
              <a:srgbClr val="131B22"/>
            </a:solidFill>
          </a:ln>
        </p:spPr>
      </p:sp>
      <p:sp>
        <p:nvSpPr>
          <p:cNvPr id="21" name="Panel 21"/>
          <p:cNvSpPr/>
          <p:nvPr/>
        </p:nvSpPr>
        <p:spPr>
          <a:xfrm>
            <a:off x="9144000" y="0"/>
            <a:ext cx="5486" cy="6858000"/>
          </a:xfrm>
          <a:prstGeom prst="rect">
            <a:avLst/>
          </a:prstGeom>
          <a:solidFill>
            <a:srgbClr val="131B22"/>
          </a:solidFill>
          <a:ln w="9525">
            <a:solidFill>
              <a:srgbClr val="131B22"/>
            </a:solidFill>
          </a:ln>
        </p:spPr>
      </p:sp>
      <p:sp>
        <p:nvSpPr>
          <p:cNvPr id="22" name="Panel 22"/>
          <p:cNvSpPr/>
          <p:nvPr/>
        </p:nvSpPr>
        <p:spPr>
          <a:xfrm>
            <a:off x="9601200" y="0"/>
            <a:ext cx="5486" cy="6858000"/>
          </a:xfrm>
          <a:prstGeom prst="rect">
            <a:avLst/>
          </a:prstGeom>
          <a:solidFill>
            <a:srgbClr val="131B22"/>
          </a:solidFill>
          <a:ln w="9525">
            <a:solidFill>
              <a:srgbClr val="131B22"/>
            </a:solidFill>
          </a:ln>
        </p:spPr>
      </p:sp>
      <p:sp>
        <p:nvSpPr>
          <p:cNvPr id="23" name="Panel 23"/>
          <p:cNvSpPr/>
          <p:nvPr/>
        </p:nvSpPr>
        <p:spPr>
          <a:xfrm>
            <a:off x="10058400" y="0"/>
            <a:ext cx="5486" cy="6858000"/>
          </a:xfrm>
          <a:prstGeom prst="rect">
            <a:avLst/>
          </a:prstGeom>
          <a:solidFill>
            <a:srgbClr val="131B22"/>
          </a:solidFill>
          <a:ln w="9525">
            <a:solidFill>
              <a:srgbClr val="131B22"/>
            </a:solidFill>
          </a:ln>
        </p:spPr>
      </p:sp>
      <p:sp>
        <p:nvSpPr>
          <p:cNvPr id="24" name="Panel 24"/>
          <p:cNvSpPr/>
          <p:nvPr/>
        </p:nvSpPr>
        <p:spPr>
          <a:xfrm>
            <a:off x="10515600" y="0"/>
            <a:ext cx="5486" cy="6858000"/>
          </a:xfrm>
          <a:prstGeom prst="rect">
            <a:avLst/>
          </a:prstGeom>
          <a:solidFill>
            <a:srgbClr val="131B22"/>
          </a:solidFill>
          <a:ln w="9525">
            <a:solidFill>
              <a:srgbClr val="131B22"/>
            </a:solidFill>
          </a:ln>
        </p:spPr>
      </p:sp>
      <p:sp>
        <p:nvSpPr>
          <p:cNvPr id="25" name="Panel 25"/>
          <p:cNvSpPr/>
          <p:nvPr/>
        </p:nvSpPr>
        <p:spPr>
          <a:xfrm>
            <a:off x="10972800" y="0"/>
            <a:ext cx="5486" cy="6858000"/>
          </a:xfrm>
          <a:prstGeom prst="rect">
            <a:avLst/>
          </a:prstGeom>
          <a:solidFill>
            <a:srgbClr val="131B22"/>
          </a:solidFill>
          <a:ln w="9525">
            <a:solidFill>
              <a:srgbClr val="131B22"/>
            </a:solidFill>
          </a:ln>
        </p:spPr>
      </p:sp>
      <p:sp>
        <p:nvSpPr>
          <p:cNvPr id="26" name="Panel 26"/>
          <p:cNvSpPr/>
          <p:nvPr/>
        </p:nvSpPr>
        <p:spPr>
          <a:xfrm>
            <a:off x="11430000" y="0"/>
            <a:ext cx="5486" cy="6858000"/>
          </a:xfrm>
          <a:prstGeom prst="rect">
            <a:avLst/>
          </a:prstGeom>
          <a:solidFill>
            <a:srgbClr val="131B22"/>
          </a:solidFill>
          <a:ln w="9525">
            <a:solidFill>
              <a:srgbClr val="131B22"/>
            </a:solidFill>
          </a:ln>
        </p:spPr>
      </p:sp>
      <p:sp>
        <p:nvSpPr>
          <p:cNvPr id="27" name="Panel 27"/>
          <p:cNvSpPr/>
          <p:nvPr/>
        </p:nvSpPr>
        <p:spPr>
          <a:xfrm>
            <a:off x="11887200" y="0"/>
            <a:ext cx="5486" cy="6858000"/>
          </a:xfrm>
          <a:prstGeom prst="rect">
            <a:avLst/>
          </a:prstGeom>
          <a:solidFill>
            <a:srgbClr val="131B22"/>
          </a:solidFill>
          <a:ln w="9525">
            <a:solidFill>
              <a:srgbClr val="131B22"/>
            </a:solidFill>
          </a:ln>
        </p:spPr>
      </p:sp>
      <p:sp>
        <p:nvSpPr>
          <p:cNvPr id="28" name="Panel 28"/>
          <p:cNvSpPr/>
          <p:nvPr/>
        </p:nvSpPr>
        <p:spPr>
          <a:xfrm>
            <a:off x="0" y="457200"/>
            <a:ext cx="12192000" cy="5486"/>
          </a:xfrm>
          <a:prstGeom prst="rect">
            <a:avLst/>
          </a:prstGeom>
          <a:solidFill>
            <a:srgbClr val="131B22"/>
          </a:solidFill>
          <a:ln w="9525">
            <a:solidFill>
              <a:srgbClr val="131B22"/>
            </a:solidFill>
          </a:ln>
        </p:spPr>
      </p:sp>
      <p:sp>
        <p:nvSpPr>
          <p:cNvPr id="29" name="Panel 29"/>
          <p:cNvSpPr/>
          <p:nvPr/>
        </p:nvSpPr>
        <p:spPr>
          <a:xfrm>
            <a:off x="0" y="914400"/>
            <a:ext cx="12192000" cy="5486"/>
          </a:xfrm>
          <a:prstGeom prst="rect">
            <a:avLst/>
          </a:prstGeom>
          <a:solidFill>
            <a:srgbClr val="131B22"/>
          </a:solidFill>
          <a:ln w="9525">
            <a:solidFill>
              <a:srgbClr val="131B22"/>
            </a:solidFill>
          </a:ln>
        </p:spPr>
      </p:sp>
      <p:sp>
        <p:nvSpPr>
          <p:cNvPr id="30" name="Panel 30"/>
          <p:cNvSpPr/>
          <p:nvPr/>
        </p:nvSpPr>
        <p:spPr>
          <a:xfrm>
            <a:off x="0" y="1371600"/>
            <a:ext cx="12192000" cy="5486"/>
          </a:xfrm>
          <a:prstGeom prst="rect">
            <a:avLst/>
          </a:prstGeom>
          <a:solidFill>
            <a:srgbClr val="131B22"/>
          </a:solidFill>
          <a:ln w="9525">
            <a:solidFill>
              <a:srgbClr val="131B22"/>
            </a:solidFill>
          </a:ln>
        </p:spPr>
      </p:sp>
      <p:sp>
        <p:nvSpPr>
          <p:cNvPr id="31" name="Panel 31"/>
          <p:cNvSpPr/>
          <p:nvPr/>
        </p:nvSpPr>
        <p:spPr>
          <a:xfrm>
            <a:off x="0" y="1828800"/>
            <a:ext cx="12192000" cy="5486"/>
          </a:xfrm>
          <a:prstGeom prst="rect">
            <a:avLst/>
          </a:prstGeom>
          <a:solidFill>
            <a:srgbClr val="131B22"/>
          </a:solidFill>
          <a:ln w="9525">
            <a:solidFill>
              <a:srgbClr val="131B22"/>
            </a:solidFill>
          </a:ln>
        </p:spPr>
      </p:sp>
      <p:sp>
        <p:nvSpPr>
          <p:cNvPr id="32" name="Panel 32"/>
          <p:cNvSpPr/>
          <p:nvPr/>
        </p:nvSpPr>
        <p:spPr>
          <a:xfrm>
            <a:off x="0" y="2286000"/>
            <a:ext cx="12192000" cy="5486"/>
          </a:xfrm>
          <a:prstGeom prst="rect">
            <a:avLst/>
          </a:prstGeom>
          <a:solidFill>
            <a:srgbClr val="131B22"/>
          </a:solidFill>
          <a:ln w="9525">
            <a:solidFill>
              <a:srgbClr val="131B22"/>
            </a:solidFill>
          </a:ln>
        </p:spPr>
      </p:sp>
      <p:sp>
        <p:nvSpPr>
          <p:cNvPr id="33" name="Panel 33"/>
          <p:cNvSpPr/>
          <p:nvPr/>
        </p:nvSpPr>
        <p:spPr>
          <a:xfrm>
            <a:off x="0" y="2743200"/>
            <a:ext cx="12192000" cy="5486"/>
          </a:xfrm>
          <a:prstGeom prst="rect">
            <a:avLst/>
          </a:prstGeom>
          <a:solidFill>
            <a:srgbClr val="131B22"/>
          </a:solidFill>
          <a:ln w="9525">
            <a:solidFill>
              <a:srgbClr val="131B22"/>
            </a:solidFill>
          </a:ln>
        </p:spPr>
      </p:sp>
      <p:sp>
        <p:nvSpPr>
          <p:cNvPr id="34" name="Panel 34"/>
          <p:cNvSpPr/>
          <p:nvPr/>
        </p:nvSpPr>
        <p:spPr>
          <a:xfrm>
            <a:off x="0" y="3200400"/>
            <a:ext cx="12192000" cy="5486"/>
          </a:xfrm>
          <a:prstGeom prst="rect">
            <a:avLst/>
          </a:prstGeom>
          <a:solidFill>
            <a:srgbClr val="131B22"/>
          </a:solidFill>
          <a:ln w="9525">
            <a:solidFill>
              <a:srgbClr val="131B22"/>
            </a:solidFill>
          </a:ln>
        </p:spPr>
      </p:sp>
      <p:sp>
        <p:nvSpPr>
          <p:cNvPr id="35" name="Panel 35"/>
          <p:cNvSpPr/>
          <p:nvPr/>
        </p:nvSpPr>
        <p:spPr>
          <a:xfrm>
            <a:off x="0" y="3657600"/>
            <a:ext cx="12192000" cy="5486"/>
          </a:xfrm>
          <a:prstGeom prst="rect">
            <a:avLst/>
          </a:prstGeom>
          <a:solidFill>
            <a:srgbClr val="131B22"/>
          </a:solidFill>
          <a:ln w="9525">
            <a:solidFill>
              <a:srgbClr val="131B22"/>
            </a:solidFill>
          </a:ln>
        </p:spPr>
      </p:sp>
      <p:sp>
        <p:nvSpPr>
          <p:cNvPr id="36" name="Panel 36"/>
          <p:cNvSpPr/>
          <p:nvPr/>
        </p:nvSpPr>
        <p:spPr>
          <a:xfrm>
            <a:off x="0" y="4114800"/>
            <a:ext cx="12192000" cy="5486"/>
          </a:xfrm>
          <a:prstGeom prst="rect">
            <a:avLst/>
          </a:prstGeom>
          <a:solidFill>
            <a:srgbClr val="131B22"/>
          </a:solidFill>
          <a:ln w="9525">
            <a:solidFill>
              <a:srgbClr val="131B22"/>
            </a:solidFill>
          </a:ln>
        </p:spPr>
      </p:sp>
      <p:sp>
        <p:nvSpPr>
          <p:cNvPr id="37" name="Panel 37"/>
          <p:cNvSpPr/>
          <p:nvPr/>
        </p:nvSpPr>
        <p:spPr>
          <a:xfrm>
            <a:off x="0" y="4572000"/>
            <a:ext cx="12192000" cy="5486"/>
          </a:xfrm>
          <a:prstGeom prst="rect">
            <a:avLst/>
          </a:prstGeom>
          <a:solidFill>
            <a:srgbClr val="131B22"/>
          </a:solidFill>
          <a:ln w="9525">
            <a:solidFill>
              <a:srgbClr val="131B22"/>
            </a:solidFill>
          </a:ln>
        </p:spPr>
      </p:sp>
      <p:sp>
        <p:nvSpPr>
          <p:cNvPr id="38" name="Panel 38"/>
          <p:cNvSpPr/>
          <p:nvPr/>
        </p:nvSpPr>
        <p:spPr>
          <a:xfrm>
            <a:off x="0" y="5029200"/>
            <a:ext cx="12192000" cy="5486"/>
          </a:xfrm>
          <a:prstGeom prst="rect">
            <a:avLst/>
          </a:prstGeom>
          <a:solidFill>
            <a:srgbClr val="131B22"/>
          </a:solidFill>
          <a:ln w="9525">
            <a:solidFill>
              <a:srgbClr val="131B22"/>
            </a:solidFill>
          </a:ln>
        </p:spPr>
      </p:sp>
      <p:sp>
        <p:nvSpPr>
          <p:cNvPr id="39" name="Panel 39"/>
          <p:cNvSpPr/>
          <p:nvPr/>
        </p:nvSpPr>
        <p:spPr>
          <a:xfrm>
            <a:off x="0" y="5486400"/>
            <a:ext cx="12192000" cy="5486"/>
          </a:xfrm>
          <a:prstGeom prst="rect">
            <a:avLst/>
          </a:prstGeom>
          <a:solidFill>
            <a:srgbClr val="131B22"/>
          </a:solidFill>
          <a:ln w="9525">
            <a:solidFill>
              <a:srgbClr val="131B22"/>
            </a:solidFill>
          </a:ln>
        </p:spPr>
      </p:sp>
      <p:sp>
        <p:nvSpPr>
          <p:cNvPr id="40" name="Panel 40"/>
          <p:cNvSpPr/>
          <p:nvPr/>
        </p:nvSpPr>
        <p:spPr>
          <a:xfrm>
            <a:off x="0" y="5943600"/>
            <a:ext cx="12192000" cy="5486"/>
          </a:xfrm>
          <a:prstGeom prst="rect">
            <a:avLst/>
          </a:prstGeom>
          <a:solidFill>
            <a:srgbClr val="131B22"/>
          </a:solidFill>
          <a:ln w="9525">
            <a:solidFill>
              <a:srgbClr val="131B22"/>
            </a:solidFill>
          </a:ln>
        </p:spPr>
      </p:sp>
      <p:sp>
        <p:nvSpPr>
          <p:cNvPr id="41" name="Panel 41"/>
          <p:cNvSpPr/>
          <p:nvPr/>
        </p:nvSpPr>
        <p:spPr>
          <a:xfrm>
            <a:off x="0" y="6400800"/>
            <a:ext cx="12192000" cy="5486"/>
          </a:xfrm>
          <a:prstGeom prst="rect">
            <a:avLst/>
          </a:prstGeom>
          <a:solidFill>
            <a:srgbClr val="131B22"/>
          </a:solidFill>
          <a:ln w="9525">
            <a:solidFill>
              <a:srgbClr val="131B22"/>
            </a:solidFill>
          </a:ln>
        </p:spPr>
      </p:sp>
      <p:sp>
        <p:nvSpPr>
          <p:cNvPr id="42" name="Text 42"/>
          <p:cNvSpPr txBox="1"/>
          <p:nvPr/>
        </p:nvSpPr>
        <p:spPr>
          <a:xfrm>
            <a:off x="594360" y="329184"/>
            <a:ext cx="2743200" cy="320040"/>
          </a:xfrm>
          <a:prstGeom prst="rect">
            <a:avLst/>
          </a:prstGeom>
          <a:noFill/>
          <a:ln>
            <a:noFill/>
          </a:ln>
        </p:spPr>
        <p:txBody>
          <a:bodyPr wrap="square" lIns="0" tIns="0" rIns="0" bIns="0" anchor="t"/>
          <a:lstStyle/>
          <a:p>
            <a:pPr/>
            <a:r>
              <a:rPr lang="en-US" sz="2200" b="1">
                <a:solidFill>
                  <a:srgbClr val="FFB1C4"/>
                </a:solidFill>
                <a:latin typeface="Space Grotesk"/>
              </a:rPr>
              <a:t>Paiflow</a:t>
            </a:r>
            <a:endParaRPr lang="en-US" sz="2200"/>
          </a:p>
        </p:txBody>
      </p:sp>
      <p:sp>
        <p:nvSpPr>
          <p:cNvPr id="43" name="Text 43"/>
          <p:cNvSpPr txBox="1"/>
          <p:nvPr/>
        </p:nvSpPr>
        <p:spPr>
          <a:xfrm>
            <a:off x="7498080" y="393192"/>
            <a:ext cx="4114800" cy="228600"/>
          </a:xfrm>
          <a:prstGeom prst="rect">
            <a:avLst/>
          </a:prstGeom>
          <a:noFill/>
          <a:ln>
            <a:noFill/>
          </a:ln>
        </p:spPr>
        <p:txBody>
          <a:bodyPr wrap="square" lIns="0" tIns="0" rIns="0" bIns="0" anchor="t"/>
          <a:lstStyle/>
          <a:p>
            <a:pPr/>
            <a:r>
              <a:rPr lang="en-US" sz="1100" b="0">
                <a:solidFill>
                  <a:srgbClr val="98CBFF"/>
                </a:solidFill>
                <a:latin typeface="JetBrains Mono"/>
              </a:rPr>
              <a:t>ALPHA RESULTS → OCTOBER FORECAST</a:t>
            </a:r>
            <a:endParaRPr lang="en-US" sz="1100"/>
          </a:p>
        </p:txBody>
      </p:sp>
      <p:sp>
        <p:nvSpPr>
          <p:cNvPr id="44" name="Panel 44"/>
          <p:cNvSpPr/>
          <p:nvPr/>
        </p:nvSpPr>
        <p:spPr>
          <a:xfrm>
            <a:off x="594360" y="6345936"/>
            <a:ext cx="10972800" cy="10973"/>
          </a:xfrm>
          <a:prstGeom prst="rect">
            <a:avLst/>
          </a:prstGeom>
          <a:solidFill>
            <a:srgbClr val="5C3F46"/>
          </a:solidFill>
          <a:ln w="9525">
            <a:solidFill>
              <a:srgbClr val="5C3F46"/>
            </a:solidFill>
          </a:ln>
        </p:spPr>
      </p:sp>
      <p:sp>
        <p:nvSpPr>
          <p:cNvPr id="45" name="Text 45"/>
          <p:cNvSpPr txBox="1"/>
          <p:nvPr/>
        </p:nvSpPr>
        <p:spPr>
          <a:xfrm>
            <a:off x="594360" y="6473952"/>
            <a:ext cx="9144000" cy="182880"/>
          </a:xfrm>
          <a:prstGeom prst="rect">
            <a:avLst/>
          </a:prstGeom>
          <a:noFill/>
          <a:ln>
            <a:noFill/>
          </a:ln>
        </p:spPr>
        <p:txBody>
          <a:bodyPr wrap="square" lIns="0" tIns="0" rIns="0" bIns="0" anchor="t"/>
          <a:lstStyle/>
          <a:p>
            <a:pPr/>
            <a:r>
              <a:rPr lang="en-US" sz="1000" b="0">
                <a:solidFill>
                  <a:srgbClr val="A8A3A6"/>
                </a:solidFill>
                <a:latin typeface="JetBrains Mono"/>
              </a:rPr>
              <a:t>InstaAwards Builder Showcase  /  08 OCT 2026  /  Stellar testnet</a:t>
            </a:r>
            <a:endParaRPr lang="en-US" sz="1000"/>
          </a:p>
        </p:txBody>
      </p:sp>
      <p:sp>
        <p:nvSpPr>
          <p:cNvPr id="46" name="Text 46"/>
          <p:cNvSpPr txBox="1"/>
          <p:nvPr/>
        </p:nvSpPr>
        <p:spPr>
          <a:xfrm>
            <a:off x="10972800" y="6455664"/>
            <a:ext cx="548640" cy="228600"/>
          </a:xfrm>
          <a:prstGeom prst="rect">
            <a:avLst/>
          </a:prstGeom>
          <a:noFill/>
          <a:ln>
            <a:noFill/>
          </a:ln>
        </p:spPr>
        <p:txBody>
          <a:bodyPr wrap="square" lIns="0" tIns="0" rIns="0" bIns="0" anchor="t"/>
          <a:lstStyle/>
          <a:p>
            <a:pPr/>
            <a:r>
              <a:rPr lang="en-US" sz="1100" b="0">
                <a:solidFill>
                  <a:srgbClr val="FFB1C4"/>
                </a:solidFill>
                <a:latin typeface="JetBrains Mono"/>
              </a:rPr>
              <a:t>04</a:t>
            </a:r>
            <a:endParaRPr lang="en-US" sz="1100"/>
          </a:p>
        </p:txBody>
      </p:sp>
      <p:sp>
        <p:nvSpPr>
          <p:cNvPr id="47" name="Text 47"/>
          <p:cNvSpPr txBox="1"/>
          <p:nvPr/>
        </p:nvSpPr>
        <p:spPr>
          <a:xfrm>
            <a:off x="594360" y="941832"/>
            <a:ext cx="10972800" cy="640080"/>
          </a:xfrm>
          <a:prstGeom prst="rect">
            <a:avLst/>
          </a:prstGeom>
          <a:noFill/>
          <a:ln>
            <a:noFill/>
          </a:ln>
        </p:spPr>
        <p:txBody>
          <a:bodyPr wrap="square" lIns="0" tIns="0" rIns="0" bIns="0" anchor="t"/>
          <a:lstStyle/>
          <a:p>
            <a:pPr/>
            <a:r>
              <a:rPr lang="en-US" sz="3500" b="1">
                <a:solidFill>
                  <a:srgbClr val="E5E2E1"/>
                </a:solidFill>
                <a:latin typeface="Space Grotesk"/>
              </a:rPr>
              <a:t>Where we are. What comes next.</a:t>
            </a:r>
            <a:endParaRPr lang="en-US" sz="3500"/>
          </a:p>
        </p:txBody>
      </p:sp>
      <p:sp>
        <p:nvSpPr>
          <p:cNvPr id="48" name="Text 48"/>
          <p:cNvSpPr txBox="1"/>
          <p:nvPr/>
        </p:nvSpPr>
        <p:spPr>
          <a:xfrm>
            <a:off x="594360" y="1636776"/>
            <a:ext cx="10972800" cy="365760"/>
          </a:xfrm>
          <a:prstGeom prst="rect">
            <a:avLst/>
          </a:prstGeom>
          <a:noFill/>
          <a:ln>
            <a:noFill/>
          </a:ln>
        </p:spPr>
        <p:txBody>
          <a:bodyPr wrap="square" lIns="0" tIns="0" rIns="0" bIns="0" anchor="t"/>
          <a:lstStyle/>
          <a:p>
            <a:pPr/>
            <a:r>
              <a:rPr lang="en-US" sz="2000" b="0">
                <a:solidFill>
                  <a:srgbClr val="A8A3A6"/>
                </a:solidFill>
                <a:latin typeface="Geist"/>
              </a:rPr>
              <a:t>Grow usage through October’s planned builder events.</a:t>
            </a:r>
            <a:endParaRPr lang="en-US" sz="2000"/>
          </a:p>
        </p:txBody>
      </p:sp>
      <p:sp>
        <p:nvSpPr>
          <p:cNvPr id="49" name="Text 49"/>
          <p:cNvSpPr txBox="1"/>
          <p:nvPr/>
        </p:nvSpPr>
        <p:spPr>
          <a:xfrm>
            <a:off x="841248" y="2221992"/>
            <a:ext cx="4389120" cy="228600"/>
          </a:xfrm>
          <a:prstGeom prst="rect">
            <a:avLst/>
          </a:prstGeom>
          <a:noFill/>
          <a:ln>
            <a:noFill/>
          </a:ln>
        </p:spPr>
        <p:txBody>
          <a:bodyPr wrap="square" lIns="0" tIns="0" rIns="0" bIns="0" anchor="t"/>
          <a:lstStyle/>
          <a:p>
            <a:pPr/>
            <a:r>
              <a:rPr lang="en-US" sz="1200" b="0">
                <a:solidFill>
                  <a:srgbClr val="98CBFF"/>
                </a:solidFill>
                <a:latin typeface="JetBrains Mono"/>
              </a:rPr>
              <a:t>METRIC</a:t>
            </a:r>
            <a:endParaRPr lang="en-US" sz="1200"/>
          </a:p>
        </p:txBody>
      </p:sp>
      <p:sp>
        <p:nvSpPr>
          <p:cNvPr id="50" name="Text 50"/>
          <p:cNvSpPr txBox="1"/>
          <p:nvPr/>
        </p:nvSpPr>
        <p:spPr>
          <a:xfrm>
            <a:off x="5532120" y="2221992"/>
            <a:ext cx="1371600" cy="228600"/>
          </a:xfrm>
          <a:prstGeom prst="rect">
            <a:avLst/>
          </a:prstGeom>
          <a:noFill/>
          <a:ln>
            <a:noFill/>
          </a:ln>
        </p:spPr>
        <p:txBody>
          <a:bodyPr wrap="square" lIns="0" tIns="0" rIns="0" bIns="0" anchor="t"/>
          <a:lstStyle/>
          <a:p>
            <a:pPr/>
            <a:r>
              <a:rPr lang="en-US" sz="1200" b="0">
                <a:solidFill>
                  <a:srgbClr val="98CBFF"/>
                </a:solidFill>
                <a:latin typeface="JetBrains Mono"/>
              </a:rPr>
              <a:t>BASELINE</a:t>
            </a:r>
            <a:endParaRPr lang="en-US" sz="1200"/>
          </a:p>
        </p:txBody>
      </p:sp>
      <p:sp>
        <p:nvSpPr>
          <p:cNvPr id="51" name="Text 51"/>
          <p:cNvSpPr txBox="1"/>
          <p:nvPr/>
        </p:nvSpPr>
        <p:spPr>
          <a:xfrm>
            <a:off x="7434072" y="2221992"/>
            <a:ext cx="1737360" cy="228600"/>
          </a:xfrm>
          <a:prstGeom prst="rect">
            <a:avLst/>
          </a:prstGeom>
          <a:noFill/>
          <a:ln>
            <a:noFill/>
          </a:ln>
        </p:spPr>
        <p:txBody>
          <a:bodyPr wrap="square" lIns="0" tIns="0" rIns="0" bIns="0" anchor="t"/>
          <a:lstStyle/>
          <a:p>
            <a:pPr/>
            <a:r>
              <a:rPr lang="en-US" sz="1200" b="0">
                <a:solidFill>
                  <a:srgbClr val="98CBFF"/>
                </a:solidFill>
                <a:latin typeface="JetBrains Mono"/>
              </a:rPr>
              <a:t>BY 31 OCT</a:t>
            </a:r>
            <a:endParaRPr lang="en-US" sz="1200"/>
          </a:p>
        </p:txBody>
      </p:sp>
      <p:sp>
        <p:nvSpPr>
          <p:cNvPr id="52" name="Text 52"/>
          <p:cNvSpPr txBox="1"/>
          <p:nvPr/>
        </p:nvSpPr>
        <p:spPr>
          <a:xfrm>
            <a:off x="9537192" y="2221992"/>
            <a:ext cx="1691640" cy="228600"/>
          </a:xfrm>
          <a:prstGeom prst="rect">
            <a:avLst/>
          </a:prstGeom>
          <a:noFill/>
          <a:ln>
            <a:noFill/>
          </a:ln>
        </p:spPr>
        <p:txBody>
          <a:bodyPr wrap="square" lIns="0" tIns="0" rIns="0" bIns="0" anchor="t"/>
          <a:lstStyle/>
          <a:p>
            <a:pPr/>
            <a:r>
              <a:rPr lang="en-US" sz="1200" b="0">
                <a:solidFill>
                  <a:srgbClr val="98CBFF"/>
                </a:solidFill>
                <a:latin typeface="JetBrains Mono"/>
              </a:rPr>
              <a:t>NEW ACTIVITY</a:t>
            </a:r>
            <a:endParaRPr lang="en-US" sz="1200"/>
          </a:p>
        </p:txBody>
      </p:sp>
      <p:sp>
        <p:nvSpPr>
          <p:cNvPr id="53" name="Panel 53"/>
          <p:cNvSpPr/>
          <p:nvPr/>
        </p:nvSpPr>
        <p:spPr>
          <a:xfrm>
            <a:off x="594360" y="2624328"/>
            <a:ext cx="10972800" cy="411480"/>
          </a:xfrm>
          <a:prstGeom prst="rect">
            <a:avLst/>
          </a:prstGeom>
          <a:solidFill>
            <a:srgbClr val="1C1B1B"/>
          </a:solidFill>
          <a:ln w="9525">
            <a:solidFill>
              <a:srgbClr val="5C3F46"/>
            </a:solidFill>
          </a:ln>
        </p:spPr>
      </p:sp>
      <p:sp>
        <p:nvSpPr>
          <p:cNvPr id="54" name="Text 54"/>
          <p:cNvSpPr txBox="1"/>
          <p:nvPr/>
        </p:nvSpPr>
        <p:spPr>
          <a:xfrm>
            <a:off x="841248" y="2702052"/>
            <a:ext cx="4389120" cy="274320"/>
          </a:xfrm>
          <a:prstGeom prst="rect">
            <a:avLst/>
          </a:prstGeom>
          <a:noFill/>
          <a:ln>
            <a:noFill/>
          </a:ln>
        </p:spPr>
        <p:txBody>
          <a:bodyPr wrap="square" lIns="0" tIns="0" rIns="0" bIns="0" anchor="t"/>
          <a:lstStyle/>
          <a:p>
            <a:pPr/>
            <a:r>
              <a:rPr lang="en-US" sz="1700" b="0">
                <a:solidFill>
                  <a:srgbClr val="E5E2E1"/>
                </a:solidFill>
                <a:latin typeface="Geist"/>
              </a:rPr>
              <a:t>Users onboarded</a:t>
            </a:r>
            <a:endParaRPr lang="en-US" sz="1700"/>
          </a:p>
        </p:txBody>
      </p:sp>
      <p:sp>
        <p:nvSpPr>
          <p:cNvPr id="55" name="Text 55"/>
          <p:cNvSpPr txBox="1"/>
          <p:nvPr/>
        </p:nvSpPr>
        <p:spPr>
          <a:xfrm>
            <a:off x="5532120" y="2683764"/>
            <a:ext cx="1463040" cy="292608"/>
          </a:xfrm>
          <a:prstGeom prst="rect">
            <a:avLst/>
          </a:prstGeom>
          <a:noFill/>
          <a:ln>
            <a:noFill/>
          </a:ln>
        </p:spPr>
        <p:txBody>
          <a:bodyPr wrap="square" lIns="0" tIns="0" rIns="0" bIns="0" anchor="t"/>
          <a:lstStyle/>
          <a:p>
            <a:pPr/>
            <a:r>
              <a:rPr lang="en-US" sz="1900" b="0">
                <a:solidFill>
                  <a:srgbClr val="E5E2E1"/>
                </a:solidFill>
                <a:latin typeface="JetBrains Mono"/>
              </a:rPr>
              <a:t>9</a:t>
            </a:r>
            <a:endParaRPr lang="en-US" sz="1900"/>
          </a:p>
        </p:txBody>
      </p:sp>
      <p:sp>
        <p:nvSpPr>
          <p:cNvPr id="56" name="Text 56"/>
          <p:cNvSpPr txBox="1"/>
          <p:nvPr/>
        </p:nvSpPr>
        <p:spPr>
          <a:xfrm>
            <a:off x="6803136" y="2702052"/>
            <a:ext cx="365760" cy="274320"/>
          </a:xfrm>
          <a:prstGeom prst="rect">
            <a:avLst/>
          </a:prstGeom>
          <a:noFill/>
          <a:ln>
            <a:noFill/>
          </a:ln>
        </p:spPr>
        <p:txBody>
          <a:bodyPr wrap="square" lIns="0" tIns="0" rIns="0" bIns="0" anchor="t"/>
          <a:lstStyle/>
          <a:p>
            <a:pPr/>
            <a:r>
              <a:rPr lang="en-US" sz="1700" b="0">
                <a:solidFill>
                  <a:srgbClr val="A8A3A6"/>
                </a:solidFill>
                <a:latin typeface="Geist"/>
              </a:rPr>
              <a:t>→</a:t>
            </a:r>
            <a:endParaRPr lang="en-US" sz="1700"/>
          </a:p>
        </p:txBody>
      </p:sp>
      <p:sp>
        <p:nvSpPr>
          <p:cNvPr id="57" name="Text 57"/>
          <p:cNvSpPr txBox="1"/>
          <p:nvPr/>
        </p:nvSpPr>
        <p:spPr>
          <a:xfrm>
            <a:off x="7434072" y="2683764"/>
            <a:ext cx="1645920" cy="292608"/>
          </a:xfrm>
          <a:prstGeom prst="rect">
            <a:avLst/>
          </a:prstGeom>
          <a:noFill/>
          <a:ln>
            <a:noFill/>
          </a:ln>
        </p:spPr>
        <p:txBody>
          <a:bodyPr wrap="square" lIns="0" tIns="0" rIns="0" bIns="0" anchor="t"/>
          <a:lstStyle/>
          <a:p>
            <a:pPr/>
            <a:r>
              <a:rPr lang="en-US" sz="1900" b="1">
                <a:solidFill>
                  <a:srgbClr val="FFB1C4"/>
                </a:solidFill>
                <a:latin typeface="JetBrains Mono"/>
              </a:rPr>
              <a:t>45+</a:t>
            </a:r>
            <a:endParaRPr lang="en-US" sz="1900"/>
          </a:p>
        </p:txBody>
      </p:sp>
      <p:sp>
        <p:nvSpPr>
          <p:cNvPr id="58" name="Text 58"/>
          <p:cNvSpPr txBox="1"/>
          <p:nvPr/>
        </p:nvSpPr>
        <p:spPr>
          <a:xfrm>
            <a:off x="9537192" y="2683764"/>
            <a:ext cx="1691640" cy="292608"/>
          </a:xfrm>
          <a:prstGeom prst="rect">
            <a:avLst/>
          </a:prstGeom>
          <a:noFill/>
          <a:ln>
            <a:noFill/>
          </a:ln>
        </p:spPr>
        <p:txBody>
          <a:bodyPr wrap="square" lIns="0" tIns="0" rIns="0" bIns="0" anchor="t"/>
          <a:lstStyle/>
          <a:p>
            <a:pPr/>
            <a:r>
              <a:rPr lang="en-US" sz="1900" b="1">
                <a:solidFill>
                  <a:srgbClr val="FF4A8D"/>
                </a:solidFill>
                <a:latin typeface="JetBrains Mono"/>
              </a:rPr>
              <a:t>+36</a:t>
            </a:r>
            <a:endParaRPr lang="en-US" sz="1900"/>
          </a:p>
        </p:txBody>
      </p:sp>
      <p:sp>
        <p:nvSpPr>
          <p:cNvPr id="59" name="Panel 59"/>
          <p:cNvSpPr/>
          <p:nvPr/>
        </p:nvSpPr>
        <p:spPr>
          <a:xfrm>
            <a:off x="594360" y="3063240"/>
            <a:ext cx="10972800" cy="411480"/>
          </a:xfrm>
          <a:prstGeom prst="rect">
            <a:avLst/>
          </a:prstGeom>
          <a:solidFill>
            <a:srgbClr val="0E0E0E"/>
          </a:solidFill>
          <a:ln w="9525">
            <a:solidFill>
              <a:srgbClr val="5C3F46"/>
            </a:solidFill>
          </a:ln>
        </p:spPr>
      </p:sp>
      <p:sp>
        <p:nvSpPr>
          <p:cNvPr id="60" name="Text 60"/>
          <p:cNvSpPr txBox="1"/>
          <p:nvPr/>
        </p:nvSpPr>
        <p:spPr>
          <a:xfrm>
            <a:off x="841248" y="3140964"/>
            <a:ext cx="4389120" cy="274320"/>
          </a:xfrm>
          <a:prstGeom prst="rect">
            <a:avLst/>
          </a:prstGeom>
          <a:noFill/>
          <a:ln>
            <a:noFill/>
          </a:ln>
        </p:spPr>
        <p:txBody>
          <a:bodyPr wrap="square" lIns="0" tIns="0" rIns="0" bIns="0" anchor="t"/>
          <a:lstStyle/>
          <a:p>
            <a:pPr/>
            <a:r>
              <a:rPr lang="en-US" sz="1700" b="0">
                <a:solidFill>
                  <a:srgbClr val="E5E2E1"/>
                </a:solidFill>
                <a:latin typeface="Geist"/>
              </a:rPr>
              <a:t>Flow deployments</a:t>
            </a:r>
            <a:endParaRPr lang="en-US" sz="1700"/>
          </a:p>
        </p:txBody>
      </p:sp>
      <p:sp>
        <p:nvSpPr>
          <p:cNvPr id="61" name="Text 61"/>
          <p:cNvSpPr txBox="1"/>
          <p:nvPr/>
        </p:nvSpPr>
        <p:spPr>
          <a:xfrm>
            <a:off x="5532120" y="3122676"/>
            <a:ext cx="1463040" cy="292608"/>
          </a:xfrm>
          <a:prstGeom prst="rect">
            <a:avLst/>
          </a:prstGeom>
          <a:noFill/>
          <a:ln>
            <a:noFill/>
          </a:ln>
        </p:spPr>
        <p:txBody>
          <a:bodyPr wrap="square" lIns="0" tIns="0" rIns="0" bIns="0" anchor="t"/>
          <a:lstStyle/>
          <a:p>
            <a:pPr/>
            <a:r>
              <a:rPr lang="en-US" sz="1900" b="0">
                <a:solidFill>
                  <a:srgbClr val="E5E2E1"/>
                </a:solidFill>
                <a:latin typeface="JetBrains Mono"/>
              </a:rPr>
              <a:t>42</a:t>
            </a:r>
            <a:endParaRPr lang="en-US" sz="1900"/>
          </a:p>
        </p:txBody>
      </p:sp>
      <p:sp>
        <p:nvSpPr>
          <p:cNvPr id="62" name="Text 62"/>
          <p:cNvSpPr txBox="1"/>
          <p:nvPr/>
        </p:nvSpPr>
        <p:spPr>
          <a:xfrm>
            <a:off x="6803136" y="3140964"/>
            <a:ext cx="365760" cy="274320"/>
          </a:xfrm>
          <a:prstGeom prst="rect">
            <a:avLst/>
          </a:prstGeom>
          <a:noFill/>
          <a:ln>
            <a:noFill/>
          </a:ln>
        </p:spPr>
        <p:txBody>
          <a:bodyPr wrap="square" lIns="0" tIns="0" rIns="0" bIns="0" anchor="t"/>
          <a:lstStyle/>
          <a:p>
            <a:pPr/>
            <a:r>
              <a:rPr lang="en-US" sz="1700" b="0">
                <a:solidFill>
                  <a:srgbClr val="A8A3A6"/>
                </a:solidFill>
                <a:latin typeface="Geist"/>
              </a:rPr>
              <a:t>→</a:t>
            </a:r>
            <a:endParaRPr lang="en-US" sz="1700"/>
          </a:p>
        </p:txBody>
      </p:sp>
      <p:sp>
        <p:nvSpPr>
          <p:cNvPr id="63" name="Text 63"/>
          <p:cNvSpPr txBox="1"/>
          <p:nvPr/>
        </p:nvSpPr>
        <p:spPr>
          <a:xfrm>
            <a:off x="7434072" y="3122676"/>
            <a:ext cx="1645920" cy="292608"/>
          </a:xfrm>
          <a:prstGeom prst="rect">
            <a:avLst/>
          </a:prstGeom>
          <a:noFill/>
          <a:ln>
            <a:noFill/>
          </a:ln>
        </p:spPr>
        <p:txBody>
          <a:bodyPr wrap="square" lIns="0" tIns="0" rIns="0" bIns="0" anchor="t"/>
          <a:lstStyle/>
          <a:p>
            <a:pPr/>
            <a:r>
              <a:rPr lang="en-US" sz="1900" b="1">
                <a:solidFill>
                  <a:srgbClr val="FFB1C4"/>
                </a:solidFill>
                <a:latin typeface="JetBrains Mono"/>
              </a:rPr>
              <a:t>110+</a:t>
            </a:r>
            <a:endParaRPr lang="en-US" sz="1900"/>
          </a:p>
        </p:txBody>
      </p:sp>
      <p:sp>
        <p:nvSpPr>
          <p:cNvPr id="64" name="Text 64"/>
          <p:cNvSpPr txBox="1"/>
          <p:nvPr/>
        </p:nvSpPr>
        <p:spPr>
          <a:xfrm>
            <a:off x="9537192" y="3122676"/>
            <a:ext cx="1691640" cy="292608"/>
          </a:xfrm>
          <a:prstGeom prst="rect">
            <a:avLst/>
          </a:prstGeom>
          <a:noFill/>
          <a:ln>
            <a:noFill/>
          </a:ln>
        </p:spPr>
        <p:txBody>
          <a:bodyPr wrap="square" lIns="0" tIns="0" rIns="0" bIns="0" anchor="t"/>
          <a:lstStyle/>
          <a:p>
            <a:pPr/>
            <a:r>
              <a:rPr lang="en-US" sz="1900" b="1">
                <a:solidFill>
                  <a:srgbClr val="FF4A8D"/>
                </a:solidFill>
                <a:latin typeface="JetBrains Mono"/>
              </a:rPr>
              <a:t>+68</a:t>
            </a:r>
            <a:endParaRPr lang="en-US" sz="1900"/>
          </a:p>
        </p:txBody>
      </p:sp>
      <p:sp>
        <p:nvSpPr>
          <p:cNvPr id="65" name="Panel 65"/>
          <p:cNvSpPr/>
          <p:nvPr/>
        </p:nvSpPr>
        <p:spPr>
          <a:xfrm>
            <a:off x="594360" y="3502152"/>
            <a:ext cx="10972800" cy="411480"/>
          </a:xfrm>
          <a:prstGeom prst="rect">
            <a:avLst/>
          </a:prstGeom>
          <a:solidFill>
            <a:srgbClr val="1C1B1B"/>
          </a:solidFill>
          <a:ln w="9525">
            <a:solidFill>
              <a:srgbClr val="5C3F46"/>
            </a:solidFill>
          </a:ln>
        </p:spPr>
      </p:sp>
      <p:sp>
        <p:nvSpPr>
          <p:cNvPr id="66" name="Text 66"/>
          <p:cNvSpPr txBox="1"/>
          <p:nvPr/>
        </p:nvSpPr>
        <p:spPr>
          <a:xfrm>
            <a:off x="841248" y="3579876"/>
            <a:ext cx="4389120" cy="274320"/>
          </a:xfrm>
          <a:prstGeom prst="rect">
            <a:avLst/>
          </a:prstGeom>
          <a:noFill/>
          <a:ln>
            <a:noFill/>
          </a:ln>
        </p:spPr>
        <p:txBody>
          <a:bodyPr wrap="square" lIns="0" tIns="0" rIns="0" bIns="0" anchor="t"/>
          <a:lstStyle/>
          <a:p>
            <a:pPr/>
            <a:r>
              <a:rPr lang="en-US" sz="1700" b="0">
                <a:solidFill>
                  <a:srgbClr val="E5E2E1"/>
                </a:solidFill>
                <a:latin typeface="Geist"/>
              </a:rPr>
              <a:t>Unique flows designed</a:t>
            </a:r>
            <a:endParaRPr lang="en-US" sz="1700"/>
          </a:p>
        </p:txBody>
      </p:sp>
      <p:sp>
        <p:nvSpPr>
          <p:cNvPr id="67" name="Text 67"/>
          <p:cNvSpPr txBox="1"/>
          <p:nvPr/>
        </p:nvSpPr>
        <p:spPr>
          <a:xfrm>
            <a:off x="5532120" y="3561588"/>
            <a:ext cx="1463040" cy="292608"/>
          </a:xfrm>
          <a:prstGeom prst="rect">
            <a:avLst/>
          </a:prstGeom>
          <a:noFill/>
          <a:ln>
            <a:noFill/>
          </a:ln>
        </p:spPr>
        <p:txBody>
          <a:bodyPr wrap="square" lIns="0" tIns="0" rIns="0" bIns="0" anchor="t"/>
          <a:lstStyle/>
          <a:p>
            <a:pPr/>
            <a:r>
              <a:rPr lang="en-US" sz="1900" b="0">
                <a:solidFill>
                  <a:srgbClr val="E5E2E1"/>
                </a:solidFill>
                <a:latin typeface="JetBrains Mono"/>
              </a:rPr>
              <a:t>25</a:t>
            </a:r>
            <a:endParaRPr lang="en-US" sz="1900"/>
          </a:p>
        </p:txBody>
      </p:sp>
      <p:sp>
        <p:nvSpPr>
          <p:cNvPr id="68" name="Text 68"/>
          <p:cNvSpPr txBox="1"/>
          <p:nvPr/>
        </p:nvSpPr>
        <p:spPr>
          <a:xfrm>
            <a:off x="6803136" y="3579876"/>
            <a:ext cx="365760" cy="274320"/>
          </a:xfrm>
          <a:prstGeom prst="rect">
            <a:avLst/>
          </a:prstGeom>
          <a:noFill/>
          <a:ln>
            <a:noFill/>
          </a:ln>
        </p:spPr>
        <p:txBody>
          <a:bodyPr wrap="square" lIns="0" tIns="0" rIns="0" bIns="0" anchor="t"/>
          <a:lstStyle/>
          <a:p>
            <a:pPr/>
            <a:r>
              <a:rPr lang="en-US" sz="1700" b="0">
                <a:solidFill>
                  <a:srgbClr val="A8A3A6"/>
                </a:solidFill>
                <a:latin typeface="Geist"/>
              </a:rPr>
              <a:t>→</a:t>
            </a:r>
            <a:endParaRPr lang="en-US" sz="1700"/>
          </a:p>
        </p:txBody>
      </p:sp>
      <p:sp>
        <p:nvSpPr>
          <p:cNvPr id="69" name="Text 69"/>
          <p:cNvSpPr txBox="1"/>
          <p:nvPr/>
        </p:nvSpPr>
        <p:spPr>
          <a:xfrm>
            <a:off x="7434072" y="3561588"/>
            <a:ext cx="1645920" cy="292608"/>
          </a:xfrm>
          <a:prstGeom prst="rect">
            <a:avLst/>
          </a:prstGeom>
          <a:noFill/>
          <a:ln>
            <a:noFill/>
          </a:ln>
        </p:spPr>
        <p:txBody>
          <a:bodyPr wrap="square" lIns="0" tIns="0" rIns="0" bIns="0" anchor="t"/>
          <a:lstStyle/>
          <a:p>
            <a:pPr/>
            <a:r>
              <a:rPr lang="en-US" sz="1900" b="1">
                <a:solidFill>
                  <a:srgbClr val="FFB1C4"/>
                </a:solidFill>
                <a:latin typeface="JetBrains Mono"/>
              </a:rPr>
              <a:t>60+</a:t>
            </a:r>
            <a:endParaRPr lang="en-US" sz="1900"/>
          </a:p>
        </p:txBody>
      </p:sp>
      <p:sp>
        <p:nvSpPr>
          <p:cNvPr id="70" name="Text 70"/>
          <p:cNvSpPr txBox="1"/>
          <p:nvPr/>
        </p:nvSpPr>
        <p:spPr>
          <a:xfrm>
            <a:off x="9537192" y="3561588"/>
            <a:ext cx="1691640" cy="292608"/>
          </a:xfrm>
          <a:prstGeom prst="rect">
            <a:avLst/>
          </a:prstGeom>
          <a:noFill/>
          <a:ln>
            <a:noFill/>
          </a:ln>
        </p:spPr>
        <p:txBody>
          <a:bodyPr wrap="square" lIns="0" tIns="0" rIns="0" bIns="0" anchor="t"/>
          <a:lstStyle/>
          <a:p>
            <a:pPr/>
            <a:r>
              <a:rPr lang="en-US" sz="1900" b="1">
                <a:solidFill>
                  <a:srgbClr val="FF4A8D"/>
                </a:solidFill>
                <a:latin typeface="JetBrains Mono"/>
              </a:rPr>
              <a:t>+35</a:t>
            </a:r>
            <a:endParaRPr lang="en-US" sz="1900"/>
          </a:p>
        </p:txBody>
      </p:sp>
      <p:sp>
        <p:nvSpPr>
          <p:cNvPr id="71" name="Panel 71"/>
          <p:cNvSpPr/>
          <p:nvPr/>
        </p:nvSpPr>
        <p:spPr>
          <a:xfrm>
            <a:off x="594360" y="3941064"/>
            <a:ext cx="10972800" cy="411480"/>
          </a:xfrm>
          <a:prstGeom prst="rect">
            <a:avLst/>
          </a:prstGeom>
          <a:solidFill>
            <a:srgbClr val="0E0E0E"/>
          </a:solidFill>
          <a:ln w="9525">
            <a:solidFill>
              <a:srgbClr val="5C3F46"/>
            </a:solidFill>
          </a:ln>
        </p:spPr>
      </p:sp>
      <p:sp>
        <p:nvSpPr>
          <p:cNvPr id="72" name="Text 72"/>
          <p:cNvSpPr txBox="1"/>
          <p:nvPr/>
        </p:nvSpPr>
        <p:spPr>
          <a:xfrm>
            <a:off x="841248" y="4018788"/>
            <a:ext cx="4389120" cy="274320"/>
          </a:xfrm>
          <a:prstGeom prst="rect">
            <a:avLst/>
          </a:prstGeom>
          <a:noFill/>
          <a:ln>
            <a:noFill/>
          </a:ln>
        </p:spPr>
        <p:txBody>
          <a:bodyPr wrap="square" lIns="0" tIns="0" rIns="0" bIns="0" anchor="t"/>
          <a:lstStyle/>
          <a:p>
            <a:pPr/>
            <a:r>
              <a:rPr lang="en-US" sz="1700" b="0">
                <a:solidFill>
                  <a:srgbClr val="E5E2E1"/>
                </a:solidFill>
                <a:latin typeface="Geist"/>
              </a:rPr>
              <a:t>Signed transactions</a:t>
            </a:r>
            <a:endParaRPr lang="en-US" sz="1700"/>
          </a:p>
        </p:txBody>
      </p:sp>
      <p:sp>
        <p:nvSpPr>
          <p:cNvPr id="73" name="Text 73"/>
          <p:cNvSpPr txBox="1"/>
          <p:nvPr/>
        </p:nvSpPr>
        <p:spPr>
          <a:xfrm>
            <a:off x="5532120" y="4000500"/>
            <a:ext cx="1463040" cy="292608"/>
          </a:xfrm>
          <a:prstGeom prst="rect">
            <a:avLst/>
          </a:prstGeom>
          <a:noFill/>
          <a:ln>
            <a:noFill/>
          </a:ln>
        </p:spPr>
        <p:txBody>
          <a:bodyPr wrap="square" lIns="0" tIns="0" rIns="0" bIns="0" anchor="t"/>
          <a:lstStyle/>
          <a:p>
            <a:pPr/>
            <a:r>
              <a:rPr lang="en-US" sz="1900" b="0">
                <a:solidFill>
                  <a:srgbClr val="E5E2E1"/>
                </a:solidFill>
                <a:latin typeface="JetBrains Mono"/>
              </a:rPr>
              <a:t>73</a:t>
            </a:r>
            <a:endParaRPr lang="en-US" sz="1900"/>
          </a:p>
        </p:txBody>
      </p:sp>
      <p:sp>
        <p:nvSpPr>
          <p:cNvPr id="74" name="Text 74"/>
          <p:cNvSpPr txBox="1"/>
          <p:nvPr/>
        </p:nvSpPr>
        <p:spPr>
          <a:xfrm>
            <a:off x="6803136" y="4018788"/>
            <a:ext cx="365760" cy="274320"/>
          </a:xfrm>
          <a:prstGeom prst="rect">
            <a:avLst/>
          </a:prstGeom>
          <a:noFill/>
          <a:ln>
            <a:noFill/>
          </a:ln>
        </p:spPr>
        <p:txBody>
          <a:bodyPr wrap="square" lIns="0" tIns="0" rIns="0" bIns="0" anchor="t"/>
          <a:lstStyle/>
          <a:p>
            <a:pPr/>
            <a:r>
              <a:rPr lang="en-US" sz="1700" b="0">
                <a:solidFill>
                  <a:srgbClr val="A8A3A6"/>
                </a:solidFill>
                <a:latin typeface="Geist"/>
              </a:rPr>
              <a:t>→</a:t>
            </a:r>
            <a:endParaRPr lang="en-US" sz="1700"/>
          </a:p>
        </p:txBody>
      </p:sp>
      <p:sp>
        <p:nvSpPr>
          <p:cNvPr id="75" name="Text 75"/>
          <p:cNvSpPr txBox="1"/>
          <p:nvPr/>
        </p:nvSpPr>
        <p:spPr>
          <a:xfrm>
            <a:off x="7434072" y="4000500"/>
            <a:ext cx="1645920" cy="292608"/>
          </a:xfrm>
          <a:prstGeom prst="rect">
            <a:avLst/>
          </a:prstGeom>
          <a:noFill/>
          <a:ln>
            <a:noFill/>
          </a:ln>
        </p:spPr>
        <p:txBody>
          <a:bodyPr wrap="square" lIns="0" tIns="0" rIns="0" bIns="0" anchor="t"/>
          <a:lstStyle/>
          <a:p>
            <a:pPr/>
            <a:r>
              <a:rPr lang="en-US" sz="1900" b="1">
                <a:solidFill>
                  <a:srgbClr val="FFB1C4"/>
                </a:solidFill>
                <a:latin typeface="JetBrains Mono"/>
              </a:rPr>
              <a:t>190+</a:t>
            </a:r>
            <a:endParaRPr lang="en-US" sz="1900"/>
          </a:p>
        </p:txBody>
      </p:sp>
      <p:sp>
        <p:nvSpPr>
          <p:cNvPr id="76" name="Text 76"/>
          <p:cNvSpPr txBox="1"/>
          <p:nvPr/>
        </p:nvSpPr>
        <p:spPr>
          <a:xfrm>
            <a:off x="9537192" y="4000500"/>
            <a:ext cx="1691640" cy="292608"/>
          </a:xfrm>
          <a:prstGeom prst="rect">
            <a:avLst/>
          </a:prstGeom>
          <a:noFill/>
          <a:ln>
            <a:noFill/>
          </a:ln>
        </p:spPr>
        <p:txBody>
          <a:bodyPr wrap="square" lIns="0" tIns="0" rIns="0" bIns="0" anchor="t"/>
          <a:lstStyle/>
          <a:p>
            <a:pPr/>
            <a:r>
              <a:rPr lang="en-US" sz="1900" b="1">
                <a:solidFill>
                  <a:srgbClr val="FF4A8D"/>
                </a:solidFill>
                <a:latin typeface="JetBrains Mono"/>
              </a:rPr>
              <a:t>+117</a:t>
            </a:r>
            <a:endParaRPr lang="en-US" sz="1900"/>
          </a:p>
        </p:txBody>
      </p:sp>
      <p:sp>
        <p:nvSpPr>
          <p:cNvPr id="77" name="Panel 77"/>
          <p:cNvSpPr/>
          <p:nvPr/>
        </p:nvSpPr>
        <p:spPr>
          <a:xfrm>
            <a:off x="594360" y="4379976"/>
            <a:ext cx="10972800" cy="411480"/>
          </a:xfrm>
          <a:prstGeom prst="rect">
            <a:avLst/>
          </a:prstGeom>
          <a:solidFill>
            <a:srgbClr val="1C1B1B"/>
          </a:solidFill>
          <a:ln w="9525">
            <a:solidFill>
              <a:srgbClr val="5C3F46"/>
            </a:solidFill>
          </a:ln>
        </p:spPr>
      </p:sp>
      <p:sp>
        <p:nvSpPr>
          <p:cNvPr id="78" name="Text 78"/>
          <p:cNvSpPr txBox="1"/>
          <p:nvPr/>
        </p:nvSpPr>
        <p:spPr>
          <a:xfrm>
            <a:off x="841248" y="4457700"/>
            <a:ext cx="4389120" cy="274320"/>
          </a:xfrm>
          <a:prstGeom prst="rect">
            <a:avLst/>
          </a:prstGeom>
          <a:noFill/>
          <a:ln>
            <a:noFill/>
          </a:ln>
        </p:spPr>
        <p:txBody>
          <a:bodyPr wrap="square" lIns="0" tIns="0" rIns="0" bIns="0" anchor="t"/>
          <a:lstStyle/>
          <a:p>
            <a:pPr/>
            <a:r>
              <a:rPr lang="en-US" sz="1700" b="0">
                <a:solidFill>
                  <a:srgbClr val="E5E2E1"/>
                </a:solidFill>
                <a:latin typeface="Geist"/>
              </a:rPr>
              <a:t>Signing wallets</a:t>
            </a:r>
            <a:endParaRPr lang="en-US" sz="1700"/>
          </a:p>
        </p:txBody>
      </p:sp>
      <p:sp>
        <p:nvSpPr>
          <p:cNvPr id="79" name="Text 79"/>
          <p:cNvSpPr txBox="1"/>
          <p:nvPr/>
        </p:nvSpPr>
        <p:spPr>
          <a:xfrm>
            <a:off x="5532120" y="4439412"/>
            <a:ext cx="1463040" cy="292608"/>
          </a:xfrm>
          <a:prstGeom prst="rect">
            <a:avLst/>
          </a:prstGeom>
          <a:noFill/>
          <a:ln>
            <a:noFill/>
          </a:ln>
        </p:spPr>
        <p:txBody>
          <a:bodyPr wrap="square" lIns="0" tIns="0" rIns="0" bIns="0" anchor="t"/>
          <a:lstStyle/>
          <a:p>
            <a:pPr/>
            <a:r>
              <a:rPr lang="en-US" sz="1900" b="0">
                <a:solidFill>
                  <a:srgbClr val="E5E2E1"/>
                </a:solidFill>
                <a:latin typeface="JetBrains Mono"/>
              </a:rPr>
              <a:t>17</a:t>
            </a:r>
            <a:endParaRPr lang="en-US" sz="1900"/>
          </a:p>
        </p:txBody>
      </p:sp>
      <p:sp>
        <p:nvSpPr>
          <p:cNvPr id="80" name="Text 80"/>
          <p:cNvSpPr txBox="1"/>
          <p:nvPr/>
        </p:nvSpPr>
        <p:spPr>
          <a:xfrm>
            <a:off x="6803136" y="4457700"/>
            <a:ext cx="365760" cy="274320"/>
          </a:xfrm>
          <a:prstGeom prst="rect">
            <a:avLst/>
          </a:prstGeom>
          <a:noFill/>
          <a:ln>
            <a:noFill/>
          </a:ln>
        </p:spPr>
        <p:txBody>
          <a:bodyPr wrap="square" lIns="0" tIns="0" rIns="0" bIns="0" anchor="t"/>
          <a:lstStyle/>
          <a:p>
            <a:pPr/>
            <a:r>
              <a:rPr lang="en-US" sz="1700" b="0">
                <a:solidFill>
                  <a:srgbClr val="A8A3A6"/>
                </a:solidFill>
                <a:latin typeface="Geist"/>
              </a:rPr>
              <a:t>→</a:t>
            </a:r>
            <a:endParaRPr lang="en-US" sz="1700"/>
          </a:p>
        </p:txBody>
      </p:sp>
      <p:sp>
        <p:nvSpPr>
          <p:cNvPr id="81" name="Text 81"/>
          <p:cNvSpPr txBox="1"/>
          <p:nvPr/>
        </p:nvSpPr>
        <p:spPr>
          <a:xfrm>
            <a:off x="7434072" y="4439412"/>
            <a:ext cx="1645920" cy="292608"/>
          </a:xfrm>
          <a:prstGeom prst="rect">
            <a:avLst/>
          </a:prstGeom>
          <a:noFill/>
          <a:ln>
            <a:noFill/>
          </a:ln>
        </p:spPr>
        <p:txBody>
          <a:bodyPr wrap="square" lIns="0" tIns="0" rIns="0" bIns="0" anchor="t"/>
          <a:lstStyle/>
          <a:p>
            <a:pPr/>
            <a:r>
              <a:rPr lang="en-US" sz="1900" b="1">
                <a:solidFill>
                  <a:srgbClr val="FFB1C4"/>
                </a:solidFill>
                <a:latin typeface="JetBrains Mono"/>
              </a:rPr>
              <a:t>45+</a:t>
            </a:r>
            <a:endParaRPr lang="en-US" sz="1900"/>
          </a:p>
        </p:txBody>
      </p:sp>
      <p:sp>
        <p:nvSpPr>
          <p:cNvPr id="82" name="Text 82"/>
          <p:cNvSpPr txBox="1"/>
          <p:nvPr/>
        </p:nvSpPr>
        <p:spPr>
          <a:xfrm>
            <a:off x="9537192" y="4439412"/>
            <a:ext cx="1691640" cy="292608"/>
          </a:xfrm>
          <a:prstGeom prst="rect">
            <a:avLst/>
          </a:prstGeom>
          <a:noFill/>
          <a:ln>
            <a:noFill/>
          </a:ln>
        </p:spPr>
        <p:txBody>
          <a:bodyPr wrap="square" lIns="0" tIns="0" rIns="0" bIns="0" anchor="t"/>
          <a:lstStyle/>
          <a:p>
            <a:pPr/>
            <a:r>
              <a:rPr lang="en-US" sz="1900" b="1">
                <a:solidFill>
                  <a:srgbClr val="FF4A8D"/>
                </a:solidFill>
                <a:latin typeface="JetBrains Mono"/>
              </a:rPr>
              <a:t>+28</a:t>
            </a:r>
            <a:endParaRPr lang="en-US" sz="1900"/>
          </a:p>
        </p:txBody>
      </p:sp>
      <p:sp>
        <p:nvSpPr>
          <p:cNvPr id="83" name="Panel 83"/>
          <p:cNvSpPr/>
          <p:nvPr/>
        </p:nvSpPr>
        <p:spPr>
          <a:xfrm>
            <a:off x="594360" y="4818888"/>
            <a:ext cx="10972800" cy="411480"/>
          </a:xfrm>
          <a:prstGeom prst="rect">
            <a:avLst/>
          </a:prstGeom>
          <a:solidFill>
            <a:srgbClr val="0E0E0E"/>
          </a:solidFill>
          <a:ln w="9525">
            <a:solidFill>
              <a:srgbClr val="5C3F46"/>
            </a:solidFill>
          </a:ln>
        </p:spPr>
      </p:sp>
      <p:sp>
        <p:nvSpPr>
          <p:cNvPr id="84" name="Text 84"/>
          <p:cNvSpPr txBox="1"/>
          <p:nvPr/>
        </p:nvSpPr>
        <p:spPr>
          <a:xfrm>
            <a:off x="841248" y="4896612"/>
            <a:ext cx="4389120" cy="274320"/>
          </a:xfrm>
          <a:prstGeom prst="rect">
            <a:avLst/>
          </a:prstGeom>
          <a:noFill/>
          <a:ln>
            <a:noFill/>
          </a:ln>
        </p:spPr>
        <p:txBody>
          <a:bodyPr wrap="square" lIns="0" tIns="0" rIns="0" bIns="0" anchor="t"/>
          <a:lstStyle/>
          <a:p>
            <a:pPr/>
            <a:r>
              <a:rPr lang="en-US" sz="1700" b="0">
                <a:solidFill>
                  <a:srgbClr val="E5E2E1"/>
                </a:solidFill>
                <a:latin typeface="Geist"/>
              </a:rPr>
              <a:t>Sandbox tries</a:t>
            </a:r>
            <a:endParaRPr lang="en-US" sz="1700"/>
          </a:p>
        </p:txBody>
      </p:sp>
      <p:sp>
        <p:nvSpPr>
          <p:cNvPr id="85" name="Text 85"/>
          <p:cNvSpPr txBox="1"/>
          <p:nvPr/>
        </p:nvSpPr>
        <p:spPr>
          <a:xfrm>
            <a:off x="5532120" y="4878324"/>
            <a:ext cx="1463040" cy="292608"/>
          </a:xfrm>
          <a:prstGeom prst="rect">
            <a:avLst/>
          </a:prstGeom>
          <a:noFill/>
          <a:ln>
            <a:noFill/>
          </a:ln>
        </p:spPr>
        <p:txBody>
          <a:bodyPr wrap="square" lIns="0" tIns="0" rIns="0" bIns="0" anchor="t"/>
          <a:lstStyle/>
          <a:p>
            <a:pPr/>
            <a:r>
              <a:rPr lang="en-US" sz="1900" b="0">
                <a:solidFill>
                  <a:srgbClr val="E5E2E1"/>
                </a:solidFill>
                <a:latin typeface="JetBrains Mono"/>
              </a:rPr>
              <a:t>8</a:t>
            </a:r>
            <a:endParaRPr lang="en-US" sz="1900"/>
          </a:p>
        </p:txBody>
      </p:sp>
      <p:sp>
        <p:nvSpPr>
          <p:cNvPr id="86" name="Text 86"/>
          <p:cNvSpPr txBox="1"/>
          <p:nvPr/>
        </p:nvSpPr>
        <p:spPr>
          <a:xfrm>
            <a:off x="6803136" y="4896612"/>
            <a:ext cx="365760" cy="274320"/>
          </a:xfrm>
          <a:prstGeom prst="rect">
            <a:avLst/>
          </a:prstGeom>
          <a:noFill/>
          <a:ln>
            <a:noFill/>
          </a:ln>
        </p:spPr>
        <p:txBody>
          <a:bodyPr wrap="square" lIns="0" tIns="0" rIns="0" bIns="0" anchor="t"/>
          <a:lstStyle/>
          <a:p>
            <a:pPr/>
            <a:r>
              <a:rPr lang="en-US" sz="1700" b="0">
                <a:solidFill>
                  <a:srgbClr val="A8A3A6"/>
                </a:solidFill>
                <a:latin typeface="Geist"/>
              </a:rPr>
              <a:t>→</a:t>
            </a:r>
            <a:endParaRPr lang="en-US" sz="1700"/>
          </a:p>
        </p:txBody>
      </p:sp>
      <p:sp>
        <p:nvSpPr>
          <p:cNvPr id="87" name="Text 87"/>
          <p:cNvSpPr txBox="1"/>
          <p:nvPr/>
        </p:nvSpPr>
        <p:spPr>
          <a:xfrm>
            <a:off x="7434072" y="4878324"/>
            <a:ext cx="1645920" cy="292608"/>
          </a:xfrm>
          <a:prstGeom prst="rect">
            <a:avLst/>
          </a:prstGeom>
          <a:noFill/>
          <a:ln>
            <a:noFill/>
          </a:ln>
        </p:spPr>
        <p:txBody>
          <a:bodyPr wrap="square" lIns="0" tIns="0" rIns="0" bIns="0" anchor="t"/>
          <a:lstStyle/>
          <a:p>
            <a:pPr/>
            <a:r>
              <a:rPr lang="en-US" sz="1900" b="1">
                <a:solidFill>
                  <a:srgbClr val="FFB1C4"/>
                </a:solidFill>
                <a:latin typeface="JetBrains Mono"/>
              </a:rPr>
              <a:t>60+</a:t>
            </a:r>
            <a:endParaRPr lang="en-US" sz="1900"/>
          </a:p>
        </p:txBody>
      </p:sp>
      <p:sp>
        <p:nvSpPr>
          <p:cNvPr id="88" name="Text 88"/>
          <p:cNvSpPr txBox="1"/>
          <p:nvPr/>
        </p:nvSpPr>
        <p:spPr>
          <a:xfrm>
            <a:off x="9537192" y="4878324"/>
            <a:ext cx="1691640" cy="292608"/>
          </a:xfrm>
          <a:prstGeom prst="rect">
            <a:avLst/>
          </a:prstGeom>
          <a:noFill/>
          <a:ln>
            <a:noFill/>
          </a:ln>
        </p:spPr>
        <p:txBody>
          <a:bodyPr wrap="square" lIns="0" tIns="0" rIns="0" bIns="0" anchor="t"/>
          <a:lstStyle/>
          <a:p>
            <a:pPr/>
            <a:r>
              <a:rPr lang="en-US" sz="1900" b="1">
                <a:solidFill>
                  <a:srgbClr val="FF4A8D"/>
                </a:solidFill>
                <a:latin typeface="JetBrains Mono"/>
              </a:rPr>
              <a:t>+52</a:t>
            </a:r>
            <a:endParaRPr lang="en-US" sz="1900"/>
          </a:p>
        </p:txBody>
      </p:sp>
      <p:sp>
        <p:nvSpPr>
          <p:cNvPr id="89" name="Text 89"/>
          <p:cNvSpPr txBox="1"/>
          <p:nvPr/>
        </p:nvSpPr>
        <p:spPr>
          <a:xfrm>
            <a:off x="594360" y="5486400"/>
            <a:ext cx="10972800" cy="292608"/>
          </a:xfrm>
          <a:prstGeom prst="rect">
            <a:avLst/>
          </a:prstGeom>
          <a:noFill/>
          <a:ln>
            <a:noFill/>
          </a:ln>
        </p:spPr>
        <p:txBody>
          <a:bodyPr wrap="square" lIns="0" tIns="0" rIns="0" bIns="0" anchor="t"/>
          <a:lstStyle/>
          <a:p>
            <a:pPr/>
            <a:r>
              <a:rPr lang="en-US" sz="1400" b="0">
                <a:solidFill>
                  <a:srgbClr val="A8A3A6"/>
                </a:solidFill>
                <a:latin typeface="Geist"/>
              </a:rPr>
              <a:t>9 active alpha testers: 8 external + 1 project member. 7 swap flows executed.</a:t>
            </a:r>
            <a:endParaRPr lang="en-US" sz="1400"/>
          </a:p>
        </p:txBody>
      </p:sp>
      <p:sp>
        <p:nvSpPr>
          <p:cNvPr id="90" name="Text 90"/>
          <p:cNvSpPr txBox="1"/>
          <p:nvPr/>
        </p:nvSpPr>
        <p:spPr>
          <a:xfrm>
            <a:off x="594360" y="5925312"/>
            <a:ext cx="10972800" cy="256032"/>
          </a:xfrm>
          <a:prstGeom prst="rect">
            <a:avLst/>
          </a:prstGeom>
          <a:noFill/>
          <a:ln>
            <a:noFill/>
          </a:ln>
        </p:spPr>
        <p:txBody>
          <a:bodyPr wrap="square" lIns="0" tIns="0" rIns="0" bIns="0" anchor="t"/>
          <a:lstStyle/>
          <a:p>
            <a:pPr/>
            <a:r>
              <a:rPr lang="en-US" sz="1200" b="0">
                <a:solidFill>
                  <a:srgbClr val="A8A3A6"/>
                </a:solidFill>
                <a:latin typeface="Geist"/>
              </a:rPr>
              <a:t>Forecast minimums, not results. Baseline: alpha 30 Sep; sandbox browsers 1 Oct.</a:t>
            </a:r>
            <a:endParaRPr lang="en-US" sz="1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E0E0E"/>
        </a:solidFill>
        <a:effectLst/>
      </p:bgPr>
    </p:bg>
    <p:spTree>
      <p:nvGrpSpPr>
        <p:cNvPr id="1" name=""/>
        <p:cNvGrpSpPr/>
        <p:nvPr/>
      </p:nvGrpSpPr>
      <p:grpSpPr>
        <a:xfrm>
          <a:off x="0" y="0"/>
          <a:ext cx="0" cy="0"/>
          <a:chOff x="0" y="0"/>
          <a:chExt cx="0" cy="0"/>
        </a:xfrm>
      </p:grpSpPr>
      <p:sp>
        <p:nvSpPr>
          <p:cNvPr id="2" name="Panel 2"/>
          <p:cNvSpPr/>
          <p:nvPr/>
        </p:nvSpPr>
        <p:spPr>
          <a:xfrm>
            <a:off x="457200" y="0"/>
            <a:ext cx="5486" cy="6858000"/>
          </a:xfrm>
          <a:prstGeom prst="rect">
            <a:avLst/>
          </a:prstGeom>
          <a:solidFill>
            <a:srgbClr val="131B22"/>
          </a:solidFill>
          <a:ln w="9525">
            <a:solidFill>
              <a:srgbClr val="131B22"/>
            </a:solidFill>
          </a:ln>
        </p:spPr>
      </p:sp>
      <p:sp>
        <p:nvSpPr>
          <p:cNvPr id="3" name="Panel 3"/>
          <p:cNvSpPr/>
          <p:nvPr/>
        </p:nvSpPr>
        <p:spPr>
          <a:xfrm>
            <a:off x="914400" y="0"/>
            <a:ext cx="5486" cy="6858000"/>
          </a:xfrm>
          <a:prstGeom prst="rect">
            <a:avLst/>
          </a:prstGeom>
          <a:solidFill>
            <a:srgbClr val="131B22"/>
          </a:solidFill>
          <a:ln w="9525">
            <a:solidFill>
              <a:srgbClr val="131B22"/>
            </a:solidFill>
          </a:ln>
        </p:spPr>
      </p:sp>
      <p:sp>
        <p:nvSpPr>
          <p:cNvPr id="4" name="Panel 4"/>
          <p:cNvSpPr/>
          <p:nvPr/>
        </p:nvSpPr>
        <p:spPr>
          <a:xfrm>
            <a:off x="1371600" y="0"/>
            <a:ext cx="5486" cy="6858000"/>
          </a:xfrm>
          <a:prstGeom prst="rect">
            <a:avLst/>
          </a:prstGeom>
          <a:solidFill>
            <a:srgbClr val="131B22"/>
          </a:solidFill>
          <a:ln w="9525">
            <a:solidFill>
              <a:srgbClr val="131B22"/>
            </a:solidFill>
          </a:ln>
        </p:spPr>
      </p:sp>
      <p:sp>
        <p:nvSpPr>
          <p:cNvPr id="5" name="Panel 5"/>
          <p:cNvSpPr/>
          <p:nvPr/>
        </p:nvSpPr>
        <p:spPr>
          <a:xfrm>
            <a:off x="1828800" y="0"/>
            <a:ext cx="5486" cy="6858000"/>
          </a:xfrm>
          <a:prstGeom prst="rect">
            <a:avLst/>
          </a:prstGeom>
          <a:solidFill>
            <a:srgbClr val="131B22"/>
          </a:solidFill>
          <a:ln w="9525">
            <a:solidFill>
              <a:srgbClr val="131B22"/>
            </a:solidFill>
          </a:ln>
        </p:spPr>
      </p:sp>
      <p:sp>
        <p:nvSpPr>
          <p:cNvPr id="6" name="Panel 6"/>
          <p:cNvSpPr/>
          <p:nvPr/>
        </p:nvSpPr>
        <p:spPr>
          <a:xfrm>
            <a:off x="2286000" y="0"/>
            <a:ext cx="5486" cy="6858000"/>
          </a:xfrm>
          <a:prstGeom prst="rect">
            <a:avLst/>
          </a:prstGeom>
          <a:solidFill>
            <a:srgbClr val="131B22"/>
          </a:solidFill>
          <a:ln w="9525">
            <a:solidFill>
              <a:srgbClr val="131B22"/>
            </a:solidFill>
          </a:ln>
        </p:spPr>
      </p:sp>
      <p:sp>
        <p:nvSpPr>
          <p:cNvPr id="7" name="Panel 7"/>
          <p:cNvSpPr/>
          <p:nvPr/>
        </p:nvSpPr>
        <p:spPr>
          <a:xfrm>
            <a:off x="2743200" y="0"/>
            <a:ext cx="5486" cy="6858000"/>
          </a:xfrm>
          <a:prstGeom prst="rect">
            <a:avLst/>
          </a:prstGeom>
          <a:solidFill>
            <a:srgbClr val="131B22"/>
          </a:solidFill>
          <a:ln w="9525">
            <a:solidFill>
              <a:srgbClr val="131B22"/>
            </a:solidFill>
          </a:ln>
        </p:spPr>
      </p:sp>
      <p:sp>
        <p:nvSpPr>
          <p:cNvPr id="8" name="Panel 8"/>
          <p:cNvSpPr/>
          <p:nvPr/>
        </p:nvSpPr>
        <p:spPr>
          <a:xfrm>
            <a:off x="3200400" y="0"/>
            <a:ext cx="5486" cy="6858000"/>
          </a:xfrm>
          <a:prstGeom prst="rect">
            <a:avLst/>
          </a:prstGeom>
          <a:solidFill>
            <a:srgbClr val="131B22"/>
          </a:solidFill>
          <a:ln w="9525">
            <a:solidFill>
              <a:srgbClr val="131B22"/>
            </a:solidFill>
          </a:ln>
        </p:spPr>
      </p:sp>
      <p:sp>
        <p:nvSpPr>
          <p:cNvPr id="9" name="Panel 9"/>
          <p:cNvSpPr/>
          <p:nvPr/>
        </p:nvSpPr>
        <p:spPr>
          <a:xfrm>
            <a:off x="3657600" y="0"/>
            <a:ext cx="5486" cy="6858000"/>
          </a:xfrm>
          <a:prstGeom prst="rect">
            <a:avLst/>
          </a:prstGeom>
          <a:solidFill>
            <a:srgbClr val="131B22"/>
          </a:solidFill>
          <a:ln w="9525">
            <a:solidFill>
              <a:srgbClr val="131B22"/>
            </a:solidFill>
          </a:ln>
        </p:spPr>
      </p:sp>
      <p:sp>
        <p:nvSpPr>
          <p:cNvPr id="10" name="Panel 10"/>
          <p:cNvSpPr/>
          <p:nvPr/>
        </p:nvSpPr>
        <p:spPr>
          <a:xfrm>
            <a:off x="4114800" y="0"/>
            <a:ext cx="5486" cy="6858000"/>
          </a:xfrm>
          <a:prstGeom prst="rect">
            <a:avLst/>
          </a:prstGeom>
          <a:solidFill>
            <a:srgbClr val="131B22"/>
          </a:solidFill>
          <a:ln w="9525">
            <a:solidFill>
              <a:srgbClr val="131B22"/>
            </a:solidFill>
          </a:ln>
        </p:spPr>
      </p:sp>
      <p:sp>
        <p:nvSpPr>
          <p:cNvPr id="11" name="Panel 11"/>
          <p:cNvSpPr/>
          <p:nvPr/>
        </p:nvSpPr>
        <p:spPr>
          <a:xfrm>
            <a:off x="4572000" y="0"/>
            <a:ext cx="5486" cy="6858000"/>
          </a:xfrm>
          <a:prstGeom prst="rect">
            <a:avLst/>
          </a:prstGeom>
          <a:solidFill>
            <a:srgbClr val="131B22"/>
          </a:solidFill>
          <a:ln w="9525">
            <a:solidFill>
              <a:srgbClr val="131B22"/>
            </a:solidFill>
          </a:ln>
        </p:spPr>
      </p:sp>
      <p:sp>
        <p:nvSpPr>
          <p:cNvPr id="12" name="Panel 12"/>
          <p:cNvSpPr/>
          <p:nvPr/>
        </p:nvSpPr>
        <p:spPr>
          <a:xfrm>
            <a:off x="5029200" y="0"/>
            <a:ext cx="5486" cy="6858000"/>
          </a:xfrm>
          <a:prstGeom prst="rect">
            <a:avLst/>
          </a:prstGeom>
          <a:solidFill>
            <a:srgbClr val="131B22"/>
          </a:solidFill>
          <a:ln w="9525">
            <a:solidFill>
              <a:srgbClr val="131B22"/>
            </a:solidFill>
          </a:ln>
        </p:spPr>
      </p:sp>
      <p:sp>
        <p:nvSpPr>
          <p:cNvPr id="13" name="Panel 13"/>
          <p:cNvSpPr/>
          <p:nvPr/>
        </p:nvSpPr>
        <p:spPr>
          <a:xfrm>
            <a:off x="5486400" y="0"/>
            <a:ext cx="5486" cy="6858000"/>
          </a:xfrm>
          <a:prstGeom prst="rect">
            <a:avLst/>
          </a:prstGeom>
          <a:solidFill>
            <a:srgbClr val="131B22"/>
          </a:solidFill>
          <a:ln w="9525">
            <a:solidFill>
              <a:srgbClr val="131B22"/>
            </a:solidFill>
          </a:ln>
        </p:spPr>
      </p:sp>
      <p:sp>
        <p:nvSpPr>
          <p:cNvPr id="14" name="Panel 14"/>
          <p:cNvSpPr/>
          <p:nvPr/>
        </p:nvSpPr>
        <p:spPr>
          <a:xfrm>
            <a:off x="5943600" y="0"/>
            <a:ext cx="5486" cy="6858000"/>
          </a:xfrm>
          <a:prstGeom prst="rect">
            <a:avLst/>
          </a:prstGeom>
          <a:solidFill>
            <a:srgbClr val="131B22"/>
          </a:solidFill>
          <a:ln w="9525">
            <a:solidFill>
              <a:srgbClr val="131B22"/>
            </a:solidFill>
          </a:ln>
        </p:spPr>
      </p:sp>
      <p:sp>
        <p:nvSpPr>
          <p:cNvPr id="15" name="Panel 15"/>
          <p:cNvSpPr/>
          <p:nvPr/>
        </p:nvSpPr>
        <p:spPr>
          <a:xfrm>
            <a:off x="6400800" y="0"/>
            <a:ext cx="5486" cy="6858000"/>
          </a:xfrm>
          <a:prstGeom prst="rect">
            <a:avLst/>
          </a:prstGeom>
          <a:solidFill>
            <a:srgbClr val="131B22"/>
          </a:solidFill>
          <a:ln w="9525">
            <a:solidFill>
              <a:srgbClr val="131B22"/>
            </a:solidFill>
          </a:ln>
        </p:spPr>
      </p:sp>
      <p:sp>
        <p:nvSpPr>
          <p:cNvPr id="16" name="Panel 16"/>
          <p:cNvSpPr/>
          <p:nvPr/>
        </p:nvSpPr>
        <p:spPr>
          <a:xfrm>
            <a:off x="6858000" y="0"/>
            <a:ext cx="5486" cy="6858000"/>
          </a:xfrm>
          <a:prstGeom prst="rect">
            <a:avLst/>
          </a:prstGeom>
          <a:solidFill>
            <a:srgbClr val="131B22"/>
          </a:solidFill>
          <a:ln w="9525">
            <a:solidFill>
              <a:srgbClr val="131B22"/>
            </a:solidFill>
          </a:ln>
        </p:spPr>
      </p:sp>
      <p:sp>
        <p:nvSpPr>
          <p:cNvPr id="17" name="Panel 17"/>
          <p:cNvSpPr/>
          <p:nvPr/>
        </p:nvSpPr>
        <p:spPr>
          <a:xfrm>
            <a:off x="7315200" y="0"/>
            <a:ext cx="5486" cy="6858000"/>
          </a:xfrm>
          <a:prstGeom prst="rect">
            <a:avLst/>
          </a:prstGeom>
          <a:solidFill>
            <a:srgbClr val="131B22"/>
          </a:solidFill>
          <a:ln w="9525">
            <a:solidFill>
              <a:srgbClr val="131B22"/>
            </a:solidFill>
          </a:ln>
        </p:spPr>
      </p:sp>
      <p:sp>
        <p:nvSpPr>
          <p:cNvPr id="18" name="Panel 18"/>
          <p:cNvSpPr/>
          <p:nvPr/>
        </p:nvSpPr>
        <p:spPr>
          <a:xfrm>
            <a:off x="7772400" y="0"/>
            <a:ext cx="5486" cy="6858000"/>
          </a:xfrm>
          <a:prstGeom prst="rect">
            <a:avLst/>
          </a:prstGeom>
          <a:solidFill>
            <a:srgbClr val="131B22"/>
          </a:solidFill>
          <a:ln w="9525">
            <a:solidFill>
              <a:srgbClr val="131B22"/>
            </a:solidFill>
          </a:ln>
        </p:spPr>
      </p:sp>
      <p:sp>
        <p:nvSpPr>
          <p:cNvPr id="19" name="Panel 19"/>
          <p:cNvSpPr/>
          <p:nvPr/>
        </p:nvSpPr>
        <p:spPr>
          <a:xfrm>
            <a:off x="8229600" y="0"/>
            <a:ext cx="5486" cy="6858000"/>
          </a:xfrm>
          <a:prstGeom prst="rect">
            <a:avLst/>
          </a:prstGeom>
          <a:solidFill>
            <a:srgbClr val="131B22"/>
          </a:solidFill>
          <a:ln w="9525">
            <a:solidFill>
              <a:srgbClr val="131B22"/>
            </a:solidFill>
          </a:ln>
        </p:spPr>
      </p:sp>
      <p:sp>
        <p:nvSpPr>
          <p:cNvPr id="20" name="Panel 20"/>
          <p:cNvSpPr/>
          <p:nvPr/>
        </p:nvSpPr>
        <p:spPr>
          <a:xfrm>
            <a:off x="8686800" y="0"/>
            <a:ext cx="5486" cy="6858000"/>
          </a:xfrm>
          <a:prstGeom prst="rect">
            <a:avLst/>
          </a:prstGeom>
          <a:solidFill>
            <a:srgbClr val="131B22"/>
          </a:solidFill>
          <a:ln w="9525">
            <a:solidFill>
              <a:srgbClr val="131B22"/>
            </a:solidFill>
          </a:ln>
        </p:spPr>
      </p:sp>
      <p:sp>
        <p:nvSpPr>
          <p:cNvPr id="21" name="Panel 21"/>
          <p:cNvSpPr/>
          <p:nvPr/>
        </p:nvSpPr>
        <p:spPr>
          <a:xfrm>
            <a:off x="9144000" y="0"/>
            <a:ext cx="5486" cy="6858000"/>
          </a:xfrm>
          <a:prstGeom prst="rect">
            <a:avLst/>
          </a:prstGeom>
          <a:solidFill>
            <a:srgbClr val="131B22"/>
          </a:solidFill>
          <a:ln w="9525">
            <a:solidFill>
              <a:srgbClr val="131B22"/>
            </a:solidFill>
          </a:ln>
        </p:spPr>
      </p:sp>
      <p:sp>
        <p:nvSpPr>
          <p:cNvPr id="22" name="Panel 22"/>
          <p:cNvSpPr/>
          <p:nvPr/>
        </p:nvSpPr>
        <p:spPr>
          <a:xfrm>
            <a:off x="9601200" y="0"/>
            <a:ext cx="5486" cy="6858000"/>
          </a:xfrm>
          <a:prstGeom prst="rect">
            <a:avLst/>
          </a:prstGeom>
          <a:solidFill>
            <a:srgbClr val="131B22"/>
          </a:solidFill>
          <a:ln w="9525">
            <a:solidFill>
              <a:srgbClr val="131B22"/>
            </a:solidFill>
          </a:ln>
        </p:spPr>
      </p:sp>
      <p:sp>
        <p:nvSpPr>
          <p:cNvPr id="23" name="Panel 23"/>
          <p:cNvSpPr/>
          <p:nvPr/>
        </p:nvSpPr>
        <p:spPr>
          <a:xfrm>
            <a:off x="10058400" y="0"/>
            <a:ext cx="5486" cy="6858000"/>
          </a:xfrm>
          <a:prstGeom prst="rect">
            <a:avLst/>
          </a:prstGeom>
          <a:solidFill>
            <a:srgbClr val="131B22"/>
          </a:solidFill>
          <a:ln w="9525">
            <a:solidFill>
              <a:srgbClr val="131B22"/>
            </a:solidFill>
          </a:ln>
        </p:spPr>
      </p:sp>
      <p:sp>
        <p:nvSpPr>
          <p:cNvPr id="24" name="Panel 24"/>
          <p:cNvSpPr/>
          <p:nvPr/>
        </p:nvSpPr>
        <p:spPr>
          <a:xfrm>
            <a:off x="10515600" y="0"/>
            <a:ext cx="5486" cy="6858000"/>
          </a:xfrm>
          <a:prstGeom prst="rect">
            <a:avLst/>
          </a:prstGeom>
          <a:solidFill>
            <a:srgbClr val="131B22"/>
          </a:solidFill>
          <a:ln w="9525">
            <a:solidFill>
              <a:srgbClr val="131B22"/>
            </a:solidFill>
          </a:ln>
        </p:spPr>
      </p:sp>
      <p:sp>
        <p:nvSpPr>
          <p:cNvPr id="25" name="Panel 25"/>
          <p:cNvSpPr/>
          <p:nvPr/>
        </p:nvSpPr>
        <p:spPr>
          <a:xfrm>
            <a:off x="10972800" y="0"/>
            <a:ext cx="5486" cy="6858000"/>
          </a:xfrm>
          <a:prstGeom prst="rect">
            <a:avLst/>
          </a:prstGeom>
          <a:solidFill>
            <a:srgbClr val="131B22"/>
          </a:solidFill>
          <a:ln w="9525">
            <a:solidFill>
              <a:srgbClr val="131B22"/>
            </a:solidFill>
          </a:ln>
        </p:spPr>
      </p:sp>
      <p:sp>
        <p:nvSpPr>
          <p:cNvPr id="26" name="Panel 26"/>
          <p:cNvSpPr/>
          <p:nvPr/>
        </p:nvSpPr>
        <p:spPr>
          <a:xfrm>
            <a:off x="11430000" y="0"/>
            <a:ext cx="5486" cy="6858000"/>
          </a:xfrm>
          <a:prstGeom prst="rect">
            <a:avLst/>
          </a:prstGeom>
          <a:solidFill>
            <a:srgbClr val="131B22"/>
          </a:solidFill>
          <a:ln w="9525">
            <a:solidFill>
              <a:srgbClr val="131B22"/>
            </a:solidFill>
          </a:ln>
        </p:spPr>
      </p:sp>
      <p:sp>
        <p:nvSpPr>
          <p:cNvPr id="27" name="Panel 27"/>
          <p:cNvSpPr/>
          <p:nvPr/>
        </p:nvSpPr>
        <p:spPr>
          <a:xfrm>
            <a:off x="11887200" y="0"/>
            <a:ext cx="5486" cy="6858000"/>
          </a:xfrm>
          <a:prstGeom prst="rect">
            <a:avLst/>
          </a:prstGeom>
          <a:solidFill>
            <a:srgbClr val="131B22"/>
          </a:solidFill>
          <a:ln w="9525">
            <a:solidFill>
              <a:srgbClr val="131B22"/>
            </a:solidFill>
          </a:ln>
        </p:spPr>
      </p:sp>
      <p:sp>
        <p:nvSpPr>
          <p:cNvPr id="28" name="Panel 28"/>
          <p:cNvSpPr/>
          <p:nvPr/>
        </p:nvSpPr>
        <p:spPr>
          <a:xfrm>
            <a:off x="0" y="457200"/>
            <a:ext cx="12192000" cy="5486"/>
          </a:xfrm>
          <a:prstGeom prst="rect">
            <a:avLst/>
          </a:prstGeom>
          <a:solidFill>
            <a:srgbClr val="131B22"/>
          </a:solidFill>
          <a:ln w="9525">
            <a:solidFill>
              <a:srgbClr val="131B22"/>
            </a:solidFill>
          </a:ln>
        </p:spPr>
      </p:sp>
      <p:sp>
        <p:nvSpPr>
          <p:cNvPr id="29" name="Panel 29"/>
          <p:cNvSpPr/>
          <p:nvPr/>
        </p:nvSpPr>
        <p:spPr>
          <a:xfrm>
            <a:off x="0" y="914400"/>
            <a:ext cx="12192000" cy="5486"/>
          </a:xfrm>
          <a:prstGeom prst="rect">
            <a:avLst/>
          </a:prstGeom>
          <a:solidFill>
            <a:srgbClr val="131B22"/>
          </a:solidFill>
          <a:ln w="9525">
            <a:solidFill>
              <a:srgbClr val="131B22"/>
            </a:solidFill>
          </a:ln>
        </p:spPr>
      </p:sp>
      <p:sp>
        <p:nvSpPr>
          <p:cNvPr id="30" name="Panel 30"/>
          <p:cNvSpPr/>
          <p:nvPr/>
        </p:nvSpPr>
        <p:spPr>
          <a:xfrm>
            <a:off x="0" y="1371600"/>
            <a:ext cx="12192000" cy="5486"/>
          </a:xfrm>
          <a:prstGeom prst="rect">
            <a:avLst/>
          </a:prstGeom>
          <a:solidFill>
            <a:srgbClr val="131B22"/>
          </a:solidFill>
          <a:ln w="9525">
            <a:solidFill>
              <a:srgbClr val="131B22"/>
            </a:solidFill>
          </a:ln>
        </p:spPr>
      </p:sp>
      <p:sp>
        <p:nvSpPr>
          <p:cNvPr id="31" name="Panel 31"/>
          <p:cNvSpPr/>
          <p:nvPr/>
        </p:nvSpPr>
        <p:spPr>
          <a:xfrm>
            <a:off x="0" y="1828800"/>
            <a:ext cx="12192000" cy="5486"/>
          </a:xfrm>
          <a:prstGeom prst="rect">
            <a:avLst/>
          </a:prstGeom>
          <a:solidFill>
            <a:srgbClr val="131B22"/>
          </a:solidFill>
          <a:ln w="9525">
            <a:solidFill>
              <a:srgbClr val="131B22"/>
            </a:solidFill>
          </a:ln>
        </p:spPr>
      </p:sp>
      <p:sp>
        <p:nvSpPr>
          <p:cNvPr id="32" name="Panel 32"/>
          <p:cNvSpPr/>
          <p:nvPr/>
        </p:nvSpPr>
        <p:spPr>
          <a:xfrm>
            <a:off x="0" y="2286000"/>
            <a:ext cx="12192000" cy="5486"/>
          </a:xfrm>
          <a:prstGeom prst="rect">
            <a:avLst/>
          </a:prstGeom>
          <a:solidFill>
            <a:srgbClr val="131B22"/>
          </a:solidFill>
          <a:ln w="9525">
            <a:solidFill>
              <a:srgbClr val="131B22"/>
            </a:solidFill>
          </a:ln>
        </p:spPr>
      </p:sp>
      <p:sp>
        <p:nvSpPr>
          <p:cNvPr id="33" name="Panel 33"/>
          <p:cNvSpPr/>
          <p:nvPr/>
        </p:nvSpPr>
        <p:spPr>
          <a:xfrm>
            <a:off x="0" y="2743200"/>
            <a:ext cx="12192000" cy="5486"/>
          </a:xfrm>
          <a:prstGeom prst="rect">
            <a:avLst/>
          </a:prstGeom>
          <a:solidFill>
            <a:srgbClr val="131B22"/>
          </a:solidFill>
          <a:ln w="9525">
            <a:solidFill>
              <a:srgbClr val="131B22"/>
            </a:solidFill>
          </a:ln>
        </p:spPr>
      </p:sp>
      <p:sp>
        <p:nvSpPr>
          <p:cNvPr id="34" name="Panel 34"/>
          <p:cNvSpPr/>
          <p:nvPr/>
        </p:nvSpPr>
        <p:spPr>
          <a:xfrm>
            <a:off x="0" y="3200400"/>
            <a:ext cx="12192000" cy="5486"/>
          </a:xfrm>
          <a:prstGeom prst="rect">
            <a:avLst/>
          </a:prstGeom>
          <a:solidFill>
            <a:srgbClr val="131B22"/>
          </a:solidFill>
          <a:ln w="9525">
            <a:solidFill>
              <a:srgbClr val="131B22"/>
            </a:solidFill>
          </a:ln>
        </p:spPr>
      </p:sp>
      <p:sp>
        <p:nvSpPr>
          <p:cNvPr id="35" name="Panel 35"/>
          <p:cNvSpPr/>
          <p:nvPr/>
        </p:nvSpPr>
        <p:spPr>
          <a:xfrm>
            <a:off x="0" y="3657600"/>
            <a:ext cx="12192000" cy="5486"/>
          </a:xfrm>
          <a:prstGeom prst="rect">
            <a:avLst/>
          </a:prstGeom>
          <a:solidFill>
            <a:srgbClr val="131B22"/>
          </a:solidFill>
          <a:ln w="9525">
            <a:solidFill>
              <a:srgbClr val="131B22"/>
            </a:solidFill>
          </a:ln>
        </p:spPr>
      </p:sp>
      <p:sp>
        <p:nvSpPr>
          <p:cNvPr id="36" name="Panel 36"/>
          <p:cNvSpPr/>
          <p:nvPr/>
        </p:nvSpPr>
        <p:spPr>
          <a:xfrm>
            <a:off x="0" y="4114800"/>
            <a:ext cx="12192000" cy="5486"/>
          </a:xfrm>
          <a:prstGeom prst="rect">
            <a:avLst/>
          </a:prstGeom>
          <a:solidFill>
            <a:srgbClr val="131B22"/>
          </a:solidFill>
          <a:ln w="9525">
            <a:solidFill>
              <a:srgbClr val="131B22"/>
            </a:solidFill>
          </a:ln>
        </p:spPr>
      </p:sp>
      <p:sp>
        <p:nvSpPr>
          <p:cNvPr id="37" name="Panel 37"/>
          <p:cNvSpPr/>
          <p:nvPr/>
        </p:nvSpPr>
        <p:spPr>
          <a:xfrm>
            <a:off x="0" y="4572000"/>
            <a:ext cx="12192000" cy="5486"/>
          </a:xfrm>
          <a:prstGeom prst="rect">
            <a:avLst/>
          </a:prstGeom>
          <a:solidFill>
            <a:srgbClr val="131B22"/>
          </a:solidFill>
          <a:ln w="9525">
            <a:solidFill>
              <a:srgbClr val="131B22"/>
            </a:solidFill>
          </a:ln>
        </p:spPr>
      </p:sp>
      <p:sp>
        <p:nvSpPr>
          <p:cNvPr id="38" name="Panel 38"/>
          <p:cNvSpPr/>
          <p:nvPr/>
        </p:nvSpPr>
        <p:spPr>
          <a:xfrm>
            <a:off x="0" y="5029200"/>
            <a:ext cx="12192000" cy="5486"/>
          </a:xfrm>
          <a:prstGeom prst="rect">
            <a:avLst/>
          </a:prstGeom>
          <a:solidFill>
            <a:srgbClr val="131B22"/>
          </a:solidFill>
          <a:ln w="9525">
            <a:solidFill>
              <a:srgbClr val="131B22"/>
            </a:solidFill>
          </a:ln>
        </p:spPr>
      </p:sp>
      <p:sp>
        <p:nvSpPr>
          <p:cNvPr id="39" name="Panel 39"/>
          <p:cNvSpPr/>
          <p:nvPr/>
        </p:nvSpPr>
        <p:spPr>
          <a:xfrm>
            <a:off x="0" y="5486400"/>
            <a:ext cx="12192000" cy="5486"/>
          </a:xfrm>
          <a:prstGeom prst="rect">
            <a:avLst/>
          </a:prstGeom>
          <a:solidFill>
            <a:srgbClr val="131B22"/>
          </a:solidFill>
          <a:ln w="9525">
            <a:solidFill>
              <a:srgbClr val="131B22"/>
            </a:solidFill>
          </a:ln>
        </p:spPr>
      </p:sp>
      <p:sp>
        <p:nvSpPr>
          <p:cNvPr id="40" name="Panel 40"/>
          <p:cNvSpPr/>
          <p:nvPr/>
        </p:nvSpPr>
        <p:spPr>
          <a:xfrm>
            <a:off x="0" y="5943600"/>
            <a:ext cx="12192000" cy="5486"/>
          </a:xfrm>
          <a:prstGeom prst="rect">
            <a:avLst/>
          </a:prstGeom>
          <a:solidFill>
            <a:srgbClr val="131B22"/>
          </a:solidFill>
          <a:ln w="9525">
            <a:solidFill>
              <a:srgbClr val="131B22"/>
            </a:solidFill>
          </a:ln>
        </p:spPr>
      </p:sp>
      <p:sp>
        <p:nvSpPr>
          <p:cNvPr id="41" name="Panel 41"/>
          <p:cNvSpPr/>
          <p:nvPr/>
        </p:nvSpPr>
        <p:spPr>
          <a:xfrm>
            <a:off x="0" y="6400800"/>
            <a:ext cx="12192000" cy="5486"/>
          </a:xfrm>
          <a:prstGeom prst="rect">
            <a:avLst/>
          </a:prstGeom>
          <a:solidFill>
            <a:srgbClr val="131B22"/>
          </a:solidFill>
          <a:ln w="9525">
            <a:solidFill>
              <a:srgbClr val="131B22"/>
            </a:solidFill>
          </a:ln>
        </p:spPr>
      </p:sp>
      <p:sp>
        <p:nvSpPr>
          <p:cNvPr id="42" name="Text 42"/>
          <p:cNvSpPr txBox="1"/>
          <p:nvPr/>
        </p:nvSpPr>
        <p:spPr>
          <a:xfrm>
            <a:off x="594360" y="329184"/>
            <a:ext cx="2743200" cy="320040"/>
          </a:xfrm>
          <a:prstGeom prst="rect">
            <a:avLst/>
          </a:prstGeom>
          <a:noFill/>
          <a:ln>
            <a:noFill/>
          </a:ln>
        </p:spPr>
        <p:txBody>
          <a:bodyPr wrap="square" lIns="0" tIns="0" rIns="0" bIns="0" anchor="t"/>
          <a:lstStyle/>
          <a:p>
            <a:pPr/>
            <a:r>
              <a:rPr lang="en-US" sz="2200" b="1">
                <a:solidFill>
                  <a:srgbClr val="FFB1C4"/>
                </a:solidFill>
                <a:latin typeface="Space Grotesk"/>
              </a:rPr>
              <a:t>Paiflow</a:t>
            </a:r>
            <a:endParaRPr lang="en-US" sz="2200"/>
          </a:p>
        </p:txBody>
      </p:sp>
      <p:sp>
        <p:nvSpPr>
          <p:cNvPr id="43" name="Text 43"/>
          <p:cNvSpPr txBox="1"/>
          <p:nvPr/>
        </p:nvSpPr>
        <p:spPr>
          <a:xfrm>
            <a:off x="7498080" y="393192"/>
            <a:ext cx="4114800" cy="228600"/>
          </a:xfrm>
          <a:prstGeom prst="rect">
            <a:avLst/>
          </a:prstGeom>
          <a:noFill/>
          <a:ln>
            <a:noFill/>
          </a:ln>
        </p:spPr>
        <p:txBody>
          <a:bodyPr wrap="square" lIns="0" tIns="0" rIns="0" bIns="0" anchor="t"/>
          <a:lstStyle/>
          <a:p>
            <a:pPr/>
            <a:r>
              <a:rPr lang="en-US" sz="1100" b="0">
                <a:solidFill>
                  <a:srgbClr val="98CBFF"/>
                </a:solidFill>
                <a:latin typeface="JetBrains Mono"/>
              </a:rPr>
              <a:t>PLANNED EVENTS  /  WHAT’S NEXT</a:t>
            </a:r>
            <a:endParaRPr lang="en-US" sz="1100"/>
          </a:p>
        </p:txBody>
      </p:sp>
      <p:sp>
        <p:nvSpPr>
          <p:cNvPr id="44" name="Panel 44"/>
          <p:cNvSpPr/>
          <p:nvPr/>
        </p:nvSpPr>
        <p:spPr>
          <a:xfrm>
            <a:off x="594360" y="6345936"/>
            <a:ext cx="10972800" cy="10973"/>
          </a:xfrm>
          <a:prstGeom prst="rect">
            <a:avLst/>
          </a:prstGeom>
          <a:solidFill>
            <a:srgbClr val="5C3F46"/>
          </a:solidFill>
          <a:ln w="9525">
            <a:solidFill>
              <a:srgbClr val="5C3F46"/>
            </a:solidFill>
          </a:ln>
        </p:spPr>
      </p:sp>
      <p:sp>
        <p:nvSpPr>
          <p:cNvPr id="45" name="Text 45"/>
          <p:cNvSpPr txBox="1"/>
          <p:nvPr/>
        </p:nvSpPr>
        <p:spPr>
          <a:xfrm>
            <a:off x="594360" y="6473952"/>
            <a:ext cx="9144000" cy="182880"/>
          </a:xfrm>
          <a:prstGeom prst="rect">
            <a:avLst/>
          </a:prstGeom>
          <a:noFill/>
          <a:ln>
            <a:noFill/>
          </a:ln>
        </p:spPr>
        <p:txBody>
          <a:bodyPr wrap="square" lIns="0" tIns="0" rIns="0" bIns="0" anchor="t"/>
          <a:lstStyle/>
          <a:p>
            <a:pPr/>
            <a:r>
              <a:rPr lang="en-US" sz="1000" b="0">
                <a:solidFill>
                  <a:srgbClr val="A8A3A6"/>
                </a:solidFill>
                <a:latin typeface="JetBrains Mono"/>
              </a:rPr>
              <a:t>InstaAwards Builder Showcase  /  08 OCT 2026  /  Stellar testnet</a:t>
            </a:r>
            <a:endParaRPr lang="en-US" sz="1000"/>
          </a:p>
        </p:txBody>
      </p:sp>
      <p:sp>
        <p:nvSpPr>
          <p:cNvPr id="46" name="Text 46"/>
          <p:cNvSpPr txBox="1"/>
          <p:nvPr/>
        </p:nvSpPr>
        <p:spPr>
          <a:xfrm>
            <a:off x="10972800" y="6455664"/>
            <a:ext cx="548640" cy="228600"/>
          </a:xfrm>
          <a:prstGeom prst="rect">
            <a:avLst/>
          </a:prstGeom>
          <a:noFill/>
          <a:ln>
            <a:noFill/>
          </a:ln>
        </p:spPr>
        <p:txBody>
          <a:bodyPr wrap="square" lIns="0" tIns="0" rIns="0" bIns="0" anchor="t"/>
          <a:lstStyle/>
          <a:p>
            <a:pPr/>
            <a:r>
              <a:rPr lang="en-US" sz="1100" b="0">
                <a:solidFill>
                  <a:srgbClr val="FFB1C4"/>
                </a:solidFill>
                <a:latin typeface="JetBrains Mono"/>
              </a:rPr>
              <a:t>05</a:t>
            </a:r>
            <a:endParaRPr lang="en-US" sz="1100"/>
          </a:p>
        </p:txBody>
      </p:sp>
      <p:sp>
        <p:nvSpPr>
          <p:cNvPr id="47" name="Text 47"/>
          <p:cNvSpPr txBox="1"/>
          <p:nvPr/>
        </p:nvSpPr>
        <p:spPr>
          <a:xfrm>
            <a:off x="594360" y="941832"/>
            <a:ext cx="10972800" cy="640080"/>
          </a:xfrm>
          <a:prstGeom prst="rect">
            <a:avLst/>
          </a:prstGeom>
          <a:noFill/>
          <a:ln>
            <a:noFill/>
          </a:ln>
        </p:spPr>
        <p:txBody>
          <a:bodyPr wrap="square" lIns="0" tIns="0" rIns="0" bIns="0" anchor="t"/>
          <a:lstStyle/>
          <a:p>
            <a:pPr/>
            <a:r>
              <a:rPr lang="en-US" sz="3500" b="1">
                <a:solidFill>
                  <a:srgbClr val="E5E2E1"/>
                </a:solidFill>
                <a:latin typeface="Space Grotesk"/>
              </a:rPr>
              <a:t>Bring Paiflow to more builders.</a:t>
            </a:r>
            <a:endParaRPr lang="en-US" sz="3500"/>
          </a:p>
        </p:txBody>
      </p:sp>
      <p:sp>
        <p:nvSpPr>
          <p:cNvPr id="48" name="Panel 48"/>
          <p:cNvSpPr/>
          <p:nvPr/>
        </p:nvSpPr>
        <p:spPr>
          <a:xfrm>
            <a:off x="594360" y="1865376"/>
            <a:ext cx="5349240" cy="1298448"/>
          </a:xfrm>
          <a:prstGeom prst="rect">
            <a:avLst/>
          </a:prstGeom>
          <a:solidFill>
            <a:srgbClr val="1C1B1B"/>
          </a:solidFill>
          <a:ln w="9525">
            <a:solidFill>
              <a:srgbClr val="5C3F46"/>
            </a:solidFill>
          </a:ln>
        </p:spPr>
      </p:sp>
      <p:sp>
        <p:nvSpPr>
          <p:cNvPr id="49" name="Text 49"/>
          <p:cNvSpPr txBox="1"/>
          <p:nvPr/>
        </p:nvSpPr>
        <p:spPr>
          <a:xfrm>
            <a:off x="804672" y="2039112"/>
            <a:ext cx="4928616" cy="384048"/>
          </a:xfrm>
          <a:prstGeom prst="rect">
            <a:avLst/>
          </a:prstGeom>
          <a:noFill/>
          <a:ln>
            <a:noFill/>
          </a:ln>
        </p:spPr>
        <p:txBody>
          <a:bodyPr wrap="square" lIns="0" tIns="0" rIns="0" bIns="0" anchor="t"/>
          <a:lstStyle/>
          <a:p>
            <a:pPr/>
            <a:r>
              <a:rPr lang="en-US" sz="2300" b="1">
                <a:solidFill>
                  <a:srgbClr val="FFB1C4"/>
                </a:solidFill>
                <a:latin typeface="Space Grotesk"/>
              </a:rPr>
              <a:t>University hackathon</a:t>
            </a:r>
            <a:endParaRPr lang="en-US" sz="2300"/>
          </a:p>
        </p:txBody>
      </p:sp>
      <p:sp>
        <p:nvSpPr>
          <p:cNvPr id="50" name="Text 50"/>
          <p:cNvSpPr txBox="1"/>
          <p:nvPr/>
        </p:nvSpPr>
        <p:spPr>
          <a:xfrm>
            <a:off x="804672" y="2624328"/>
            <a:ext cx="4928616" cy="338328"/>
          </a:xfrm>
          <a:prstGeom prst="rect">
            <a:avLst/>
          </a:prstGeom>
          <a:noFill/>
          <a:ln>
            <a:noFill/>
          </a:ln>
        </p:spPr>
        <p:txBody>
          <a:bodyPr wrap="square" lIns="0" tIns="0" rIns="0" bIns="0" anchor="t"/>
          <a:lstStyle/>
          <a:p>
            <a:pPr/>
            <a:r>
              <a:rPr lang="en-US" sz="1700" b="0">
                <a:solidFill>
                  <a:srgbClr val="E5E2E1"/>
                </a:solidFill>
                <a:latin typeface="Geist"/>
              </a:rPr>
              <a:t>Up to 10 teams building with Paiflow</a:t>
            </a:r>
            <a:endParaRPr lang="en-US" sz="1700"/>
          </a:p>
        </p:txBody>
      </p:sp>
      <p:sp>
        <p:nvSpPr>
          <p:cNvPr id="51" name="Panel 51"/>
          <p:cNvSpPr/>
          <p:nvPr/>
        </p:nvSpPr>
        <p:spPr>
          <a:xfrm>
            <a:off x="6217920" y="1865376"/>
            <a:ext cx="5349240" cy="1298448"/>
          </a:xfrm>
          <a:prstGeom prst="rect">
            <a:avLst/>
          </a:prstGeom>
          <a:solidFill>
            <a:srgbClr val="1C1B1B"/>
          </a:solidFill>
          <a:ln w="9525">
            <a:solidFill>
              <a:srgbClr val="5C3F46"/>
            </a:solidFill>
          </a:ln>
        </p:spPr>
      </p:sp>
      <p:sp>
        <p:nvSpPr>
          <p:cNvPr id="52" name="Text 52"/>
          <p:cNvSpPr txBox="1"/>
          <p:nvPr/>
        </p:nvSpPr>
        <p:spPr>
          <a:xfrm>
            <a:off x="6428232" y="2039112"/>
            <a:ext cx="4928616" cy="384048"/>
          </a:xfrm>
          <a:prstGeom prst="rect">
            <a:avLst/>
          </a:prstGeom>
          <a:noFill/>
          <a:ln>
            <a:noFill/>
          </a:ln>
        </p:spPr>
        <p:txBody>
          <a:bodyPr wrap="square" lIns="0" tIns="0" rIns="0" bIns="0" anchor="t"/>
          <a:lstStyle/>
          <a:p>
            <a:pPr/>
            <a:r>
              <a:rPr lang="en-US" sz="2300" b="1">
                <a:solidFill>
                  <a:srgbClr val="FFB1C4"/>
                </a:solidFill>
                <a:latin typeface="Space Grotesk"/>
              </a:rPr>
              <a:t>Weekly builder sessions</a:t>
            </a:r>
            <a:endParaRPr lang="en-US" sz="2300"/>
          </a:p>
        </p:txBody>
      </p:sp>
      <p:sp>
        <p:nvSpPr>
          <p:cNvPr id="53" name="Text 53"/>
          <p:cNvSpPr txBox="1"/>
          <p:nvPr/>
        </p:nvSpPr>
        <p:spPr>
          <a:xfrm>
            <a:off x="6428232" y="2624328"/>
            <a:ext cx="4928616" cy="338328"/>
          </a:xfrm>
          <a:prstGeom prst="rect">
            <a:avLst/>
          </a:prstGeom>
          <a:noFill/>
          <a:ln>
            <a:noFill/>
          </a:ln>
        </p:spPr>
        <p:txBody>
          <a:bodyPr wrap="square" lIns="0" tIns="0" rIns="0" bIns="0" anchor="t"/>
          <a:lstStyle/>
          <a:p>
            <a:pPr/>
            <a:r>
              <a:rPr lang="en-US" sz="1700" b="0">
                <a:solidFill>
                  <a:srgbClr val="E5E2E1"/>
                </a:solidFill>
                <a:latin typeface="Geist"/>
              </a:rPr>
              <a:t>Onboard and build after the hackathon</a:t>
            </a:r>
            <a:endParaRPr lang="en-US" sz="1700"/>
          </a:p>
        </p:txBody>
      </p:sp>
      <p:sp>
        <p:nvSpPr>
          <p:cNvPr id="54" name="Panel 54"/>
          <p:cNvSpPr/>
          <p:nvPr/>
        </p:nvSpPr>
        <p:spPr>
          <a:xfrm>
            <a:off x="594360" y="3392424"/>
            <a:ext cx="5349240" cy="1298448"/>
          </a:xfrm>
          <a:prstGeom prst="rect">
            <a:avLst/>
          </a:prstGeom>
          <a:solidFill>
            <a:srgbClr val="1C1B1B"/>
          </a:solidFill>
          <a:ln w="9525">
            <a:solidFill>
              <a:srgbClr val="5C3F46"/>
            </a:solidFill>
          </a:ln>
        </p:spPr>
      </p:sp>
      <p:sp>
        <p:nvSpPr>
          <p:cNvPr id="55" name="Text 55"/>
          <p:cNvSpPr txBox="1"/>
          <p:nvPr/>
        </p:nvSpPr>
        <p:spPr>
          <a:xfrm>
            <a:off x="804672" y="3566160"/>
            <a:ext cx="4928616" cy="384048"/>
          </a:xfrm>
          <a:prstGeom prst="rect">
            <a:avLst/>
          </a:prstGeom>
          <a:noFill/>
          <a:ln>
            <a:noFill/>
          </a:ln>
        </p:spPr>
        <p:txBody>
          <a:bodyPr wrap="square" lIns="0" tIns="0" rIns="0" bIns="0" anchor="t"/>
          <a:lstStyle/>
          <a:p>
            <a:pPr/>
            <a:r>
              <a:rPr lang="en-US" sz="2300" b="1">
                <a:solidFill>
                  <a:srgbClr val="FFB1C4"/>
                </a:solidFill>
                <a:latin typeface="Space Grotesk"/>
              </a:rPr>
              <a:t>BlockQuest Fiesta PH</a:t>
            </a:r>
            <a:endParaRPr lang="en-US" sz="2300"/>
          </a:p>
        </p:txBody>
      </p:sp>
      <p:sp>
        <p:nvSpPr>
          <p:cNvPr id="56" name="Text 56"/>
          <p:cNvSpPr txBox="1"/>
          <p:nvPr/>
        </p:nvSpPr>
        <p:spPr>
          <a:xfrm>
            <a:off x="804672" y="4151376"/>
            <a:ext cx="4928616" cy="338328"/>
          </a:xfrm>
          <a:prstGeom prst="rect">
            <a:avLst/>
          </a:prstGeom>
          <a:noFill/>
          <a:ln>
            <a:noFill/>
          </a:ln>
        </p:spPr>
        <p:txBody>
          <a:bodyPr wrap="square" lIns="0" tIns="0" rIns="0" bIns="0" anchor="t"/>
          <a:lstStyle/>
          <a:p>
            <a:pPr/>
            <a:r>
              <a:rPr lang="en-US" sz="1700" b="0">
                <a:solidFill>
                  <a:srgbClr val="E5E2E1"/>
                </a:solidFill>
                <a:latin typeface="Geist"/>
              </a:rPr>
              <a:t>Hands-on Paiflow booth in Laguna</a:t>
            </a:r>
            <a:endParaRPr lang="en-US" sz="1700"/>
          </a:p>
        </p:txBody>
      </p:sp>
      <p:sp>
        <p:nvSpPr>
          <p:cNvPr id="57" name="Panel 57"/>
          <p:cNvSpPr/>
          <p:nvPr/>
        </p:nvSpPr>
        <p:spPr>
          <a:xfrm>
            <a:off x="6217920" y="3392424"/>
            <a:ext cx="5349240" cy="1298448"/>
          </a:xfrm>
          <a:prstGeom prst="rect">
            <a:avLst/>
          </a:prstGeom>
          <a:solidFill>
            <a:srgbClr val="1C1B1B"/>
          </a:solidFill>
          <a:ln w="9525">
            <a:solidFill>
              <a:srgbClr val="5C3F46"/>
            </a:solidFill>
          </a:ln>
        </p:spPr>
      </p:sp>
      <p:sp>
        <p:nvSpPr>
          <p:cNvPr id="58" name="Text 58"/>
          <p:cNvSpPr txBox="1"/>
          <p:nvPr/>
        </p:nvSpPr>
        <p:spPr>
          <a:xfrm>
            <a:off x="6428232" y="3566160"/>
            <a:ext cx="4928616" cy="384048"/>
          </a:xfrm>
          <a:prstGeom prst="rect">
            <a:avLst/>
          </a:prstGeom>
          <a:noFill/>
          <a:ln>
            <a:noFill/>
          </a:ln>
        </p:spPr>
        <p:txBody>
          <a:bodyPr wrap="square" lIns="0" tIns="0" rIns="0" bIns="0" anchor="t"/>
          <a:lstStyle/>
          <a:p>
            <a:pPr/>
            <a:r>
              <a:rPr lang="en-US" sz="2300" b="1">
                <a:solidFill>
                  <a:srgbClr val="FFB1C4"/>
                </a:solidFill>
                <a:latin typeface="Space Grotesk"/>
              </a:rPr>
              <a:t>University event in Aklan</a:t>
            </a:r>
            <a:endParaRPr lang="en-US" sz="2300"/>
          </a:p>
        </p:txBody>
      </p:sp>
      <p:sp>
        <p:nvSpPr>
          <p:cNvPr id="59" name="Text 59"/>
          <p:cNvSpPr txBox="1"/>
          <p:nvPr/>
        </p:nvSpPr>
        <p:spPr>
          <a:xfrm>
            <a:off x="6428232" y="4151376"/>
            <a:ext cx="4928616" cy="338328"/>
          </a:xfrm>
          <a:prstGeom prst="rect">
            <a:avLst/>
          </a:prstGeom>
          <a:noFill/>
          <a:ln>
            <a:noFill/>
          </a:ln>
        </p:spPr>
        <p:txBody>
          <a:bodyPr wrap="square" lIns="0" tIns="0" rIns="0" bIns="0" anchor="t"/>
          <a:lstStyle/>
          <a:p>
            <a:pPr/>
            <a:r>
              <a:rPr lang="en-US" sz="1700" b="0">
                <a:solidFill>
                  <a:srgbClr val="E5E2E1"/>
                </a:solidFill>
                <a:latin typeface="Geist"/>
              </a:rPr>
              <a:t>In planning · date to be confirmed</a:t>
            </a:r>
            <a:endParaRPr lang="en-US" sz="1700"/>
          </a:p>
        </p:txBody>
      </p:sp>
      <p:sp>
        <p:nvSpPr>
          <p:cNvPr id="60" name="Text 60"/>
          <p:cNvSpPr txBox="1"/>
          <p:nvPr/>
        </p:nvSpPr>
        <p:spPr>
          <a:xfrm>
            <a:off x="594360" y="5257800"/>
            <a:ext cx="10972800" cy="502920"/>
          </a:xfrm>
          <a:prstGeom prst="rect">
            <a:avLst/>
          </a:prstGeom>
          <a:noFill/>
          <a:ln>
            <a:noFill/>
          </a:ln>
        </p:spPr>
        <p:txBody>
          <a:bodyPr wrap="square" lIns="0" tIns="0" rIns="0" bIns="0" anchor="t"/>
          <a:lstStyle/>
          <a:p>
            <a:pPr/>
            <a:r>
              <a:rPr lang="en-US" sz="2600" b="1">
                <a:solidFill>
                  <a:srgbClr val="E5E2E1"/>
                </a:solidFill>
                <a:latin typeface="Space Grotesk"/>
              </a:rPr>
              <a:t>Draw the flow. Sign it. Watch the payment land.</a:t>
            </a:r>
            <a:endParaRPr lang="en-US" sz="2600"/>
          </a:p>
        </p:txBody>
      </p:sp>
      <p:sp>
        <p:nvSpPr>
          <p:cNvPr id="61" name="Text 61"/>
          <p:cNvSpPr txBox="1"/>
          <p:nvPr/>
        </p:nvSpPr>
        <p:spPr>
          <a:xfrm>
            <a:off x="594360" y="5897880"/>
            <a:ext cx="10972800" cy="274320"/>
          </a:xfrm>
          <a:prstGeom prst="rect">
            <a:avLst/>
          </a:prstGeom>
          <a:noFill/>
          <a:ln>
            <a:noFill/>
          </a:ln>
        </p:spPr>
        <p:txBody>
          <a:bodyPr wrap="square" lIns="0" tIns="0" rIns="0" bIns="0" anchor="t"/>
          <a:lstStyle/>
          <a:p>
            <a:pPr/>
            <a:r>
              <a:rPr lang="en-US" sz="1600" b="0">
                <a:solidFill>
                  <a:srgbClr val="98CBFF"/>
                </a:solidFill>
                <a:latin typeface="JetBrains Mono"/>
              </a:rPr>
              <a:t>paiflow.xyz  /  paiflow.gitbook.io/paiflow-docs</a:t>
            </a:r>
            <a:endParaRPr lang="en-US" sz="1600"/>
          </a:p>
        </p:txBody>
      </p:sp>
    </p:spTree>
  </p:cSld>
  <p:clrMapOvr>
    <a:masterClrMapping/>
  </p:clrMapOvr>
</p:sld>
</file>

<file path=ppt/theme/theme1.xml><?xml version="1.0" encoding="utf-8"?>
<a:theme xmlns:a="http://schemas.openxmlformats.org/drawingml/2006/main" name="Paiflow">
  <a:themeElements>
    <a:clrScheme name="Paiflow">
      <a:dk1>
        <a:srgbClr val="0E0E0E"/>
      </a:dk1>
      <a:lt1>
        <a:srgbClr val="E5E2E1"/>
      </a:lt1>
      <a:dk2>
        <a:srgbClr val="1C1B1B"/>
      </a:dk2>
      <a:lt2>
        <a:srgbClr val="A8A3A6"/>
      </a:lt2>
      <a:accent1>
        <a:srgbClr val="FFB1C4"/>
      </a:accent1>
      <a:accent2>
        <a:srgbClr val="98CBFF"/>
      </a:accent2>
      <a:accent3>
        <a:srgbClr val="FF4A8D"/>
      </a:accent3>
      <a:accent4>
        <a:srgbClr val="FFBA20"/>
      </a:accent4>
      <a:accent5>
        <a:srgbClr val="5C3F46"/>
      </a:accent5>
      <a:accent6>
        <a:srgbClr val="FFB4AB"/>
      </a:accent6>
      <a:hlink>
        <a:srgbClr val="98CBFF"/>
      </a:hlink>
      <a:folHlink>
        <a:srgbClr val="FFB1C4"/>
      </a:folHlink>
    </a:clrScheme>
    <a:fontScheme name="Paiflow">
      <a:majorFont>
        <a:latin typeface="Space Grotesk"/>
        <a:ea typeface=""/>
        <a:cs typeface=""/>
      </a:majorFont>
      <a:minorFont>
        <a:latin typeface="Geist"/>
        <a:ea typeface=""/>
        <a:cs typeface=""/>
      </a:minorFont>
    </a:fontScheme>
    <a:fmtScheme name="Paiflow">
      <a:fillStyleLst/>
      <a:lnStyleLst/>
      <a:effectStyleLst/>
      <a:bgFillStyleLst/>
    </a:fmtScheme>
  </a:themeElements>
</a:theme>
</file>